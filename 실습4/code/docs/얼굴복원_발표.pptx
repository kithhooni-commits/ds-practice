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1091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8F86"/>
                </a:solidFill>
                <a:latin typeface="Consolas"/>
              </a:rPr>
              <a:t>COMPUTER VISION 실습 · 얼굴 복원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91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2201F"/>
                </a:solidFill>
                <a:latin typeface="맑은 고딕"/>
              </a:rPr>
              <a:t>468점에서 얼굴까지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310128"/>
            <a:ext cx="566928" cy="38100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29584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5C6B69"/>
                </a:solidFill>
                <a:latin typeface="맑은 고딕"/>
              </a:rPr>
              <a:t>웹캠 한 프레임이 3D 얼굴이 되기까지, 그리고 그 과정에서 배운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B69"/>
                </a:solidFill>
                <a:latin typeface="Consolas"/>
              </a:rPr>
              <a:t>MediaPipe Face Mesh · Three.js · 브라우저 단독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쓴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69"/>
                </a:solidFill>
                <a:latin typeface="맑은 고딕"/>
              </a:rPr>
              <a:t>학습은 하지 않았다 — 사전학습 모델의 출력 그 자체가 메시이고, 나머지는 전부 기하 처리다.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Face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Google · 사전학습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396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026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026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검출 +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26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얼굴 검출기 + 랜드마크망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84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414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414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468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14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(x, y, z)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172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802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토폴로지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802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802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번호 = 같은 지점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560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190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190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브라우저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190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서버 · GPU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9480" y="1874519"/>
            <a:ext cx="1742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5784" y="1993391"/>
            <a:ext cx="1468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우리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5784" y="2176271"/>
            <a:ext cx="1468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01F"/>
                </a:solidFill>
                <a:latin typeface="Consolas"/>
              </a:rPr>
              <a:t>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5784" y="2478023"/>
            <a:ext cx="1468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B69"/>
                </a:solidFill>
                <a:latin typeface="맑은 고딕"/>
              </a:rPr>
              <a:t>추론만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92608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C6B69"/>
                </a:solidFill>
                <a:latin typeface="맑은 고딕"/>
              </a:rPr>
              <a:t>좌표는 정규화되어 나온다 — x는 이미지 너비로, y는 높이로. z는 머리 중심 기준 상대 깊이이고 x와 대략 같은 축척이다. 옵션 하나(refineLandmarks)를 켜면 홍채 10점이 붙어 478점이 된다.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703320"/>
            <a:ext cx="4892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83133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8F86"/>
                </a:solidFill>
                <a:latin typeface="Consolas"/>
              </a:rPr>
              <a:t>핵심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03250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번호가 곧 대응점이다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306824"/>
            <a:ext cx="45628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토폴로지가 고정이라 어느 각도·어느 사람이든 17번은 항상 같은 지점. 다시점 복원에서 가장 어려운 대응점 찾기가 통째로 사라진다.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3703320"/>
            <a:ext cx="4892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383133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8F86"/>
                </a:solidFill>
                <a:latin typeface="Consolas"/>
              </a:rPr>
              <a:t>핵심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403250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정합이 공짜다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592" y="4306824"/>
            <a:ext cx="45628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사진과 좌표가 같은 프레임에서 나온다. 화면 좌표를 그대로 UV로 쓰면 텍스처가 정확히 맞는다 — 얼굴 정렬 단계가 아예 없다.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파이프라인 6단계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69"/>
                </a:solidFill>
                <a:latin typeface="맑은 고딕"/>
              </a:rPr>
              <a:t>오른쪽이 각 단계의 데이터 형태다. 숫자가 어떻게 변해 가는지 따라가면 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촬영 · 평균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2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12프레임의 랜드마크를 평균낸다. 한 프레임만 쓰면 추정 지터가 그대로 표면 굴곡이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47088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929384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12 × (468 × 3)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Consolas"/>
              </a:rPr>
              <a:t>→ 468 × 3  (평균)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6032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삼각형 복원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98064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토폴로지는 간선 쌍 목록이다. 3개씩 묶으면 한 삼각형 — 전부 닫히고 어긋난 그룹 0개.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560320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64261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2,556 간선쌍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Consolas"/>
              </a:rPr>
              <a:t>→ 852 삼각형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7355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27355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구멍 메우기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11296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테셀레이션은 눈꺼풀·입술의 둘레만 덮는다. 경계 간선을 이어 루프를 찾아 부채꼴로 메운다.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73552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273552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355848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경계 루프 4개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5C6B69"/>
                </a:solidFill>
                <a:latin typeface="Consolas"/>
              </a:rPr>
              <a:t>얼굴선 36 · 입 20 · 눈 16·16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Consolas"/>
              </a:rPr>
              <a:t>→ 904 삼각형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77056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8678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8678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정규화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24528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x에 종횡비를 곱해 축별 정규화를 되돌리고, 무게중심·축척을 맞춰 카메라 거리에 무관하게 만든다.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86784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86784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4069080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x ×= W/H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5C6B69"/>
                </a:solidFill>
                <a:latin typeface="Consolas"/>
              </a:rPr>
              <a:t>480×360 에서 0.75배 눌림 보정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90288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001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700016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텍스처 · UV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93776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랜드마크의 화면 좌표가 곧 UV다. 같은 프레임에서 나왔으므로 정합 과정이 없다.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00016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700016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478231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512 × 512 JPEG (~50KB)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Consolas"/>
              </a:rPr>
              <a:t>+ 468 × 2 UV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03520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1324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41324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201F"/>
                </a:solidFill>
                <a:latin typeface="맑은 고딕"/>
              </a:rPr>
              <a:t>변형 · 전송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650992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피격은 감쇠 진동으로 눌렀다 되돌린다. 네트워크로는 좌표와 텍스처만 보낸다.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413248"/>
            <a:ext cx="3246120" cy="51206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5413248"/>
            <a:ext cx="19050" cy="51206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5495544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전송 ≈ 60KB / 1회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5C6B69"/>
                </a:solidFill>
                <a:latin typeface="Consolas"/>
              </a:rPr>
              <a:t>촬영할 때 한 번뿐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016752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무엇이 아닌가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69"/>
                </a:solidFill>
                <a:latin typeface="맑은 고딕"/>
              </a:rPr>
              <a:t>질문이 나오기 쉬운 지점. 여기서 한계의 이유가 그대로 설명된다.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4892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5681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아닌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5798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3DMM 피팅이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3230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통계 얼굴 모델(FLAME·BFM)의 계수를 최적화하는 방식이 아니다. 그래서 빠르지만 두개골·귀·목이 없다 — 모델이 담고 있지 않기 때문이다.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828800"/>
            <a:ext cx="4892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95681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아닌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215798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포토그래메트리가 아니다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43230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여러 장에서 깊이를 삼각측량하지 않는다. z는 모델이 추정한 값이라 옆 얼굴 깊이는 관측이 아니라 예측이다.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2201F"/>
                </a:solidFill>
                <a:latin typeface="맑은 고딕"/>
              </a:rPr>
              <a:t>그래서 뒤통수는 지어낼 수 없다.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C6B69"/>
                </a:solidFill>
                <a:latin typeface="맑은 고딕"/>
              </a:rPr>
              <a:t>얼굴 테두리에서 두개골을 만들어 붙여 봤지만, 사람마다 테두리 모양과 깊이가 크게 달라 상수로 맞출 수 있는 문제가 아니었다. 비율은 맞췄으나(깊이/폭 0.70 → 1.04) 실제 얼굴에서 형태가 무너졌다. 지금은 얼굴을 등록하면 아바타 머리를 숨기고 얼굴만 남긴다.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LESSONS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배운 것 —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69"/>
                </a:solidFill>
                <a:latin typeface="맑은 고딕"/>
              </a:rPr>
              <a:t>눈으로 보고 짐작한 것은 세 번 연속 틀렸다. 회색 줄이 각 항목의 근거다.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1109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92808"/>
            <a:ext cx="9418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201F"/>
                </a:solidFill>
                <a:latin typeface="맑은 고딕"/>
              </a:rPr>
              <a:t>좌표를 세는 검사로는 못 잡는 버그가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85416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C6B69"/>
                </a:solidFill>
                <a:latin typeface="맑은 고딕"/>
              </a:rPr>
              <a:t>뒤통수 텍스처를 옆 사진에서 가져오게 만들고 UV 검사를 전부 통과시켰다. 그런데 화면에는 천장과 벽이 뒤통수에 발려 있었다. UV가 옆면 칸 안인 것은 맞았다 — 그 칸의 그 자리가 머리가 아니었을 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807208"/>
            <a:ext cx="9326880" cy="475488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807208"/>
            <a:ext cx="19050" cy="475488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2889504"/>
            <a:ext cx="90891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01F"/>
                </a:solidFill>
                <a:latin typeface="Consolas"/>
              </a:rPr>
              <a:t>UV 검사 4/4 통과 · 실제 뒤통수 픽셀의 </a:t>
            </a:r>
            <a:r>
              <a:rPr sz="1000" b="1">
                <a:solidFill>
                  <a:srgbClr val="C24A2F"/>
                </a:solidFill>
                <a:latin typeface="Consolas"/>
              </a:rPr>
              <a:t>79.7%</a:t>
            </a:r>
            <a:r>
              <a:rPr sz="1000" b="0">
                <a:solidFill>
                  <a:srgbClr val="12201F"/>
                </a:solidFill>
                <a:latin typeface="Consolas"/>
              </a:rPr>
              <a:t>가 사진 배경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5C6B69"/>
                </a:solidFill>
                <a:latin typeface="Consolas"/>
              </a:rPr>
              <a:t>→ 머리 바깥을 미리 머리카락색으로 덮음 · 오염 </a:t>
            </a:r>
            <a:r>
              <a:rPr sz="1000" b="1">
                <a:solidFill>
                  <a:srgbClr val="0E8F86"/>
                </a:solidFill>
                <a:latin typeface="Consolas"/>
              </a:rP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83864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93592"/>
            <a:ext cx="9418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201F"/>
                </a:solidFill>
                <a:latin typeface="맑은 고딕"/>
              </a:rPr>
              <a:t>좌표계 불일치는 예외를 던지지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C6B69"/>
                </a:solidFill>
                <a:latin typeface="맑은 고딕"/>
              </a:rPr>
              <a:t>랜드마크는 x를 너비로, y를 높이로 정규화해 비정방형 프레임에서 얼굴이 눌린다. 텍스처는 잘라낸 사진인데 랜드마크는 전체 프레임 기준이라 머리 타원이 1/4로 잡힌다. 어느 쪽도 에러가 나지 않고 그럴듯한 그림이 나온다.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507992"/>
            <a:ext cx="9326880" cy="475488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4507992"/>
            <a:ext cx="19050" cy="475488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4590288"/>
            <a:ext cx="90891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01F"/>
                </a:solidFill>
                <a:latin typeface="Consolas"/>
              </a:rPr>
              <a:t>480×360 에서 가로 </a:t>
            </a:r>
            <a:r>
              <a:rPr sz="1000" b="1">
                <a:solidFill>
                  <a:srgbClr val="C24A2F"/>
                </a:solidFill>
                <a:latin typeface="Consolas"/>
              </a:rPr>
              <a:t>0.75배</a:t>
            </a:r>
            <a:r>
              <a:rPr sz="1000" b="0">
                <a:solidFill>
                  <a:srgbClr val="12201F"/>
                </a:solidFill>
                <a:latin typeface="Consolas"/>
              </a:rPr>
              <a:t> 눌림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5C6B69"/>
                </a:solidFill>
                <a:latin typeface="Consolas"/>
              </a:rPr>
              <a:t>머리 바깥 덮기가 얼굴을 삼킴 → crop 통과 후 얼굴 </a:t>
            </a:r>
            <a:r>
              <a:rPr sz="1000" b="1">
                <a:solidFill>
                  <a:srgbClr val="0E8F86"/>
                </a:solidFill>
                <a:latin typeface="Consolas"/>
              </a:rPr>
              <a:t>63%</a:t>
            </a:r>
            <a:r>
              <a:rPr sz="1000" b="0">
                <a:solidFill>
                  <a:srgbClr val="5C6B69"/>
                </a:solidFill>
                <a:latin typeface="Consolas"/>
              </a:rPr>
              <a:t> 생존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LESSONS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배운 것 — 데이터와 성능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64208"/>
            <a:ext cx="9418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201F"/>
                </a:solidFill>
                <a:latin typeface="맑은 고딕"/>
              </a:rPr>
              <a:t>합성 데이터는 만점을 준다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56816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C6B69"/>
                </a:solidFill>
                <a:latin typeface="맑은 고딕"/>
              </a:rPr>
              <a:t>손으로 만든 궤적·토폴로지로 검사하면 그 데이터에 맞춰 만든 임계값이 당연히 맞는다. 회귀 검사로는 쓸모가 있지만 정확도의 근거는 못 된다. 얼굴에서도 같았다 — 합성 토폴로지에는 배경이 없어 배경 버그가 잡힐 수 없었다.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578608"/>
            <a:ext cx="9326880" cy="42062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578608"/>
            <a:ext cx="19050" cy="42062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660904"/>
            <a:ext cx="9089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01F"/>
                </a:solidFill>
                <a:latin typeface="Consolas"/>
              </a:rPr>
              <a:t>합성 11케이스 F1 </a:t>
            </a:r>
            <a:r>
              <a:rPr sz="1000" b="1">
                <a:solidFill>
                  <a:srgbClr val="0E8F86"/>
                </a:solidFill>
                <a:latin typeface="Consolas"/>
              </a:rPr>
              <a:t>1.000</a:t>
            </a:r>
            <a:r>
              <a:rPr sz="1000" b="0">
                <a:solidFill>
                  <a:srgbClr val="12201F"/>
                </a:solidFill>
                <a:latin typeface="Consolas"/>
              </a:rPr>
              <a:t>   ·   라벨 붙인 실영상 90초 F1 </a:t>
            </a:r>
            <a:r>
              <a:rPr sz="1000" b="1">
                <a:solidFill>
                  <a:srgbClr val="C24A2F"/>
                </a:solidFill>
                <a:latin typeface="Consolas"/>
              </a:rPr>
              <a:t>0.386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45536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55264"/>
            <a:ext cx="9418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201F"/>
                </a:solidFill>
                <a:latin typeface="맑은 고딕"/>
              </a:rPr>
              <a:t>성능은 단독으로 재면 안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47872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C6B69"/>
                </a:solidFill>
                <a:latin typeface="맑은 고딕"/>
              </a:rPr>
              <a:t>더 나은 복원을 위해 생성 모델(TripoSR)을 붙여 봤다. 단독 실행은 충분히 빨랐는데 게임 서버 안에서는 끝나지 않았다. GPU 경합인 줄 알았지만 아니었다 — 게임 루프가 초당 수십 번 브로드캐스트하며 GIL을 쥐고 있어 추론 스레드가 계속 굶었다.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169664"/>
            <a:ext cx="9326880" cy="42062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4169664"/>
            <a:ext cx="19050" cy="42062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4251960"/>
            <a:ext cx="9089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01F"/>
                </a:solidFill>
                <a:latin typeface="Consolas"/>
              </a:rPr>
              <a:t>단독 </a:t>
            </a:r>
            <a:r>
              <a:rPr sz="1000" b="1">
                <a:solidFill>
                  <a:srgbClr val="0E8F86"/>
                </a:solidFill>
                <a:latin typeface="Consolas"/>
              </a:rPr>
              <a:t>16.4s</a:t>
            </a:r>
            <a:r>
              <a:rPr sz="1000" b="0">
                <a:solidFill>
                  <a:srgbClr val="12201F"/>
                </a:solidFill>
                <a:latin typeface="Consolas"/>
              </a:rPr>
              <a:t>   ·   서버 안 </a:t>
            </a:r>
            <a:r>
              <a:rPr sz="1000" b="1">
                <a:solidFill>
                  <a:srgbClr val="C24A2F"/>
                </a:solidFill>
                <a:latin typeface="Consolas"/>
              </a:rPr>
              <a:t>180s+</a:t>
            </a:r>
            <a:r>
              <a:rPr sz="1000" b="0">
                <a:solidFill>
                  <a:srgbClr val="12201F"/>
                </a:solidFill>
                <a:latin typeface="Consolas"/>
              </a:rPr>
              <a:t> 미완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5C6B69"/>
                </a:solidFill>
                <a:latin typeface="Consolas"/>
              </a:rPr>
              <a:t>별도 프로세스로 분리 → 48.2s · 그래도 게임에는 느려 채택 보류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36592"/>
            <a:ext cx="10911840" cy="9525"/>
          </a:xfrm>
          <a:prstGeom prst="rect">
            <a:avLst/>
          </a:prstGeom>
          <a:solidFill>
            <a:srgbClr val="D8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8F86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9418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201F"/>
                </a:solidFill>
                <a:latin typeface="맑은 고딕"/>
              </a:rPr>
              <a:t>재현 먼저, 수정은 그 다음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8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C6B69"/>
                </a:solidFill>
                <a:latin typeface="맑은 고딕"/>
              </a:rPr>
              <a:t>배경 오염도 host 정지도 하니스로 먼저 재현한 뒤 고쳤다. 고치고 나서 통과하는 것보다, 일부러 되돌려 실패하는 것을 확인하는 편이 확실하다.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5760720"/>
            <a:ext cx="9326880" cy="420624"/>
          </a:xfrm>
          <a:prstGeom prst="rect">
            <a:avLst/>
          </a:prstGeom>
          <a:solidFill>
            <a:srgbClr val="E9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5760720"/>
            <a:ext cx="19050" cy="420624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6" y="5843016"/>
            <a:ext cx="9089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2201F"/>
                </a:solidFill>
                <a:latin typeface="Consolas"/>
              </a:rPr>
              <a:t>검증 하니스 </a:t>
            </a:r>
            <a:r>
              <a:rPr sz="1000" b="1">
                <a:solidFill>
                  <a:srgbClr val="0E8F86"/>
                </a:solidFill>
                <a:latin typeface="Consolas"/>
              </a:rPr>
              <a:t>13종</a:t>
            </a:r>
            <a:r>
              <a:rPr sz="1000" b="0">
                <a:solidFill>
                  <a:srgbClr val="12201F"/>
                </a:solidFill>
                <a:latin typeface="Consolas"/>
              </a:rPr>
              <a:t>  —  로직 7 · 브라우저 6 (렌더 픽셀 검사 2종 포함)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4892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5681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5798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뒤통수·머리카락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32304"/>
            <a:ext cx="45628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모델이 얼굴 앞면만 담는다. 얼굴을 등록하면 아바타 머리를 통째로 숨기고 얼굴만 남긴다 — 정면 게임이라 성립하는 타협이다.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828800"/>
            <a:ext cx="4892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5681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촬영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15798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조명이 텍스처에 구워진다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2432304"/>
            <a:ext cx="45628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사진의 그림자가 그대로 3D에 남는다. 창을 등지면 얼굴이 실루엣이 된다. 반사율과 조명을 분리하지 않았다.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4892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0273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깊이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80390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옆 얼굴은 추정치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078224"/>
            <a:ext cx="45628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정면 한 장이라 코·턱 옆선의 깊이가 관측이 아니라 추정이다. 옆모습 2장을 더 찍는 방식은 조명·각도가 튀어 오히려 나빠졌다.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3474720"/>
            <a:ext cx="4892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3602736"/>
            <a:ext cx="4562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C24A2F"/>
                </a:solidFill>
                <a:latin typeface="Consolas"/>
              </a:rPr>
              <a:t>표정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803904"/>
            <a:ext cx="4562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규칙 기반 오프셋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4078224"/>
            <a:ext cx="45628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피격·지침 표정은 미리 정의한 정점 변위다. 실시간 표정 추적이 아니라 HP에 반응하는 연출이다.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8F86"/>
                </a:solidFill>
                <a:latin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2201F"/>
                </a:solidFill>
                <a:latin typeface="맑은 고딕"/>
              </a:rPr>
              <a:t>다음에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C6B69"/>
                </a:solidFill>
                <a:latin typeface="맑은 고딕"/>
              </a:rPr>
              <a:t>뒤통수를 제대로 만들려면 얼굴만 담긴 모델을 벗어나야 한다. 각각 무엇을 포기하는지가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384048" cy="28575"/>
          </a:xfrm>
          <a:prstGeom prst="rect">
            <a:avLst/>
          </a:prstGeom>
          <a:solidFill>
            <a:srgbClr val="0E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11840" cy="310896"/>
          </a:xfrm>
          <a:prstGeom prst="rect">
            <a:avLst/>
          </a:prstGeom>
          <a:solidFill>
            <a:srgbClr val="E9F0E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56815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9816" y="1956815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얻는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1956815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포기하는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9176" y="1956815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C6B69"/>
                </a:solidFill>
                <a:latin typeface="Consolas"/>
              </a:rPr>
              <a:t>비용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85415"/>
            <a:ext cx="1091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295143"/>
            <a:ext cx="2112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2201F"/>
                </a:solidFill>
                <a:latin typeface="맑은 고딕"/>
              </a:rPr>
              <a:t>FLAME (MICA/DECA)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32887"/>
            <a:ext cx="21122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8F86"/>
                </a:solidFill>
                <a:latin typeface="Consolas"/>
              </a:rPr>
              <a:t>가장 유력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295143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두개골·귀·목이 포함된 통계 모델. 머리 형태가 구조적으로 해결된다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295143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머리카락이 없다 — 여전히 색으로 칠해야 한다. 연구용 라이선스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2295143"/>
            <a:ext cx="1106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GPU ~0.3s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43783"/>
            <a:ext cx="1091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53511"/>
            <a:ext cx="2112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2201F"/>
                </a:solidFill>
                <a:latin typeface="맑은 고딕"/>
              </a:rPr>
              <a:t>TripoSR / TRELLIS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2953511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머리카락까지 포함한 전체 메시를 사진 한 장에서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953511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게임에 쓰기엔 느리다. 별도 워커 프로세스 필수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953511"/>
            <a:ext cx="1106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2060 16~48s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02151"/>
            <a:ext cx="1091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611879"/>
            <a:ext cx="2112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2201F"/>
                </a:solidFill>
                <a:latin typeface="맑은 고딕"/>
              </a:rPr>
              <a:t>조명 정규화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3611879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역광·그림자에 강해진다. 촬영 성공률이 올라간다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11879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정확한 albedo 분리는 그 자체로 별도 연구 주제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611879"/>
            <a:ext cx="1106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전처리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60519"/>
            <a:ext cx="1091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70247"/>
            <a:ext cx="2112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2201F"/>
                </a:solidFill>
                <a:latin typeface="맑은 고딕"/>
              </a:rPr>
              <a:t>홍채 468→478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9816" y="4270247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눈동자 위치가 정확해진다. 촬영 순간에만 켜면 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70247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거의 없음 — 손이 가장 적게 드는 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4270247"/>
            <a:ext cx="1106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2201F"/>
                </a:solidFill>
                <a:latin typeface="Consolas"/>
              </a:rPr>
              <a:t>옵션 한 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38928"/>
            <a:ext cx="9966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266944"/>
            <a:ext cx="9637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8F86"/>
                </a:solidFill>
                <a:latin typeface="Consolas"/>
              </a:rPr>
              <a:t>방법론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468112"/>
            <a:ext cx="9637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2201F"/>
                </a:solidFill>
                <a:latin typeface="맑은 고딕"/>
              </a:rPr>
              <a:t>픽셀 검사를 기본값으로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742432"/>
            <a:ext cx="9637776" cy="-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C6B69"/>
                </a:solidFill>
                <a:latin typeface="맑은 고딕"/>
              </a:rPr>
              <a:t>렌더해서 색을 세는 하니스 2종이 좌표 검사가 놓친 버그를 전부 잡았다. 새 기능마다 먼저 만들 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