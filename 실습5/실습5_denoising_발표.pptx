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272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삼성 DS2 · Image Restoration Challenge ·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131A19"/>
                </a:solidFill>
                <a:latin typeface="맑은 고딕"/>
              </a:rPr>
              <a:t>노이즈 4종을 하나의 네트워크로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0B6E5E"/>
                </a:solidFill>
                <a:latin typeface="맑은 고딕"/>
              </a:rPr>
              <a:t>종류도 세기도 모른 채 복원하기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6756F"/>
                </a:solidFill>
                <a:latin typeface="맑은 고딕"/>
              </a:rPr>
              <a:t>반도체 이미지 denoising · test 100장 · DRUNet + 학습 레시피 + self-ensemble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4340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4526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제출값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039" y="4846320"/>
            <a:ext cx="3805880" cy="4962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dirty="0">
                <a:solidFill>
                  <a:srgbClr val="131A19"/>
                </a:solidFill>
                <a:latin typeface="Consolas"/>
              </a:rPr>
              <a:t>PSNR 37.42   SSIM 0.9609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34340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40680" y="4526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6756F"/>
                </a:solidFill>
                <a:latin typeface="Consolas"/>
              </a:rPr>
              <a:t>배포 기준선 (DnCNN 10 epoch)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7227" y="4846320"/>
            <a:ext cx="3791053" cy="4962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dirty="0">
                <a:solidFill>
                  <a:srgbClr val="66756F"/>
                </a:solidFill>
                <a:latin typeface="Consolas"/>
              </a:rPr>
              <a:t>PSNR 30.51   SSIM 0.8950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349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→  +6.91 dB   +0.0659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53949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66756F"/>
                </a:solidFill>
                <a:latin typeface="맑은 고딕"/>
              </a:rPr>
              <a:t>5조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문제 — 종류를 모른다는 것이 전부다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이미지마다 4종 중 하나가 랜덤 σ 로 실려 있고, 어느 것인지 알려주지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5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9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4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노이즈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σ 범위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성질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입력 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Gaussian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 – 0.1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x + N(0, σ)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27.67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Rician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 – 0.15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|x + N + iN| — 어두운 쪽이 위로 들림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24.08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Uniform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 – 0.2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x + U(-σ, σ)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29.63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Salt &amp; Pepper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 – 0.2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픽셀의 σ 비율을 0 또는 max 로 덮어씀 (임펄스)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17.30 dB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062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40740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31A19"/>
                </a:solidFill>
                <a:latin typeface="맑은 고딕"/>
              </a:rPr>
              <a:t>고전 필터는 종류마다 정답이 정반대다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64608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Consolas"/>
              </a:rPr>
              <a:t>Salt &amp; Pepper  ·  median 28.5  vs  mean 23.2 dB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Consolas"/>
              </a:rPr>
              <a:t>Gaussian       ·  adaptive 30.1  vs  median 27.4 dB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임펄스는 몇 픽셀이 통째로 거짓말이라 평균 계열이 그 거짓말을 이웃에 퍼뜨린다. 반대로 median 은 미세한 계조를 계단으로 뭉갠다.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440740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31A19"/>
                </a:solidFill>
                <a:latin typeface="맑은 고딕"/>
              </a:rPr>
              <a:t>그래서 고정 필터 하나로는 못 넘는다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864608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Consolas"/>
              </a:rPr>
              <a:t>복원 안 함   24.67 dB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Consolas"/>
              </a:rPr>
              <a:t>mean 3×3     24.86 dB   ← 겨우 +0.19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종류를 모른 채 하나의 규칙을 고정하면 아무것도 안 한 것과 다를 바 없다. 학습이 필요한 이유가 여기 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출처: dataset/test_noise_only/noise_meta.json · 25장 × 4종 = 100장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1 ·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학습은 노이즈를 만들어 배우고, 추론은 만들지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학습 (supervised)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1874519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633472"/>
            <a:ext cx="165506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66756F"/>
                </a:solidFill>
                <a:latin typeface="Consolas"/>
              </a:rPr>
              <a:t>train/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4"/>
            <a:ext cx="16916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31A19"/>
                </a:solidFill>
                <a:latin typeface="맑은 고딕"/>
              </a:rPr>
              <a:t>clean 7,268장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51175" y="2926080"/>
            <a:ext cx="256032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43783" y="2560320"/>
            <a:ext cx="16002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3511" y="2633472"/>
            <a:ext cx="1380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66756F"/>
                </a:solidFill>
                <a:latin typeface="Consolas"/>
              </a:rPr>
              <a:t>증강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3" y="2889504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31A19"/>
                </a:solidFill>
                <a:latin typeface="맑은 고딕"/>
              </a:rPr>
              <a:t>랜덤 크롭 128
flip · rot90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80559" y="2926080"/>
            <a:ext cx="256032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73167" y="2560320"/>
            <a:ext cx="192024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2895" y="2633472"/>
            <a:ext cx="17007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66756F"/>
                </a:solidFill>
                <a:latin typeface="Consolas"/>
              </a:rPr>
              <a:t>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889504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31A19"/>
                </a:solidFill>
                <a:latin typeface="맑은 고딕"/>
              </a:rPr>
              <a:t>노이즈 4종 중
1개 랜덤 + σ 랜덤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729983" y="2926080"/>
            <a:ext cx="256032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22591" y="256032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19" y="2633472"/>
            <a:ext cx="20665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B6E5E"/>
                </a:solidFill>
                <a:latin typeface="Consolas"/>
              </a:rPr>
              <a:t>모델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1" y="288950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31A19"/>
                </a:solidFill>
                <a:latin typeface="맑은 고딕"/>
              </a:rPr>
              <a:t>DRUNet (U-Net + res block)
4스케일 · 수용영역 ~180px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45167" y="2926080"/>
            <a:ext cx="256032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37775" y="2560320"/>
            <a:ext cx="18288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47503" y="2633472"/>
            <a:ext cx="1609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66756F"/>
                </a:solidFill>
                <a:latin typeface="Consolas"/>
              </a:rPr>
              <a:t>학습 신호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5" y="2889504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31A19"/>
                </a:solidFill>
                <a:latin typeface="맑은 고딕"/>
              </a:rPr>
              <a:t>Charbonnier loss
vs clean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추론 (test 100장)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23360"/>
            <a:ext cx="237744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4096512"/>
            <a:ext cx="2157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66756F"/>
                </a:solidFill>
                <a:latin typeface="Consolas"/>
              </a:rPr>
              <a:t>test_noise_only/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52544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31A19"/>
                </a:solidFill>
                <a:latin typeface="맑은 고딕"/>
              </a:rPr>
              <a:t>corrupted 100장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054096" y="4389120"/>
            <a:ext cx="256032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346704" y="402336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56432" y="4096512"/>
            <a:ext cx="20665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66756F"/>
                </a:solidFill>
                <a:latin typeface="Consolas"/>
              </a:rPr>
              <a:t>추론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8144" y="435254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31A19"/>
                </a:solidFill>
                <a:latin typeface="맑은 고딕"/>
              </a:rPr>
              <a:t>8× self-ensemble
dihedral 평균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669280" y="4389120"/>
            <a:ext cx="256032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961888" y="402336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71616" y="4096512"/>
            <a:ext cx="20665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66756F"/>
                </a:solidFill>
                <a:latin typeface="Consolas"/>
              </a:rPr>
              <a:t>모델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435254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31A19"/>
                </a:solidFill>
                <a:latin typeface="맑은 고딕"/>
              </a:rPr>
              <a:t>같은 네트워크
(가중치 1벌)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284464" y="4389120"/>
            <a:ext cx="256032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577072" y="4023360"/>
            <a:ext cx="2103120" cy="96012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0" y="4096512"/>
            <a:ext cx="18836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B6E5E"/>
                </a:solidFill>
                <a:latin typeface="Consolas"/>
              </a:rPr>
              <a:t>제출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8512" y="4352544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31A19"/>
                </a:solidFill>
                <a:latin typeface="Consolas"/>
              </a:rPr>
              <a:t>PSNR 37.42
SSIM 0.9609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440680"/>
            <a:ext cx="10881360" cy="11430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557784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핵심: 추론 경로에는 노이즈 종류·σ 정보가 들어가지 않는다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noise_meta.json 에 종류와 σ 가 다 적혀 있지만 복원에는 쓰지 않았다. 표를 종류별로 쪼개 보여주는 데만 썼다 — 채점 세트에 그 정보가 없을 수 있고, 모르고도 되는 것이 더 강한 결과다.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3 · DESIGN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왜 이 방법을 골랐는가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배포 코드와 같은 데이터·같은 노이즈 합성·같은 지표를 쓰고 학습 쪽만 바꿨다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1A19"/>
                          </a:solidFill>
                          <a:latin typeface="맑은 고딕"/>
                        </a:rPr>
                        <a:t>바꾼 것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관찰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그래서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Charbonnier loss</a:t>
                      </a:r>
                    </a:p>
                    <a:p>
                      <a:r>
                        <a:t>(L2 → smooth L1)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3C4947"/>
                          </a:solidFill>
                          <a:latin typeface="Consolas"/>
                        </a:rPr>
                        <a:t>L2 는 </a:t>
                      </a:r>
                      <a:r>
                        <a:rPr sz="1100" b="0" dirty="0" err="1">
                          <a:solidFill>
                            <a:srgbClr val="3C4947"/>
                          </a:solidFill>
                          <a:latin typeface="Consolas"/>
                        </a:rPr>
                        <a:t>s&amp;p</a:t>
                      </a:r>
                      <a:r>
                        <a:rPr sz="1100" b="0" dirty="0">
                          <a:solidFill>
                            <a:srgbClr val="3C4947"/>
                          </a:solidFill>
                          <a:latin typeface="Consolas"/>
                        </a:rPr>
                        <a:t> 의 </a:t>
                      </a:r>
                      <a:r>
                        <a:rPr sz="1100" b="0" dirty="0" err="1">
                          <a:solidFill>
                            <a:srgbClr val="3C4947"/>
                          </a:solidFill>
                          <a:latin typeface="Consolas"/>
                        </a:rPr>
                        <a:t>극단값</a:t>
                      </a:r>
                      <a:r>
                        <a:rPr sz="1100" b="0" dirty="0">
                          <a:solidFill>
                            <a:srgbClr val="3C4947"/>
                          </a:solidFill>
                          <a:latin typeface="Consolas"/>
                        </a:rPr>
                        <a:t> 몇 </a:t>
                      </a:r>
                      <a:r>
                        <a:rPr sz="1100" b="0" dirty="0" err="1">
                          <a:solidFill>
                            <a:srgbClr val="3C4947"/>
                          </a:solidFill>
                          <a:latin typeface="Consolas"/>
                        </a:rPr>
                        <a:t>픽셀에</a:t>
                      </a:r>
                      <a:endParaRPr sz="1100" b="0" dirty="0">
                        <a:solidFill>
                          <a:srgbClr val="3C4947"/>
                        </a:solidFill>
                        <a:latin typeface="Consolas"/>
                      </a:endParaRPr>
                    </a:p>
                    <a:p>
                      <a:r>
                        <a:rPr dirty="0"/>
                        <a:t>gradient 가 </a:t>
                      </a:r>
                      <a:r>
                        <a:rPr dirty="0" err="1"/>
                        <a:t>끌려간다</a:t>
                      </a:r>
                      <a:endParaRPr dirty="0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큰 오차의 영향을 선형으로 제한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cosine LR · 40 epoch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배포 설정은 10 epoch 에 plateau×0.88 —</a:t>
                      </a:r>
                    </a:p>
                    <a:p>
                      <a:r>
                        <a:t>감쇠가 사실상 안 걸림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끝까지 부드럽게 낮춰 수렴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patch 128 랜덤 크롭</a:t>
                      </a:r>
                    </a:p>
                    <a:p>
                      <a:r>
                        <a:t>+ rot90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완전 합성곱이라 학습 패치와</a:t>
                      </a:r>
                    </a:p>
                    <a:p>
                      <a:r>
                        <a:t>추론 크기를 맞출 이유가 없다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크롭 자체가 증강.</a:t>
                      </a:r>
                    </a:p>
                    <a:p>
                      <a:r>
                        <a:t>step 수도 2배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8× self-ensemble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flip/rot90 로 학습했으니</a:t>
                      </a:r>
                    </a:p>
                    <a:p>
                      <a:r>
                        <a:t>8개 변환을 같게 다뤄야 맞다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실제로는 어긋남. 평균이 그것을 지움</a:t>
                      </a:r>
                    </a:p>
                    <a:p>
                      <a:r>
                        <a:t>(+0.22 dB, 학습 비용 0)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입력에 median 3×3</a:t>
                      </a:r>
                    </a:p>
                    <a:p>
                      <a:r>
                        <a:t>채널 추가  → 기각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s&amp;p 입력이 17.3 dB 로 혼자 10 dB 아래.</a:t>
                      </a:r>
                    </a:p>
                    <a:p>
                      <a:r>
                        <a:t>고전 필터 중 median 만 통함 (28.5 vs mean 23.2)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 err="1">
                          <a:solidFill>
                            <a:srgbClr val="3C4947"/>
                          </a:solidFill>
                          <a:latin typeface="Consolas"/>
                        </a:rPr>
                        <a:t>넣은</a:t>
                      </a:r>
                      <a:r>
                        <a:rPr sz="1100" b="0" dirty="0">
                          <a:solidFill>
                            <a:srgbClr val="3C4947"/>
                          </a:solidFill>
                          <a:latin typeface="Consolas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C4947"/>
                          </a:solidFill>
                          <a:latin typeface="Consolas"/>
                        </a:rPr>
                        <a:t>이유였던</a:t>
                      </a:r>
                      <a:r>
                        <a:rPr sz="1100" b="0" dirty="0">
                          <a:solidFill>
                            <a:srgbClr val="3C4947"/>
                          </a:solidFill>
                          <a:latin typeface="Consolas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C4947"/>
                          </a:solidFill>
                          <a:latin typeface="Consolas"/>
                        </a:rPr>
                        <a:t>s&amp;p</a:t>
                      </a:r>
                      <a:r>
                        <a:rPr sz="1100" b="0" dirty="0">
                          <a:solidFill>
                            <a:srgbClr val="3C4947"/>
                          </a:solidFill>
                          <a:latin typeface="Consolas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C4947"/>
                          </a:solidFill>
                          <a:latin typeface="Consolas"/>
                        </a:rPr>
                        <a:t>에서</a:t>
                      </a:r>
                      <a:r>
                        <a:rPr sz="1100" b="0" dirty="0">
                          <a:solidFill>
                            <a:srgbClr val="3C4947"/>
                          </a:solidFill>
                          <a:latin typeface="Consolas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C4947"/>
                          </a:solidFill>
                          <a:latin typeface="Consolas"/>
                        </a:rPr>
                        <a:t>오히려</a:t>
                      </a:r>
                      <a:r>
                        <a:rPr sz="1100" b="0" dirty="0">
                          <a:solidFill>
                            <a:srgbClr val="3C4947"/>
                          </a:solidFill>
                          <a:latin typeface="Consolas"/>
                        </a:rPr>
                        <a:t> 10.27 dB </a:t>
                      </a:r>
                      <a:r>
                        <a:rPr sz="1100" b="0" dirty="0" err="1">
                          <a:solidFill>
                            <a:srgbClr val="3C4947"/>
                          </a:solidFill>
                          <a:latin typeface="Consolas"/>
                        </a:rPr>
                        <a:t>손해</a:t>
                      </a:r>
                      <a:r>
                        <a:rPr sz="1100" b="0" dirty="0">
                          <a:solidFill>
                            <a:srgbClr val="3C4947"/>
                          </a:solidFill>
                          <a:latin typeface="Consolas"/>
                        </a:rPr>
                        <a:t>.</a:t>
                      </a:r>
                    </a:p>
                    <a:p>
                      <a:r>
                        <a:rPr dirty="0"/>
                        <a:t>17층이면 </a:t>
                      </a:r>
                      <a:r>
                        <a:rPr dirty="0" err="1"/>
                        <a:t>임펄스는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스스로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처리한다</a:t>
                      </a:r>
                      <a:endParaRPr dirty="0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median 채널은 배포 구조에 국소 필터를 덧댄 시도였고 검증 끝에 기각했다. 구조 자체를 바꾸는 쪽(수용영역 확장)이 답이었다.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test 100장 · 제출값 PSNR 37.42 / SSIM 0.9609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mmar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0"/>
            <a:ext cx="7040880" cy="290931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2286000"/>
          <a:ext cx="3749037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5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31A19"/>
                          </a:solidFill>
                          <a:latin typeface="맑은 고딕"/>
                        </a:rPr>
                        <a:t>노이즈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입력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제안 모델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Δ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C4947"/>
                          </a:solidFill>
                          <a:latin typeface="맑은 고딕"/>
                        </a:rPr>
                        <a:t>Gaussian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27.67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36.15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+8.48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C4947"/>
                          </a:solidFill>
                          <a:latin typeface="맑은 고딕"/>
                        </a:rPr>
                        <a:t>Rician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24.08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32.21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+8.13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C4947"/>
                          </a:solidFill>
                          <a:latin typeface="맑은 고딕"/>
                        </a:rPr>
                        <a:t>Uniform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29.63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36.31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+6.68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C4947"/>
                          </a:solidFill>
                          <a:latin typeface="맑은 고딕"/>
                        </a:rPr>
                        <a:t>Salt &amp; Pepper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17.30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45.01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+27.71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31A19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24.67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37.42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+12.75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4389120"/>
            <a:ext cx="3749039" cy="23774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73568" y="4553712"/>
            <a:ext cx="3383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Salt &amp; Pepper 가 갈림길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3C4947"/>
                </a:solidFill>
                <a:latin typeface="Consolas"/>
              </a:rPr>
              <a:t>17.30  →  45.01 dB   (+27.71)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Consolas"/>
              </a:rPr>
              <a:t>SSIM 0.4746 → 0.9955 — 4종 중 최고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0">
                <a:solidFill>
                  <a:srgbClr val="3C4947"/>
                </a:solidFill>
                <a:latin typeface="맑은 고딕"/>
              </a:rPr>
              <a:t>배포 기준선 DnCNN 은 여기서 29.69 였다. 구조를 바꾼 게 아니라 학습 절차만 바꿔 6 dB 를 더 벌었다.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conventional 3종은 배포 코드 구현 그대로 · self-ensemble 적용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여기까지 어떻게 왔나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채택한 것과 기각한 것을 같이 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348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31A19"/>
                          </a:solidFill>
                          <a:latin typeface="Consolas"/>
                        </a:rPr>
                        <a:t>시도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31A19"/>
                          </a:solidFill>
                          <a:latin typeface="Consolas"/>
                        </a:rPr>
                        <a:t>결과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31A19"/>
                          </a:solidFill>
                          <a:latin typeface="Consolas"/>
                        </a:rPr>
                        <a:t>배운 것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66756F"/>
                          </a:solidFill>
                          <a:latin typeface="맑은 고딕"/>
                        </a:rPr>
                        <a:t>전제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지표 구현을 배포 코드에서 그대로 이식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66756F"/>
                          </a:solidFill>
                          <a:latin typeface="Consolas"/>
                        </a:rPr>
                        <a:t>0.0000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배포 로그와 넷째자리까지 일치. 여기가 맞기 전엔 어떤 숫자도 근거가 아니다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6E5E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Charbonnier · cosine LR · 크롭 128 · rot90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B6E5E"/>
                          </a:solidFill>
                          <a:latin typeface="Consolas"/>
                        </a:rPr>
                        <a:t>30.51 → 33.58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구조를 안 건드리고 학습 절차만 바꿔 +3.07 dB. 개선의 대부분이 여기서 나왔다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6E5E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8× self-ensemble (dihedral 평균)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B6E5E"/>
                          </a:solidFill>
                          <a:latin typeface="Consolas"/>
                        </a:rPr>
                        <a:t>33.58 → 34.13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학습 비용 0. 모델이 좋아질수록 여지는 준다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6E5E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epoch 연장 (DnCNN 40 → 60)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B6E5E"/>
                          </a:solidFill>
                          <a:latin typeface="Consolas"/>
                        </a:rPr>
                        <a:t>34.13 → 34.56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val best 가 마지막 epoch 이면 아직 수렴 전이라는 신호다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6E5E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DRUNet — 수용영역 35px → 180px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B6E5E"/>
                          </a:solidFill>
                          <a:latin typeface="Consolas"/>
                        </a:rPr>
                        <a:t>34.56 → 36.50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같은 60 epoch 에서 +1.94 dB. s&amp;p 에서만 +8.23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6E5E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DRUNet 을 180 epoch 까지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B6E5E"/>
                          </a:solidFill>
                          <a:latin typeface="Consolas"/>
                        </a:rPr>
                        <a:t>36.50 → 37.42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파라미터가 55배인 모델은 더 오래 걸린다. 여기서도 best 가 173 epoch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8C4A6B"/>
                          </a:solidFill>
                          <a:latin typeface="맑은 고딕"/>
                        </a:rPr>
                        <a:t>기각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median 3×3 을 두 번째 입력 채널로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8C4A6B"/>
                          </a:solidFill>
                          <a:latin typeface="Consolas"/>
                        </a:rPr>
                        <a:t>−0.39 / −0.87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진단은 맞고 처방이 틀렸다. 좁은 시야를 둔 채 국소 도구를 더한 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8C4A6B"/>
                          </a:solidFill>
                          <a:latin typeface="맑은 고딕"/>
                        </a:rPr>
                        <a:t>기각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σ 게이트 — 깨끗한 입력은 그대로 통과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8C4A6B"/>
                          </a:solidFill>
                          <a:latin typeface="Consolas"/>
                        </a:rPr>
                        <a:t>오라클 +0.52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σ̂ 이 실제 0.001 을 0.037 로 추정. 제약이 실제 비용을 만든다는 증거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8C4A6B"/>
                          </a:solidFill>
                          <a:latin typeface="맑은 고딕"/>
                        </a:rPr>
                        <a:t>기각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patch 256 · batch 32 (A100 이니까)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8C4A6B"/>
                          </a:solidFill>
                          <a:latin typeface="Consolas"/>
                        </a:rPr>
                        <a:t>val −0.11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배치 2배 = epoch 당 step 절반. 이득은 배치가 아니라 step 수다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8C4A6B"/>
                          </a:solidFill>
                          <a:latin typeface="맑은 고딕"/>
                        </a:rPr>
                        <a:t>정정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label-free 학습 데이터: test 100장 vs train 7,268장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8C4A6B"/>
                          </a:solidFill>
                          <a:latin typeface="Consolas"/>
                        </a:rPr>
                        <a:t>30.95 vs 30.35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처음엔 fp16 불안정으로 망가진 실행을 보고 '데이터가 안 통한다'고 단정했다. 제대로 돌리니 −0.60 dB — 방향은 같아도 근거가 없었다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6E5E"/>
                          </a:solidFill>
                          <a:latin typeface="맑은 고딕"/>
                        </a:rPr>
                        <a:t>가산점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label-free (Noise2Void, clean 0장)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B6E5E"/>
                          </a:solidFill>
                          <a:latin typeface="Consolas"/>
                        </a:rPr>
                        <a:t>31.38 / 0.9056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C4947"/>
                          </a:solidFill>
                          <a:latin typeface="Consolas"/>
                        </a:rPr>
                        <a:t>clean 7,268장 지도학습 기준선(30.51)을 넘었다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550408"/>
            <a:ext cx="10881360" cy="1078992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669280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기각한 넷이 채택한 다섯을 설명한다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150" b="0">
                <a:solidFill>
                  <a:srgbClr val="3C4947"/>
                </a:solidFill>
                <a:latin typeface="맑은 고딕"/>
              </a:rPr>
              <a:t>median 채널은 s&amp;p 가 약하다는 진단에서 나왔다. 진단은 옳았고 처방이 틀렸다 — 35px 시야를 그대로 둔 채 국소 필터를 하나 더 준 것이었기 때문이다. 같은 문제를 수용영역 확장(DRUNet)이 풀었고 그 구간에서만 +5.82 dB. ablation 을 안 돌렸으면 손해 본 채 'median 덕분'이라고 발표할 뻔했다.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모든 수치는 test 100장 기준 · conventional 비교군과 지표 구현은 배포 코드 그대로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2 · BEFORE / AFTER / ERROR / GT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Gaussian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corrupted → restored → |error| → ground truth   ·   27.67 → 36.15 dB (+8.48)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nel_gauss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0"/>
            <a:ext cx="11155680" cy="31373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오차가 경계선을 따라 남는다. 평탄한 영역은 거의 완전히 복원된다.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2 · BEFORE / AFTER / ERROR / GT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Rician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corrupted → restored → |error| → ground truth   ·   24.08 → 32.21 dB (+8.13)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nel_ric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0"/>
            <a:ext cx="11155680" cy="31373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4종 중 가장 어렵다. |·| 때문에 어두운 영역의 값이 위로 들려 있어, 밝기 자체가 이동한 상태에서 되돌려야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2 · BEFORE / AFTER / ERROR / GT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Uniform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corrupted → restored → |error| → ground truth   ·   29.63 → 36.31 dB (+6.68)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nel_uni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0"/>
            <a:ext cx="11155680" cy="31373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gaussian 과 비슷한 양상. 입력 PSNR 이 원래 높아 개선 폭은 작다.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2 · BEFORE / AFTER / ERROR / GT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Salt &amp; Pepper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corrupted → restored → |error| → ground truth   ·   17.30 → 45.01 dB (+27.71)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nel_salt_and_pep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0"/>
            <a:ext cx="11155680" cy="31373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임펄스가 완전히 사라졌다. 남은 오차는 원래 임펄스가 있던 자리의 미세한 흔적뿐이다.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2 · ERROR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오차는 어디에 남는가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열마다 같은 스케일 — 위: 아무것도 안 했을 때, 아래: 모델 통과 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rror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194560"/>
            <a:ext cx="8292181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PSNR 한 숫자로는 '어디서' 틀렸는지 안 보인다. 오차가 경계에 몰려 있는지 평탄부에 흩어져 있는지가 다음 수를 결정한다.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믿을 수 있는 숫자인가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그리고 되지 않은 것 하나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지표 구현이 채점과 같은지 먼저 맞췄다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배포 예시 로그의 mean/median/adaptive 성적을 우리 로더·우리 지표로 다시 쟀다.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0B6E5E"/>
                </a:solidFill>
                <a:latin typeface="Consolas"/>
              </a:rPr>
              <a:t>PSNR 최대 차이  0.0000 dB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4종 × 4방법 전부 소수 넷째자리까지 일치. 여기가 맞은 뒤에 학습을 돌렸다.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4884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8C4A6B"/>
                </a:solidFill>
                <a:latin typeface="맑은 고딕"/>
              </a:rPr>
              <a:t>되지 않은 것 — σ 게이트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입력이 이미 50~62 dB 인 이미지에서는 모델이 손해다 (100장 중 8장). 정답을 보고 매번 유리한 쪽을 고르면 +0.52 dB.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그런데 σ̂ 로는 그 8장을 못 고른다. MAD 추정기가 이미지의 미세 질감을 노이즈로 착각해, 실제 σ=0.001 인 이미지를 0.037 로 추정한다. 임계값을 어디 두든 손해였다.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526280"/>
          <a:ext cx="64922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31A19"/>
                          </a:solidFill>
                          <a:latin typeface="맑은 고딕"/>
                        </a:rPr>
                        <a:t>구성 (같은 학습 레시피)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전체 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전체 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s&amp;p 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31A19"/>
                          </a:solidFill>
                          <a:latin typeface="맑은 고딕"/>
                        </a:rPr>
                        <a:t>DRUNet + self-ensemble  (제출)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37.42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0.9609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31A19"/>
                          </a:solidFill>
                          <a:latin typeface="Consolas"/>
                        </a:rPr>
                        <a:t>45.01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C4947"/>
                          </a:solidFill>
                          <a:latin typeface="맑은 고딕"/>
                        </a:rPr>
                        <a:t>+ median 3×3 입력 채널  (기각)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33.75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0.9424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C4947"/>
                          </a:solidFill>
                          <a:latin typeface="Consolas"/>
                        </a:rPr>
                        <a:t>34.74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06640" y="4480560"/>
            <a:ext cx="4023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C4A6B"/>
                </a:solidFill>
                <a:latin typeface="맑은 고딕"/>
              </a:rPr>
              <a:t>가설을 세웠고, 틀렸다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3C4947"/>
                </a:solidFill>
                <a:latin typeface="맑은 고딕"/>
              </a:rPr>
              <a:t>median 채널을 넣은 이유가 s&amp;p 였는데 정작 거기서 10.27 dB 를 잃었다. ablation 을 안 돌렸으면 손해 본 채 'median 덕분'이라고 발표할 뻔했다.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check_baselines.py · analyze_gate.py 로 재현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4 · BONUS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Label-free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clean 이미지를 loss 에 한 번도 쓰지 않는 경로 (Noise2Void)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303520" cy="26517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원리 — 그 픽셀을 입력에서 지운다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0">
                <a:solidFill>
                  <a:srgbClr val="3C4947"/>
                </a:solidFill>
                <a:latin typeface="Consolas"/>
              </a:rPr>
              <a:t>입력 : noisy (일부 픽셀을 이웃 값으로 덮어씀)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Consolas"/>
              </a:rPr>
              <a:t>정답 : 덮어쓰기 전 그 픽셀의 noisy 값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Consolas"/>
              </a:rPr>
              <a:t>loss : 덮어쓴 자리에서만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노이즈가 픽셀마다 독립이면, 주변에서 그 픽셀의 노이즈를 알아낼 방법이 없다. 네트워크가 맞힐 수 있는 것은 구조뿐이다. clean 은 어디에도 등장하지 않는다.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48840"/>
            <a:ext cx="5303520" cy="265176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우리 노이즈 4종은 전제를 만족한다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gaussian · rician · uniform · salt&amp;pepper 모두 픽셀별 독립.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다만 L2 loss 는 조건부 평균을 학습하므로 노이즈 평균이 0 이어야 한다. s&amp;p 는 0/max 로 덮으니 아니고, rician 은 절댓값 때문에 위로 들린다.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1">
                <a:solidFill>
                  <a:srgbClr val="0B6E5E"/>
                </a:solidFill>
                <a:latin typeface="맑은 고딕"/>
              </a:rPr>
              <a:t>→ L1 loss 로 조건부 중앙값을 학습시켜 임펄스 편향을 없앤다.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5029200"/>
          <a:ext cx="1088135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1A19"/>
                          </a:solidFill>
                          <a:latin typeface="맑은 고딕"/>
                        </a:rPr>
                        <a:t>파이프라인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clean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test 입력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supervised (제출)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loss 에 사용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미사용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37.42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0.9609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배포 기준선 (supervised 10ep)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loss 에 사용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미사용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30.51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0.8950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1A19"/>
                          </a:solidFill>
                          <a:latin typeface="맑은 고딕"/>
                        </a:rPr>
                        <a:t>DRUNet · train 7,268장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전혀 안 씀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미사용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31.38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0.9056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DnCNN · train 7,268장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전혀 안 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미사용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30.35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0.8923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1A19"/>
                          </a:solidFill>
                          <a:latin typeface="맑은 고딕"/>
                        </a:rPr>
                        <a:t>DnCNN · test 100장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전혀 안 씀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사용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30.95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0.8992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test 입력을 학습에 쓰면 supervised 와 나란히 놓을 수 없다 — supervised 는 test 를 본 적이 없다. 대표값은 test 무접촉 쪽을 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810512"/>
            <a:ext cx="310896" cy="310896"/>
          </a:xfrm>
          <a:prstGeom prst="ellipse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종류를 모른다는 제약이 이 문제의 전부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50" b="0">
                <a:solidFill>
                  <a:srgbClr val="66756F"/>
                </a:solidFill>
                <a:latin typeface="맑은 고딕"/>
              </a:rPr>
              <a:t>고정 필터 하나로는 아무것도 안 한 것과 다를 바 없다 (mean 24.86 vs 입력 24.67). 학습이 필요한 이유.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743200"/>
            <a:ext cx="310896" cy="310896"/>
          </a:xfrm>
          <a:prstGeom prst="ellipse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7004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좁은 시야가 진짜 제약이었다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50" b="0">
                <a:solidFill>
                  <a:srgbClr val="66756F"/>
                </a:solidFill>
                <a:latin typeface="맑은 고딕"/>
              </a:rPr>
              <a:t>학습 절차만 바꿔 30.51 → 34.13 dB, 수용영역을 35px 에서 ~180px 로 넓혀 37.42 dB. median 채널을 덧대려던 시도가 기각된 이유도 같다 — 시야를 안 건드렸다.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0273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숫자를 믿을 수 있게 먼저 맞췄다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50" b="0">
                <a:solidFill>
                  <a:srgbClr val="66756F"/>
                </a:solidFill>
                <a:latin typeface="맑은 고딕"/>
              </a:rPr>
              <a:t>배포 예시 로그와 PSNR 최대 차이 0.0000 dB. 검증 없이 낸 숫자는 근거가 아니다.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608576"/>
            <a:ext cx="310896" cy="310896"/>
          </a:xfrm>
          <a:prstGeom prst="ellipse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35424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안 되는 것도 확인했다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50" b="0">
                <a:solidFill>
                  <a:srgbClr val="66756F"/>
                </a:solidFill>
                <a:latin typeface="맑은 고딕"/>
              </a:rPr>
              <a:t>σ 게이트로 얻을 0.52 dB 는 blind 상태에서 집을 수 없다. 제약이 실제 비용을 발생시킨다는 증거.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541264"/>
            <a:ext cx="310896" cy="310896"/>
          </a:xfrm>
          <a:prstGeom prst="ellipse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46811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label-free 경로를 따로 만들었다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50" b="0">
                <a:solidFill>
                  <a:srgbClr val="66756F"/>
                </a:solidFill>
                <a:latin typeface="맑은 고딕"/>
              </a:rPr>
              <a:t>노이즈가 픽셀 독립이라는 성질만으로 clean 없이 학습 가능. 현실에서는 clean 을 못 구하는 경우가 많다.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제출값  PSNR 37.42   SSIM 0.9609    (배포 기준선 대비 +6.91 dB / +0.0659)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1755</Words>
  <Application>Microsoft Office PowerPoint</Application>
  <PresentationFormat>와이드스크린</PresentationFormat>
  <Paragraphs>291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삼성</cp:lastModifiedBy>
  <cp:revision>2</cp:revision>
  <dcterms:created xsi:type="dcterms:W3CDTF">2013-01-27T09:14:16Z</dcterms:created>
  <dcterms:modified xsi:type="dcterms:W3CDTF">2026-09-01T00:03:44Z</dcterms:modified>
  <cp:category/>
</cp:coreProperties>
</file>