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삼성 DS2 · Image Restoration Challenge · Day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131A19"/>
                </a:solidFill>
                <a:latin typeface="맑은 고딕"/>
              </a:rPr>
              <a:t>노이즈 4종을 하나의 네트워크로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606040"/>
            <a:ext cx="100584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4200" b="1">
                <a:solidFill>
                  <a:srgbClr val="0B6E5E"/>
                </a:solidFill>
                <a:latin typeface="맑은 고딕"/>
              </a:rPr>
              <a:t>종류도 세기도 모른 채 복원하기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61188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0">
                <a:solidFill>
                  <a:srgbClr val="66756F"/>
                </a:solidFill>
                <a:latin typeface="맑은 고딕"/>
              </a:rPr>
              <a:t>반도체 이미지 denoising · test 100장 · DnCNN + 학습 레시피 + self-ensemble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B6E5E"/>
                </a:solidFill>
                <a:latin typeface="Consolas"/>
              </a:rPr>
              <a:t>제출값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131A19"/>
                </a:solidFill>
                <a:latin typeface="Consolas"/>
              </a:rPr>
              <a:t>PSNR 34.13   SSIM 0.9445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4343400"/>
            <a:ext cx="4023360" cy="13716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40680" y="452628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66756F"/>
                </a:solidFill>
                <a:latin typeface="Consolas"/>
              </a:rPr>
              <a:t>배포 기준선 (DnCNN 10 epoch)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80" y="4846320"/>
            <a:ext cx="3657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100" b="1">
                <a:solidFill>
                  <a:srgbClr val="66756F"/>
                </a:solidFill>
                <a:latin typeface="Consolas"/>
              </a:rPr>
              <a:t>PSNR 30.51   SSIM 0.8950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534924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→  +3.62 dB   +0.0495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9760" y="5394960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25000"/>
              </a:lnSpc>
            </a:pPr>
            <a:r>
              <a:rPr sz="1300" b="0">
                <a:solidFill>
                  <a:srgbClr val="66756F"/>
                </a:solidFill>
                <a:latin typeface="맑은 고딕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문제 — 종류를 모른다는 것이 전부다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이미지마다 4종 중 하나가 랜덤 σ 로 실려 있고, 어느 것인지 알려주지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59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6096"/>
                <a:gridCol w="1500877"/>
                <a:gridCol w="5909704"/>
                <a:gridCol w="1594682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σ 범위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성질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입력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N(0,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27.67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0.15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|x + N + iN| — 어두운 쪽이 위로 들림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24.08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x + U(-σ, σ)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29.63 dB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 – 0.2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픽셀의 σ 비율을 0 또는 max 로 덮어씀 (임펄스)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17.30 dB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64008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고전 필터는 종류마다 정답이 정반대다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Salt &amp; Pepper  ·  median 28.5  vs  mean 23.2 dB</a:t>
            </a:r>
          </a:p>
          <a:p>
            <a:pPr algn="l">
              <a:lnSpc>
                <a:spcPct val="125000"/>
              </a:lnSpc>
            </a:pPr>
            <a:r>
              <a:rPr sz="1250" b="0">
                <a:solidFill>
                  <a:srgbClr val="3C4947"/>
                </a:solidFill>
                <a:latin typeface="Consolas"/>
              </a:rPr>
              <a:t>Gaussian       ·  adaptive 30.1  vs  median 27.4 dB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임펄스는 몇 픽셀이 통째로 거짓말이라 평균 계열이 그 거짓말을 이웃에 퍼뜨린다. 반대로 median 은 미세한 계조를 계단으로 뭉갠다.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206240"/>
            <a:ext cx="5303520" cy="228600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46520" y="4407408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1">
                <a:solidFill>
                  <a:srgbClr val="131A19"/>
                </a:solidFill>
                <a:latin typeface="맑은 고딕"/>
              </a:rPr>
              <a:t>그래서 고정 필터 하나로는 못 넘는다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4864608"/>
            <a:ext cx="484632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복원 안 함   24.67 dB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3C4947"/>
                </a:solidFill>
                <a:latin typeface="Consolas"/>
              </a:rPr>
              <a:t>mean 3×3     24.86 dB   ← 겨우 +0.19</a:t>
            </a:r>
          </a:p>
          <a:p>
            <a:pPr algn="l">
              <a:lnSpc>
                <a:spcPct val="125000"/>
              </a:lnSpc>
              <a:spcBef>
                <a:spcPts val="10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종류를 모른 채 하나의 규칙을 고정하면 아무것도 안 한 것과 다를 바 없다. 학습이 필요한 이유가 여기 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출처: dataset/test_noise_only/noise_meta.json · 25장 × 4종 = 100장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1 ·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학습은 노이즈를 만들어 배우고, 추론은 만들지 않는다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27432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학습 (supervised)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2560320"/>
            <a:ext cx="1874519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633472"/>
            <a:ext cx="1655063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train/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889504"/>
            <a:ext cx="1691639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clean 7,268장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551175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43783" y="2560320"/>
            <a:ext cx="16002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53511" y="2633472"/>
            <a:ext cx="13807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증강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5223" y="2889504"/>
            <a:ext cx="14173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랜덤 크롭 128
flip · rot90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4480559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73167" y="2560320"/>
            <a:ext cx="19202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82895" y="2633472"/>
            <a:ext cx="17007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합성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64607" y="2889504"/>
            <a:ext cx="17373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노이즈 4종 중
1개 랜덤 + σ 랜덤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729983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22591" y="256032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19" y="263347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모델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14031" y="288950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>
                <a:solidFill>
                  <a:srgbClr val="131A19"/>
                </a:solidFill>
                <a:latin typeface="맑은 고딕"/>
              </a:rPr>
              <a:t>DnCNN 17층
64ch · 전역 잔차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345167" y="292608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637775" y="2560320"/>
            <a:ext cx="18288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47503" y="2633472"/>
            <a:ext cx="16093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학습 신호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29215" y="2889504"/>
            <a:ext cx="16459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Charbonnier loss
vs clean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3703320"/>
            <a:ext cx="3657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1">
                <a:solidFill>
                  <a:srgbClr val="0B6E5E"/>
                </a:solidFill>
                <a:latin typeface="Consolas"/>
              </a:rPr>
              <a:t>추론 (test 100장)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023360"/>
            <a:ext cx="237744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096512"/>
            <a:ext cx="215798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test_noise_only/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52544"/>
            <a:ext cx="21945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corrupted 100장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3054096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346704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456432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추론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438144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8× self-ensemble
dihedral 평균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5669280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5961888" y="4023360"/>
            <a:ext cx="2286000" cy="960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071616" y="4096512"/>
            <a:ext cx="206654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66756F"/>
                </a:solidFill>
                <a:latin typeface="Consolas"/>
              </a:rPr>
              <a:t>모델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53328" y="4352544"/>
            <a:ext cx="21031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>
                <a:solidFill>
                  <a:srgbClr val="131A19"/>
                </a:solidFill>
                <a:latin typeface="맑은 고딕"/>
              </a:rPr>
              <a:t>같은 네트워크
(가중치 1벌)</a:t>
            </a:r>
          </a:p>
        </p:txBody>
      </p:sp>
      <p:sp>
        <p:nvSpPr>
          <p:cNvPr id="38" name="Right Arrow 37"/>
          <p:cNvSpPr/>
          <p:nvPr/>
        </p:nvSpPr>
        <p:spPr>
          <a:xfrm>
            <a:off x="8284464" y="4389120"/>
            <a:ext cx="256032" cy="219456"/>
          </a:xfrm>
          <a:prstGeom prst="rightArrow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8577072" y="4023360"/>
            <a:ext cx="2103120" cy="960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4096512"/>
            <a:ext cx="1883664" cy="20116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5000"/>
              </a:lnSpc>
            </a:pPr>
            <a:r>
              <a:rPr sz="950" b="1">
                <a:solidFill>
                  <a:srgbClr val="0B6E5E"/>
                </a:solidFill>
                <a:latin typeface="Consolas"/>
              </a:rPr>
              <a:t>제출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68512" y="4352544"/>
            <a:ext cx="1920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1">
                <a:solidFill>
                  <a:srgbClr val="131A19"/>
                </a:solidFill>
                <a:latin typeface="Consolas"/>
              </a:rPr>
              <a:t>PSNR 34.13
SSIM 0.9445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40680"/>
            <a:ext cx="10881360" cy="114300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5577840"/>
            <a:ext cx="1042416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핵심: 추론 경로에는 노이즈 종류·σ 정보가 들어가지 않는다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noise_meta.json 에 종류와 σ 가 다 적혀 있지만 복원에는 쓰지 않았다. 표를 종류별로 쪼개 보여주는 데만 썼다 — 채점 세트에 그 정보가 없을 수 있고, 모르고도 되는 것이 더 강한 결과다.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3 · DESIGN RATIONALE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왜 이 방법을 골랐는가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배포 코드와 같은 데이터·같은 노이즈 합성·같은 지표를 쓰고 학습 쪽만 바꿨다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148840"/>
          <a:ext cx="10881360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4754880"/>
                <a:gridCol w="384048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131A19"/>
                          </a:solidFill>
                          <a:latin typeface="맑은 고딕"/>
                        </a:rPr>
                        <a:t>바꾼 것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관찰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131A19"/>
                          </a:solidFill>
                          <a:latin typeface="Consolas"/>
                        </a:rPr>
                        <a:t>그래서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Charbonnier loss</a:t>
                      </a:r>
                    </a:p>
                    <a:p>
                      <a:r>
                        <a:t>(L2 → smooth L1)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L2 는 s&amp;p 의 극단값 몇 픽셀에</a:t>
                      </a:r>
                    </a:p>
                    <a:p>
                      <a:r>
                        <a:t>gradient 가 끌려간다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큰 오차의 영향을 선형으로 제한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cosine LR · 40 epoch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배포 설정은 10 epoch 에 plateau×0.88 —</a:t>
                      </a:r>
                    </a:p>
                    <a:p>
                      <a:r>
                        <a:t>감쇠가 사실상 안 걸림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끝까지 부드럽게 낮춰 수렴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patch 128 랜덤 크롭</a:t>
                      </a:r>
                    </a:p>
                    <a:p>
                      <a:r>
                        <a:t>+ rot90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DnCNN 수용영역은 35px.</a:t>
                      </a:r>
                    </a:p>
                    <a:p>
                      <a:r>
                        <a:t>256² 로 학습할 이유가 없다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크롭 자체가 증강.</a:t>
                      </a:r>
                    </a:p>
                    <a:p>
                      <a:r>
                        <a:t>step 수도 2배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8× self-ensemble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flip/rot90 로 학습했으니</a:t>
                      </a:r>
                    </a:p>
                    <a:p>
                      <a:r>
                        <a:t>8개 변환을 같게 다뤄야 맞다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실제로는 어긋남. 평균이 그것을 지움</a:t>
                      </a:r>
                    </a:p>
                    <a:p>
                      <a:r>
                        <a:t>(+0.55 dB, 학습 비용 0)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00" b="0">
                          <a:solidFill>
                            <a:srgbClr val="3C4947"/>
                          </a:solidFill>
                          <a:latin typeface="맑은 고딕"/>
                        </a:rPr>
                        <a:t>입력에 median 3×3</a:t>
                      </a:r>
                    </a:p>
                    <a:p>
                      <a:r>
                        <a:t>채널 추가  → 기각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s&amp;p 입력이 17.3 dB 로 혼자 10 dB 아래.</a:t>
                      </a:r>
                    </a:p>
                    <a:p>
                      <a:r>
                        <a:t>고전 필터 중 median 만 통함 (28.5 vs mean 23.2)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0">
                          <a:solidFill>
                            <a:srgbClr val="3C4947"/>
                          </a:solidFill>
                          <a:latin typeface="Consolas"/>
                        </a:rPr>
                        <a:t>넣은 이유였던 s&amp;p 에서 오히려 1.21 dB 손해.</a:t>
                      </a:r>
                    </a:p>
                    <a:p>
                      <a:r>
                        <a:t>17층이면 임펄스는 스스로 처리한다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모델 구조는 배포된 DnCNN 그대로. 바꾼 것은 학습 절차뿐이고, 구조를 건드린 유일한 시도는 검증 끝에 기각했다.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결과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test 100장 · 제출값 PSNR 34.13 / SSIM 0.9445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ummary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86000"/>
            <a:ext cx="7040880" cy="2906785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72400" y="2286000"/>
          <a:ext cx="3749037" cy="18653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5514"/>
                <a:gridCol w="733507"/>
                <a:gridCol w="896509"/>
                <a:gridCol w="733507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노이즈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입력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제안 모델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Δ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Gaussian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27.67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34.67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+7.00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Rician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24.08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31.03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+6.95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Uniform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29.63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34.87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+5.24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Salt &amp; Pepper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17.30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+18.65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전체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24.67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+9.46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772400" y="4389120"/>
            <a:ext cx="3749039" cy="237744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73568" y="4553712"/>
            <a:ext cx="338328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131A19"/>
                </a:solidFill>
                <a:latin typeface="맑은 고딕"/>
              </a:rPr>
              <a:t>Salt &amp; Pepper 가 갈림길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300" b="0">
                <a:solidFill>
                  <a:srgbClr val="3C4947"/>
                </a:solidFill>
                <a:latin typeface="Consolas"/>
              </a:rPr>
              <a:t>17.30  →  35.95 dB   (+18.65)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SSIM 0.4746 → 0.9842 — 4종 중 최고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배포 기준선 DnCNN 은 여기서 29.69 였다. 구조를 바꾼 게 아니라 학습 절차만 바꿔 6 dB 를 더 벌었다.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conventional 3종은 배포 코드 구현 그대로 · self-ensemble 적용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Gaussian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27.67 → 34.67 dB (+7.00)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gauss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오차가 경계선을 따라 남는다. 평탄한 영역은 거의 완전히 복원된다.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Rician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24.08 → 31.03 dB (+6.95)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rici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4종 중 가장 어렵다. |·| 때문에 어두운 영역의 값이 위로 들려 있어, 밝기 자체가 이동한 상태에서 되돌려야 한다.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Uniform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29.63 → 34.87 dB (+5.24)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uni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472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gaussian 과 비슷한 양상. 입력 PSNR 이 원래 높아 개선 폭은 작다.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BEFORE / AFTER / ERROR / GT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Salt &amp; Pepper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corrupted → restored → |error| → ground truth   ·   17.30 → 35.95 dB (+18.65)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anel_salt_and_pepp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560320"/>
            <a:ext cx="11155680" cy="31226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임펄스가 완전히 사라졌다. 남은 오차는 원래 임펄스가 있던 자리의 미세한 흔적뿐이다.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2 · ERROR 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오차는 어디에 남는가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열마다 같은 스케일 — 위: 아무것도 안 했을 때, 아래: 모델 통과 후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error_ma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1720" y="2194560"/>
            <a:ext cx="8278683" cy="45262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PSNR 한 숫자로는 '어디서' 틀렸는지 안 보인다. 오차가 경계에 몰려 있는지 평탄부에 흩어져 있는지가 다음 수를 결정한다.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믿을 수 있는 숫자인가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그리고 되지 않은 것 하나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지표 구현이 채점과 같은지 먼저 맞췄다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배포 예시 로그의 mean/median/adaptive 성적을 우리 로더·우리 지표로 다시 쟀다.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500" b="1">
                <a:solidFill>
                  <a:srgbClr val="0B6E5E"/>
                </a:solidFill>
                <a:latin typeface="Consolas"/>
              </a:rPr>
              <a:t>PSNR 최대 차이  0.0000 dB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4종 × 4방법 전부 소수 넷째자리까지 일치. 여기가 맞은 뒤에 학습을 돌렸다.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10312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8C4A6B"/>
                </a:solidFill>
                <a:latin typeface="맑은 고딕"/>
              </a:rPr>
              <a:t>되지 않은 것 — σ 게이트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입력이 이미 50~62 dB 인 이미지에서는 모델이 손해다 (100장 중 8장). 정답을 보고 매번 유리한 쪽을 고르면 +0.52 dB.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그런데 σ̂ 로는 그 8장을 못 고른다. MAD 추정기가 이미지의 미세 질감을 노이즈로 착각해, 실제 σ=0.001 인 이미지를 0.037 로 추정한다. 임계값을 어디 두든 손해였다.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4526280"/>
          <a:ext cx="6492240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1097280"/>
                <a:gridCol w="1097280"/>
                <a:gridCol w="100584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구성 (같은 학습 레시피)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전체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s&amp;p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131A19"/>
                          </a:solidFill>
                          <a:latin typeface="맑은 고딕"/>
                        </a:rPr>
                        <a:t>순정 DnCNN + self-ensemble  (제출)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1">
                          <a:solidFill>
                            <a:srgbClr val="131A19"/>
                          </a:solidFill>
                          <a:latin typeface="Consolas"/>
                        </a:rPr>
                        <a:t>35.95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3C4947"/>
                          </a:solidFill>
                          <a:latin typeface="맑은 고딕"/>
                        </a:rPr>
                        <a:t>+ median 3×3 입력 채널  (기각)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33.75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0.9424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50" b="0">
                          <a:solidFill>
                            <a:srgbClr val="3C4947"/>
                          </a:solidFill>
                          <a:latin typeface="Consolas"/>
                        </a:rPr>
                        <a:t>34.74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7406640" y="4480560"/>
            <a:ext cx="402336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>
                <a:solidFill>
                  <a:srgbClr val="8C4A6B"/>
                </a:solidFill>
                <a:latin typeface="맑은 고딕"/>
              </a:rPr>
              <a:t>가설을 세웠고, 틀렸다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00" b="0">
                <a:solidFill>
                  <a:srgbClr val="3C4947"/>
                </a:solidFill>
                <a:latin typeface="맑은 고딕"/>
              </a:rPr>
              <a:t>median 채널을 넣은 이유가 s&amp;p 였는데 정작 거기서 1.21 dB 를 잃었다. ablation 을 안 돌렸으면 손해 본 채 'median 덕분'이라고 발표할 뻔했다.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check_baselines.py · analyze_gate.py 로 재현 가능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4 · BONUS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Label-free 파이프라인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0">
                <a:solidFill>
                  <a:srgbClr val="66756F"/>
                </a:solidFill>
                <a:latin typeface="맑은 고딕"/>
              </a:rPr>
              <a:t>clean 이미지를 loss 에 한 번도 쓰지 않는 경로 (Noise2Void)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8745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DCEDE8"/>
          </a:solidFill>
          <a:ln w="9525">
            <a:solidFill>
              <a:srgbClr val="0B6E5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원리 — 그 픽셀을 입력에서 지운다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00" b="0">
                <a:solidFill>
                  <a:srgbClr val="3C4947"/>
                </a:solidFill>
                <a:latin typeface="Consolas"/>
              </a:rPr>
              <a:t>입력 : noisy (일부 픽셀을 이웃 값으로 덮어씀)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정답 : 덮어쓰기 전 그 픽셀의 noisy 값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3C4947"/>
                </a:solidFill>
                <a:latin typeface="Consolas"/>
              </a:rPr>
              <a:t>loss : 덮어쓴 자리에서만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노이즈가 픽셀마다 독립이면, 주변에서 그 픽셀의 노이즈를 알아낼 방법이 없다. 네트워크가 맞힐 수 있는 것은 구조뿐이다. clean 은 어디에도 등장하지 않는다.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148840"/>
            <a:ext cx="5303520" cy="2651760"/>
          </a:xfrm>
          <a:prstGeom prst="roundRect">
            <a:avLst>
              <a:gd name="adj" fmla="val 4000"/>
            </a:avLst>
          </a:prstGeom>
          <a:solidFill>
            <a:srgbClr val="F3F6F5"/>
          </a:solidFill>
          <a:ln w="9525">
            <a:solidFill>
              <a:srgbClr val="DCE3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2331720"/>
            <a:ext cx="4846320" cy="2377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우리 노이즈 4종은 전제를 만족한다</a:t>
            </a:r>
          </a:p>
          <a:p>
            <a:pPr algn="l">
              <a:lnSpc>
                <a:spcPct val="125000"/>
              </a:lnSpc>
              <a:spcBef>
                <a:spcPts val="8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gaussian · rician · uniform · salt&amp;pepper 모두 픽셀별 독립.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0">
                <a:solidFill>
                  <a:srgbClr val="3C4947"/>
                </a:solidFill>
                <a:latin typeface="맑은 고딕"/>
              </a:rPr>
              <a:t>다만 L2 loss 는 조건부 평균을 학습하므로 노이즈 평균이 0 이어야 한다. s&amp;p 는 0/max 로 덮으니 아니고, rician 은 절댓값 때문에 위로 들린다.</a:t>
            </a:r>
          </a:p>
          <a:p>
            <a:pPr algn="l">
              <a:lnSpc>
                <a:spcPct val="125000"/>
              </a:lnSpc>
              <a:spcBef>
                <a:spcPts val="600"/>
              </a:spcBef>
            </a:pPr>
            <a:r>
              <a:rPr sz="1250" b="1">
                <a:solidFill>
                  <a:srgbClr val="0B6E5E"/>
                </a:solidFill>
                <a:latin typeface="맑은 고딕"/>
              </a:rPr>
              <a:t>→ L1 loss 로 조건부 중앙값을 학습시켜 임펄스 편향을 없앤다.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5074920"/>
          <a:ext cx="10881358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06239"/>
                <a:gridCol w="2377440"/>
                <a:gridCol w="2103119"/>
                <a:gridCol w="2194560"/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파이프라인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clean 사용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PSNR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test SSIM</a:t>
                      </a:r>
                    </a:p>
                  </a:txBody>
                  <a:tcPr marL="82296" marR="82296" marT="27432" marB="27432" anchor="ctr">
                    <a:solidFill>
                      <a:srgbClr val="DCEDE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0">
                          <a:solidFill>
                            <a:srgbClr val="3C4947"/>
                          </a:solidFill>
                          <a:latin typeface="맑은 고딕"/>
                        </a:rPr>
                        <a:t>supervised (제출)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loss 에 사용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34.13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3C4947"/>
                          </a:solidFill>
                          <a:latin typeface="Consolas"/>
                        </a:rPr>
                        <a:t>0.9445</a:t>
                      </a:r>
                    </a:p>
                  </a:txBody>
                  <a:tcPr marL="82296" marR="82296" marT="27432" marB="27432" anchor="ctr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31A19"/>
                          </a:solidFill>
                          <a:latin typeface="맑은 고딕"/>
                        </a:rPr>
                        <a:t>label-free · test 100장만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전혀 안 씀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30.08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131A19"/>
                          </a:solidFill>
                          <a:latin typeface="Consolas"/>
                        </a:rPr>
                        <a:t>0.8882</a:t>
                      </a:r>
                    </a:p>
                  </a:txBody>
                  <a:tcPr marL="82296" marR="82296" marT="27432" marB="27432" anchor="ctr">
                    <a:solidFill>
                      <a:srgbClr val="ECF5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src/denoise/train_n2v.py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20624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1">
                <a:solidFill>
                  <a:srgbClr val="0B6E5E"/>
                </a:solidFill>
                <a:latin typeface="Consolas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972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000" b="1">
                <a:solidFill>
                  <a:srgbClr val="131A19"/>
                </a:solidFill>
                <a:latin typeface="맑은 고딕"/>
              </a:rPr>
              <a:t>정리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17320"/>
            <a:ext cx="10908792" cy="15240"/>
          </a:xfrm>
          <a:prstGeom prst="rect">
            <a:avLst/>
          </a:prstGeom>
          <a:solidFill>
            <a:srgbClr val="DCE3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85800" y="1810512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737360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종류를 모른다는 제약이 이 문제의 전부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고정 필터 하나로는 아무것도 안 한 것과 다를 바 없다 (mean 24.86 vs 입력 24.67). 학습이 필요한 이유.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2743200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70048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구조가 아니라 학습 절차가 답이었다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배포된 DnCNN 그대로 두고 loss·스케줄·증강·self-ensemble 만 바꿔 30.51 → 34.13 dB. 구조를 건드린 유일한 시도는 ablation 끝에 기각했다.</a:t>
            </a:r>
          </a:p>
        </p:txBody>
      </p:sp>
      <p:sp>
        <p:nvSpPr>
          <p:cNvPr id="9" name="Oval 8"/>
          <p:cNvSpPr/>
          <p:nvPr/>
        </p:nvSpPr>
        <p:spPr>
          <a:xfrm>
            <a:off x="685800" y="3675888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602736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숫자를 믿을 수 있게 먼저 맞췄다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배포 예시 로그와 PSNR 최대 차이 0.0000 dB. 검증 없이 낸 숫자는 근거가 아니다.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4608576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535424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안 되는 것도 확인했다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σ 게이트로 얻을 0.52 dB 는 blind 상태에서 집을 수 없다. 제약이 실제 비용을 발생시킨다는 증거.</a:t>
            </a:r>
          </a:p>
        </p:txBody>
      </p:sp>
      <p:sp>
        <p:nvSpPr>
          <p:cNvPr id="13" name="Oval 12"/>
          <p:cNvSpPr/>
          <p:nvPr/>
        </p:nvSpPr>
        <p:spPr>
          <a:xfrm>
            <a:off x="685800" y="5541264"/>
            <a:ext cx="310896" cy="310896"/>
          </a:xfrm>
          <a:prstGeom prst="ellipse">
            <a:avLst/>
          </a:prstGeom>
          <a:solidFill>
            <a:srgbClr val="0B6E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20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5468112"/>
            <a:ext cx="102412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500" b="1">
                <a:solidFill>
                  <a:srgbClr val="131A19"/>
                </a:solidFill>
                <a:latin typeface="맑은 고딕"/>
              </a:rPr>
              <a:t>label-free 경로를 따로 만들었다</a:t>
            </a:r>
          </a:p>
          <a:p>
            <a:pPr algn="l">
              <a:lnSpc>
                <a:spcPct val="125000"/>
              </a:lnSpc>
              <a:spcBef>
                <a:spcPts val="300"/>
              </a:spcBef>
            </a:pPr>
            <a:r>
              <a:rPr sz="1250" b="0">
                <a:solidFill>
                  <a:srgbClr val="66756F"/>
                </a:solidFill>
                <a:latin typeface="맑은 고딕"/>
              </a:rPr>
              <a:t>노이즈가 픽셀 독립이라는 성질만으로 clean 없이 학습 가능. 현실에서는 clean 을 못 구하는 경우가 많다.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355080"/>
            <a:ext cx="10972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000" b="0">
                <a:solidFill>
                  <a:srgbClr val="66756F"/>
                </a:solidFill>
                <a:latin typeface="Consolas"/>
              </a:rPr>
              <a:t>제출값  PSNR 34.13   SSIM 0.9445    (배포 기준선 대비 +3.62 dB / +0.0495)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