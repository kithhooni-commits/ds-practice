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방법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어떻게 만들었나 — 전처리 · 모델 · 학습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깨끗한 이미지만 주어진 문제다. 데이터를 만들고, 물리를 층으로 넣고, 수렴까지 돌렸다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2066543"/>
            <a:ext cx="3611880" cy="41605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212847"/>
            <a:ext cx="36118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B6E5E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14015"/>
            <a:ext cx="317296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데이터 전처리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724911"/>
            <a:ext cx="31729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맑은 고딕"/>
              </a:rPr>
              <a:t>정규화·크롭 없음 — 쌍을 만든다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999231"/>
            <a:ext cx="3172968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맑은 고딕"/>
              </a:rPr>
              <a:t>깨끗한 이미지 </a:t>
            </a:r>
            <a:r>
              <a:rPr sz="950" b="1">
                <a:solidFill>
                  <a:srgbClr val="3C4947"/>
                </a:solidFill>
                <a:latin typeface="맑은 고딕"/>
              </a:rPr>
              <a:t>7,268장뿐.</a:t>
            </a:r>
            <a:r>
              <a:rPr sz="950" b="0">
                <a:solidFill>
                  <a:srgbClr val="3C4947"/>
                </a:solidFill>
                <a:latin typeface="맑은 고딕"/>
              </a:rPr>
              <a:t> 열화 쌍이 없다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맑은 고딕"/>
              </a:rPr>
              <a:t>매 배치마다 </a:t>
            </a:r>
            <a:r>
              <a:rPr sz="950" b="0">
                <a:solidFill>
                  <a:srgbClr val="3C4947"/>
                </a:solidFill>
                <a:latin typeface="Consolas"/>
              </a:rPr>
              <a:t>f → dipole → +noise</a:t>
            </a:r>
            <a:r>
              <a:rPr sz="950" b="0">
                <a:solidFill>
                  <a:srgbClr val="3C4947"/>
                </a:solidFill>
                <a:latin typeface="맑은 고딕"/>
              </a:rPr>
              <a:t> 로 직접 생성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r>
              <a:rPr sz="600"/>
              <a:t/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맑은 고딕"/>
              </a:rPr>
              <a:t>augmentation 은 뒤집기만, </a:t>
            </a:r>
            <a:r>
              <a:rPr sz="950" b="1">
                <a:solidFill>
                  <a:srgbClr val="3C4947"/>
                </a:solidFill>
                <a:latin typeface="맑은 고딕"/>
              </a:rPr>
              <a:t>90° 회전 제외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66756F"/>
                </a:solidFill>
                <a:latin typeface="맑은 고딕"/>
              </a:rPr>
              <a:t>dipole 은 B₀ 방향이 있는 비등방 연산 — 회전하면 test 에 없는 방향이 된다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r>
              <a:rPr sz="600"/>
              <a:t/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맑은 고딕"/>
              </a:rPr>
              <a:t>크롭은 </a:t>
            </a:r>
            <a:r>
              <a:rPr sz="950" b="1">
                <a:solidFill>
                  <a:srgbClr val="3C4947"/>
                </a:solidFill>
                <a:latin typeface="맑은 고딕"/>
              </a:rPr>
              <a:t>흐리게 만든 뒤에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66756F"/>
                </a:solidFill>
                <a:latin typeface="맑은 고딕"/>
              </a:rPr>
              <a:t>dipole 은 FFT 전역 연산이라 먼저 자르면 경계가 거짓이 된다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r>
              <a:rPr sz="600"/>
              <a:t/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맑은 고딕"/>
              </a:rPr>
              <a:t>노이즈는 </a:t>
            </a:r>
            <a:r>
              <a:rPr sz="950" b="1">
                <a:solidFill>
                  <a:srgbClr val="3C4947"/>
                </a:solidFill>
                <a:latin typeface="맑은 고딕"/>
              </a:rPr>
              <a:t>4종 시뮬레이터 그대로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66756F"/>
                </a:solidFill>
                <a:latin typeface="맑은 고딕"/>
              </a:rPr>
              <a:t>Gaussian 만 쓰면 Rician 의 편향을 못 배운다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r>
              <a:rPr sz="600"/>
              <a:t/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맑은 고딕"/>
              </a:rPr>
              <a:t>val 은 파일명 seed 로 노이즈 고정 · </a:t>
            </a:r>
            <a:r>
              <a:rPr sz="950" b="1">
                <a:solidFill>
                  <a:srgbClr val="0B6E5E"/>
                </a:solidFill>
                <a:latin typeface="맑은 고딕"/>
              </a:rPr>
              <a:t>test 는 채점에만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2066543"/>
            <a:ext cx="3611880" cy="41605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1144" y="2212847"/>
            <a:ext cx="36118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B6E5E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2414015"/>
            <a:ext cx="317296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모델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724911"/>
            <a:ext cx="31729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맑은 고딕"/>
              </a:rPr>
              <a:t>Unrolled network — 물리를 층으로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999231"/>
            <a:ext cx="3172968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Consolas"/>
              </a:rPr>
              <a:t>x₀ = Wiener(g, λ₀)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Consolas"/>
              </a:rPr>
              <a:t>반복 N:  z = DRUNet(x, σ̂)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Consolas"/>
              </a:rPr>
              <a:t>             x = (D·G + λZ) / (D² + λ)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r>
              <a:rPr sz="600"/>
              <a:t/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맑은 고딕"/>
              </a:rPr>
              <a:t>데이터 정합 단계에 </a:t>
            </a:r>
            <a:r>
              <a:rPr sz="950" b="1">
                <a:solidFill>
                  <a:srgbClr val="3C4947"/>
                </a:solidFill>
                <a:latin typeface="맑은 고딕"/>
              </a:rPr>
              <a:t>dipole D 가 그대로</a:t>
            </a:r>
            <a:r>
              <a:rPr sz="950" b="0">
                <a:solidFill>
                  <a:srgbClr val="3C4947"/>
                </a:solidFill>
                <a:latin typeface="맑은 고딕"/>
              </a:rPr>
              <a:t> 들어간다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66756F"/>
                </a:solidFill>
                <a:latin typeface="맑은 고딕"/>
              </a:rPr>
              <a:t>→ 물리를 배울 필요가 없다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r>
              <a:rPr sz="600"/>
              <a:t/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>
                <a:solidFill>
                  <a:srgbClr val="3C4947"/>
                </a:solidFill>
                <a:latin typeface="맑은 고딕"/>
              </a:rPr>
              <a:t>가중치 공유</a:t>
            </a:r>
            <a:r>
              <a:rPr sz="950" b="0">
                <a:solidFill>
                  <a:srgbClr val="3C4947"/>
                </a:solidFill>
                <a:latin typeface="맑은 고딕"/>
              </a:rPr>
              <a:t> — N 단계가 같은 망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66756F"/>
                </a:solidFill>
                <a:latin typeface="맑은 고딕"/>
              </a:rPr>
              <a:t>파라미터 N배 절약. 추론 때 반복 수를 바꿀 수 있다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r>
              <a:rPr sz="600"/>
              <a:t/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>
                <a:solidFill>
                  <a:srgbClr val="3C4947"/>
                </a:solidFill>
                <a:latin typeface="맑은 고딕"/>
              </a:rPr>
              <a:t>σ 조건화</a:t>
            </a:r>
            <a:r>
              <a:rPr sz="950" b="0">
                <a:solidFill>
                  <a:srgbClr val="3C4947"/>
                </a:solidFill>
                <a:latin typeface="맑은 고딕"/>
              </a:rPr>
              <a:t> — 세기를 여분 채널로. 단 </a:t>
            </a:r>
            <a:r>
              <a:rPr sz="950" b="1">
                <a:solidFill>
                  <a:srgbClr val="0B6E5E"/>
                </a:solidFill>
                <a:latin typeface="맑은 고딕"/>
              </a:rPr>
              <a:t>σ 는 측정치에서 읽는다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66756F"/>
                </a:solidFill>
                <a:latin typeface="맑은 고딕"/>
              </a:rPr>
              <a:t>영널 원뿔엔 노이즈만 있다 → 라벨·메타데이터 불필요 (오차 1.9%)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r>
              <a:rPr sz="600"/>
              <a:t/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맑은 고딕"/>
              </a:rPr>
              <a:t>제출 = 구조가 다른 두 모델 평균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>
                <a:solidFill>
                  <a:srgbClr val="3C4947"/>
                </a:solidFill>
                <a:latin typeface="맑은 고딕"/>
              </a:rPr>
              <a:t>4단계 30.32  +  6단계 30.41  →  30.44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8" y="2066543"/>
            <a:ext cx="3611880" cy="41605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212847"/>
            <a:ext cx="36118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B6E5E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414015"/>
            <a:ext cx="317296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학습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2724911"/>
            <a:ext cx="31729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맑은 고딕"/>
              </a:rPr>
              <a:t>수렴까지 돌리는 것이 가장 큰 지렛대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999231"/>
            <a:ext cx="3172968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Consolas"/>
              </a:rPr>
              <a:t>Charbonnier √(e²+ε²) · AdamW 2e-4 · cosine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Consolas"/>
              </a:rPr>
              <a:t>bf16 · clip 1.0 · batch 8 · 256² 통째로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r>
              <a:rPr sz="600"/>
              <a:t/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>
                <a:solidFill>
                  <a:srgbClr val="3C4947"/>
                </a:solidFill>
                <a:latin typeface="맑은 고딕"/>
              </a:rPr>
              <a:t>λ 도 학습한다</a:t>
            </a:r>
            <a:r>
              <a:rPr sz="950" b="0">
                <a:solidFill>
                  <a:srgbClr val="3C4947"/>
                </a:solidFill>
                <a:latin typeface="맑은 고딕"/>
              </a:rPr>
              <a:t> (log 로 저장, 단계마다 따로)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66756F"/>
                </a:solidFill>
                <a:latin typeface="맑은 고딕"/>
              </a:rPr>
              <a:t>초기값은 Wiener 최적값을 재서 → 시작이 10.19 가 아닌 14.05 dB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r>
              <a:rPr sz="600"/>
              <a:t/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>
                <a:solidFill>
                  <a:srgbClr val="0B6E5E"/>
                </a:solidFill>
                <a:latin typeface="맑은 고딕"/>
              </a:rPr>
              <a:t>best epoch 이 세 번 연속 마지막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66756F"/>
                </a:solidFill>
                <a:latin typeface="맑은 고딕"/>
              </a:rPr>
              <a:t>아직 수렴 전이었다. 이어 돌린 것이 점수를 가장 많이 올렸다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r>
              <a:rPr sz="600"/>
              <a:t/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1">
                <a:solidFill>
                  <a:srgbClr val="3C4947"/>
                </a:solidFill>
                <a:latin typeface="맑은 고딕"/>
              </a:rPr>
              <a:t>SSIM loss 는 처음부터 쓰면 나빠진다</a:t>
            </a:r>
            <a:r>
              <a:rPr sz="950" b="0">
                <a:solidFill>
                  <a:srgbClr val="3C4947"/>
                </a:solidFill>
                <a:latin typeface="맑은 고딕"/>
              </a:rPr>
              <a:t> (18.73 → 17.53)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66756F"/>
                </a:solidFill>
                <a:latin typeface="맑은 고딕"/>
              </a:rPr>
              <a:t>정확한 모델에서 미세조정으로만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r>
              <a:rPr sz="600"/>
              <a:t/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맑은 고딕"/>
              </a:rPr>
              <a:t>추론에 </a:t>
            </a:r>
            <a:r>
              <a:rPr sz="950" b="1">
                <a:solidFill>
                  <a:srgbClr val="3C4947"/>
                </a:solidFill>
                <a:latin typeface="맑은 고딕"/>
              </a:rPr>
              <a:t>16× self-ensemble</a:t>
            </a:r>
            <a:r>
              <a:rPr sz="950" b="0">
                <a:solidFill>
                  <a:srgbClr val="3C4947"/>
                </a:solidFill>
                <a:latin typeface="맑은 고딕"/>
              </a:rPr>
              <a:t> — 뒤집기·180°·대각 순환이동</a:t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66756F"/>
                </a:solidFill>
                <a:latin typeface="맑은 고딕"/>
              </a:rPr>
              <a:t>dipole 과 교환되는 변환만 (오차 7e-16)</a:t>
            </a:r>
          </a:p>
          <a:p>
            <a:pPr>
              <a:lnSpc>
                <a:spcPct val="122000"/>
              </a:lnSpc>
              <a:spcBef>
                <a:spcPts val="0"/>
              </a:spcBef>
            </a:pPr>
            <a:r>
              <a:rPr sz="600"/>
              <a:t/>
            </a:r>
          </a:p>
          <a:p>
            <a:pPr>
              <a:lnSpc>
                <a:spcPct val="122000"/>
              </a:lnSpc>
              <a:spcBef>
                <a:spcPts val="200"/>
              </a:spcBef>
            </a:pPr>
            <a:r>
              <a:rPr sz="950" b="0">
                <a:solidFill>
                  <a:srgbClr val="3C4947"/>
                </a:solidFill>
                <a:latin typeface="맑은 고딕"/>
              </a:rPr>
              <a:t>모델은 </a:t>
            </a:r>
            <a:r>
              <a:rPr sz="950" b="1">
                <a:solidFill>
                  <a:srgbClr val="0B6E5E"/>
                </a:solidFill>
                <a:latin typeface="맑은 고딕"/>
              </a:rPr>
              <a:t>val 100장</a:t>
            </a:r>
            <a:r>
              <a:rPr sz="950" b="0">
                <a:solidFill>
                  <a:srgbClr val="3C4947"/>
                </a:solidFill>
                <a:latin typeface="맑은 고딕"/>
              </a:rPr>
              <a:t> 으로 골랐다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test_deconv_noise 100장 · 최종 30.44 dB / 0.8899 (배포 baseline 25.02 / 0.815 대비 +5.42 dB — 오차 에너지 3.5배 감소)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