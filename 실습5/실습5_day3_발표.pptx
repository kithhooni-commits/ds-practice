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27"/>
  </p:notesMasterIdLst>
  <p:sldIdLst>
    <p:sldId id="256" r:id="rId2"/>
    <p:sldId id="257" r:id="rId3"/>
    <p:sldId id="273" r:id="rId4"/>
    <p:sldId id="287" r:id="rId5"/>
    <p:sldId id="260" r:id="rId6"/>
    <p:sldId id="259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9" r:id="rId18"/>
    <p:sldId id="280" r:id="rId19"/>
    <p:sldId id="281" r:id="rId20"/>
    <p:sldId id="282" r:id="rId21"/>
    <p:sldId id="272" r:id="rId22"/>
    <p:sldId id="288" r:id="rId33"/>
    <p:sldId id="283" r:id="rId23"/>
    <p:sldId id="284" r:id="rId24"/>
    <p:sldId id="285" r:id="rId25"/>
    <p:sldId id="286" r:id="rId26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28" roundtripDataSignature="AMtx7miAXayThCpvXnuabH6NxIZnQxxPc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7DE65E82-E5E6-4290-B14A-9E70F09EAB91}">
  <a:tblStyle styleId="{7DE65E82-E5E6-4290-B14A-9E70F09EAB91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tcBdr/>
        <a:fill>
          <a:solidFill>
            <a:srgbClr val="CFD7E7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FD7E7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55" d="100"/>
          <a:sy n="155" d="100"/>
        </p:scale>
        <p:origin x="2724" y="13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customschemas.google.com/relationships/presentationmetadata" Target="metadata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8" name="Google Shape;98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3" name="Google Shape;213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9" name="Google Shape;199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3" name="Google Shape;223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6" name="Google Shape;246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9" name="Google Shape;259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4" name="Google Shape;274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9" name="Google Shape;299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0" name="Google Shape;330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Google Shape;343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4" name="Google Shape;344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5" name="Google Shape;355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6" name="Google Shape;366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Google Shape;378;p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9" name="Google Shape;379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9" name="Google Shape;399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2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2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2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2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2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23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23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2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2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2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24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24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2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2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2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5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25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25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2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2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2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2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26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26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26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26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2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2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2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2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2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2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2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8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28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28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2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2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2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9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29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29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2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2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2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30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30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3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3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3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31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31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3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3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3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0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20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2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2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2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B6E5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1"/>
          <p:cNvSpPr txBox="1"/>
          <p:nvPr/>
        </p:nvSpPr>
        <p:spPr>
          <a:xfrm>
            <a:off x="914400" y="1371600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u="none" strike="noStrike" cap="none" dirty="0">
                <a:solidFill>
                  <a:srgbClr val="0B6E5E"/>
                </a:solidFill>
                <a:latin typeface="Consolas"/>
                <a:ea typeface="Consolas"/>
                <a:cs typeface="Consolas"/>
                <a:sym typeface="Consolas"/>
              </a:rPr>
              <a:t>삼성 DS2 · Image Restoration Challenge · Day 3</a:t>
            </a:r>
            <a:endParaRPr dirty="0"/>
          </a:p>
        </p:txBody>
      </p:sp>
      <p:sp>
        <p:nvSpPr>
          <p:cNvPr id="86" name="Google Shape;86;p1"/>
          <p:cNvSpPr txBox="1"/>
          <p:nvPr/>
        </p:nvSpPr>
        <p:spPr>
          <a:xfrm>
            <a:off x="914400" y="1828800"/>
            <a:ext cx="10058400" cy="1097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 i="0" u="none" strike="noStrike" cap="none" dirty="0">
                <a:solidFill>
                  <a:srgbClr val="131A19"/>
                </a:solidFill>
                <a:latin typeface="Malgun Gothic"/>
                <a:ea typeface="Malgun Gothic"/>
                <a:cs typeface="Malgun Gothic"/>
                <a:sym typeface="Malgun Gothic"/>
              </a:rPr>
              <a:t>1일차 + 2일차 = 3일차 가 아니다</a:t>
            </a:r>
            <a:endParaRPr/>
          </a:p>
        </p:txBody>
      </p:sp>
      <p:sp>
        <p:nvSpPr>
          <p:cNvPr id="87" name="Google Shape;87;p1"/>
          <p:cNvSpPr txBox="1"/>
          <p:nvPr/>
        </p:nvSpPr>
        <p:spPr>
          <a:xfrm>
            <a:off x="914400" y="2651760"/>
            <a:ext cx="1005840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 i="0" u="none" strike="noStrike" cap="none">
                <a:solidFill>
                  <a:srgbClr val="0B6E5E"/>
                </a:solidFill>
                <a:latin typeface="Malgun Gothic"/>
                <a:ea typeface="Malgun Gothic"/>
                <a:cs typeface="Malgun Gothic"/>
                <a:sym typeface="Malgun Gothic"/>
              </a:rPr>
              <a:t>선형으로 안 되는 부분을 학습으로 채웠다</a:t>
            </a:r>
            <a:endParaRPr/>
          </a:p>
        </p:txBody>
      </p:sp>
      <p:sp>
        <p:nvSpPr>
          <p:cNvPr id="88" name="Google Shape;88;p1"/>
          <p:cNvSpPr txBox="1"/>
          <p:nvPr/>
        </p:nvSpPr>
        <p:spPr>
          <a:xfrm>
            <a:off x="914400" y="3657600"/>
            <a:ext cx="91440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66756F"/>
                </a:solidFill>
                <a:latin typeface="Malgun Gothic"/>
                <a:ea typeface="Malgun Gothic"/>
                <a:cs typeface="Malgun Gothic"/>
                <a:sym typeface="Malgun Gothic"/>
              </a:rPr>
              <a:t>g = dipole(f) + n   ·   test_deconv_noise 100장</a:t>
            </a:r>
            <a:endParaRPr/>
          </a:p>
        </p:txBody>
      </p:sp>
      <p:sp>
        <p:nvSpPr>
          <p:cNvPr id="89" name="Google Shape;89;p1"/>
          <p:cNvSpPr/>
          <p:nvPr/>
        </p:nvSpPr>
        <p:spPr>
          <a:xfrm>
            <a:off x="914400" y="4389120"/>
            <a:ext cx="4023360" cy="137160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 cap="flat" cmpd="sng">
            <a:solidFill>
              <a:srgbClr val="0B6E5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1"/>
          <p:cNvSpPr txBox="1"/>
          <p:nvPr/>
        </p:nvSpPr>
        <p:spPr>
          <a:xfrm>
            <a:off x="1143000" y="4572000"/>
            <a:ext cx="36576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0B6E5E"/>
                </a:solidFill>
                <a:latin typeface="Consolas"/>
                <a:ea typeface="Consolas"/>
                <a:cs typeface="Consolas"/>
                <a:sym typeface="Consolas"/>
              </a:rPr>
              <a:t>제출값</a:t>
            </a:r>
            <a:endParaRPr/>
          </a:p>
        </p:txBody>
      </p:sp>
      <p:sp>
        <p:nvSpPr>
          <p:cNvPr id="91" name="Google Shape;91;p1"/>
          <p:cNvSpPr txBox="1"/>
          <p:nvPr/>
        </p:nvSpPr>
        <p:spPr>
          <a:xfrm>
            <a:off x="1143000" y="4892040"/>
            <a:ext cx="365760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u="none" strike="noStrike" cap="none">
                <a:solidFill>
                  <a:srgbClr val="131A19"/>
                </a:solidFill>
                <a:latin typeface="Malgun Gothic"/>
                <a:ea typeface="Malgun Gothic"/>
                <a:cs typeface="Malgun Gothic"/>
                <a:sym typeface="Malgun Gothic"/>
              </a:rPr>
              <a:t>30.44 dB / 0.8899</a:t>
            </a:r>
            <a:endParaRPr/>
          </a:p>
        </p:txBody>
      </p:sp>
      <p:sp>
        <p:nvSpPr>
          <p:cNvPr id="92" name="Google Shape;92;p1"/>
          <p:cNvSpPr/>
          <p:nvPr/>
        </p:nvSpPr>
        <p:spPr>
          <a:xfrm>
            <a:off x="5212080" y="4389120"/>
            <a:ext cx="4023360" cy="137160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 cap="flat" cmpd="sng">
            <a:solidFill>
              <a:srgbClr val="DCE3E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1"/>
          <p:cNvSpPr txBox="1"/>
          <p:nvPr/>
        </p:nvSpPr>
        <p:spPr>
          <a:xfrm>
            <a:off x="5440680" y="4572000"/>
            <a:ext cx="36576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66756F"/>
                </a:solidFill>
                <a:latin typeface="Consolas"/>
                <a:ea typeface="Consolas"/>
                <a:cs typeface="Consolas"/>
                <a:sym typeface="Consolas"/>
              </a:rPr>
              <a:t>배포 baseline 대비</a:t>
            </a:r>
            <a:endParaRPr/>
          </a:p>
        </p:txBody>
      </p:sp>
      <p:sp>
        <p:nvSpPr>
          <p:cNvPr id="94" name="Google Shape;94;p1"/>
          <p:cNvSpPr txBox="1"/>
          <p:nvPr/>
        </p:nvSpPr>
        <p:spPr>
          <a:xfrm>
            <a:off x="5440680" y="4892040"/>
            <a:ext cx="365760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u="none" strike="noStrike" cap="none">
                <a:solidFill>
                  <a:srgbClr val="0B6E5E"/>
                </a:solidFill>
                <a:latin typeface="Malgun Gothic"/>
                <a:ea typeface="Malgun Gothic"/>
                <a:cs typeface="Malgun Gothic"/>
                <a:sym typeface="Malgun Gothic"/>
              </a:rPr>
              <a:t>+5.42 dB</a:t>
            </a:r>
            <a:endParaRPr/>
          </a:p>
        </p:txBody>
      </p:sp>
      <p:sp>
        <p:nvSpPr>
          <p:cNvPr id="95" name="Google Shape;95;p1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66756F"/>
                </a:solidFill>
                <a:latin typeface="Consolas"/>
                <a:ea typeface="Consolas"/>
                <a:cs typeface="Consolas"/>
                <a:sym typeface="Consolas"/>
              </a:rPr>
              <a:t>본인이름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none" strike="noStrike" cap="none">
                <a:solidFill>
                  <a:srgbClr val="0B6E5E"/>
                </a:solidFill>
                <a:latin typeface="Consolas"/>
                <a:ea typeface="Consolas"/>
                <a:cs typeface="Consolas"/>
                <a:sym typeface="Consolas"/>
              </a:rPr>
              <a:t>Contents</a:t>
            </a:r>
            <a:endParaRPr/>
          </a:p>
        </p:txBody>
      </p:sp>
      <p:sp>
        <p:nvSpPr>
          <p:cNvPr id="101" name="Google Shape;101;p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131A19"/>
                </a:solidFill>
                <a:latin typeface="Malgun Gothic"/>
                <a:ea typeface="Malgun Gothic"/>
                <a:cs typeface="Malgun Gothic"/>
                <a:sym typeface="Malgun Gothic"/>
              </a:rPr>
              <a:t>목차</a:t>
            </a:r>
            <a:endParaRPr/>
          </a:p>
        </p:txBody>
      </p:sp>
      <p:sp>
        <p:nvSpPr>
          <p:cNvPr id="102" name="Google Shape;102;p2"/>
          <p:cNvSpPr/>
          <p:nvPr/>
        </p:nvSpPr>
        <p:spPr>
          <a:xfrm>
            <a:off x="640080" y="1654712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2"/>
          <p:cNvSpPr/>
          <p:nvPr/>
        </p:nvSpPr>
        <p:spPr>
          <a:xfrm>
            <a:off x="822960" y="1718720"/>
            <a:ext cx="10515600" cy="402336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 cap="flat" cmpd="sng">
            <a:solidFill>
              <a:srgbClr val="DCE3E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2"/>
          <p:cNvSpPr txBox="1"/>
          <p:nvPr/>
        </p:nvSpPr>
        <p:spPr>
          <a:xfrm>
            <a:off x="1051560" y="1773584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1" i="0" u="none" strike="noStrike" cap="none">
                <a:solidFill>
                  <a:srgbClr val="0B6E5E"/>
                </a:solidFill>
                <a:latin typeface="Malgun Gothic"/>
                <a:ea typeface="Malgun Gothic"/>
                <a:cs typeface="Malgun Gothic"/>
                <a:sym typeface="Malgun Gothic"/>
              </a:rPr>
              <a:t>여정</a:t>
            </a:r>
            <a:endParaRPr/>
          </a:p>
        </p:txBody>
      </p:sp>
      <p:sp>
        <p:nvSpPr>
          <p:cNvPr id="105" name="Google Shape;105;p2"/>
          <p:cNvSpPr txBox="1"/>
          <p:nvPr/>
        </p:nvSpPr>
        <p:spPr>
          <a:xfrm>
            <a:off x="2834640" y="1791872"/>
            <a:ext cx="694944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0" i="0" u="none" strike="noStrike" cap="none">
                <a:solidFill>
                  <a:srgbClr val="3C4947"/>
                </a:solidFill>
                <a:latin typeface="Malgun Gothic"/>
                <a:ea typeface="Malgun Gothic"/>
                <a:cs typeface="Malgun Gothic"/>
                <a:sym typeface="Malgun Gothic"/>
              </a:rPr>
              <a:t>무엇을 바꿔 몇 dB 올랐나</a:t>
            </a:r>
            <a:endParaRPr/>
          </a:p>
        </p:txBody>
      </p:sp>
      <p:sp>
        <p:nvSpPr>
          <p:cNvPr id="106" name="Google Shape;106;p2"/>
          <p:cNvSpPr txBox="1"/>
          <p:nvPr/>
        </p:nvSpPr>
        <p:spPr>
          <a:xfrm>
            <a:off x="10058400" y="1791872"/>
            <a:ext cx="109728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66756F"/>
                </a:solidFill>
                <a:latin typeface="Consolas"/>
                <a:ea typeface="Consolas"/>
                <a:cs typeface="Consolas"/>
                <a:sym typeface="Consolas"/>
              </a:rPr>
              <a:t>3</a:t>
            </a:r>
            <a:endParaRPr/>
          </a:p>
        </p:txBody>
      </p:sp>
      <p:sp>
        <p:nvSpPr>
          <p:cNvPr id="107" name="Google Shape;107;p2"/>
          <p:cNvSpPr/>
          <p:nvPr/>
        </p:nvSpPr>
        <p:spPr>
          <a:xfrm>
            <a:off x="822960" y="2166776"/>
            <a:ext cx="10515600" cy="402336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 cap="flat" cmpd="sng">
            <a:solidFill>
              <a:srgbClr val="DCE3E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2"/>
          <p:cNvSpPr txBox="1"/>
          <p:nvPr/>
        </p:nvSpPr>
        <p:spPr>
          <a:xfrm>
            <a:off x="1051560" y="2221640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1" i="0" u="none" strike="noStrike" cap="none">
                <a:solidFill>
                  <a:srgbClr val="0B6E5E"/>
                </a:solidFill>
                <a:latin typeface="Malgun Gothic"/>
                <a:ea typeface="Malgun Gothic"/>
                <a:cs typeface="Malgun Gothic"/>
                <a:sym typeface="Malgun Gothic"/>
              </a:rPr>
              <a:t>문제</a:t>
            </a:r>
            <a:endParaRPr/>
          </a:p>
        </p:txBody>
      </p:sp>
      <p:sp>
        <p:nvSpPr>
          <p:cNvPr id="109" name="Google Shape;109;p2"/>
          <p:cNvSpPr txBox="1"/>
          <p:nvPr/>
        </p:nvSpPr>
        <p:spPr>
          <a:xfrm>
            <a:off x="2834640" y="2239928"/>
            <a:ext cx="694944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0" i="0" u="none" strike="noStrike" cap="none">
                <a:solidFill>
                  <a:srgbClr val="3C4947"/>
                </a:solidFill>
                <a:latin typeface="Malgun Gothic"/>
                <a:ea typeface="Malgun Gothic"/>
                <a:cs typeface="Malgun Gothic"/>
                <a:sym typeface="Malgun Gothic"/>
              </a:rPr>
              <a:t>흐림과 노이즈가 겹쳤다</a:t>
            </a:r>
            <a:endParaRPr/>
          </a:p>
        </p:txBody>
      </p:sp>
      <p:sp>
        <p:nvSpPr>
          <p:cNvPr id="110" name="Google Shape;110;p2"/>
          <p:cNvSpPr txBox="1"/>
          <p:nvPr/>
        </p:nvSpPr>
        <p:spPr>
          <a:xfrm>
            <a:off x="10058400" y="2239928"/>
            <a:ext cx="109728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66756F"/>
                </a:solidFill>
                <a:latin typeface="Consolas"/>
                <a:ea typeface="Consolas"/>
                <a:cs typeface="Consolas"/>
                <a:sym typeface="Consolas"/>
              </a:rPr>
              <a:t>4–5</a:t>
            </a:r>
            <a:endParaRPr/>
          </a:p>
        </p:txBody>
      </p:sp>
      <p:sp>
        <p:nvSpPr>
          <p:cNvPr id="111" name="Google Shape;111;p2"/>
          <p:cNvSpPr/>
          <p:nvPr/>
        </p:nvSpPr>
        <p:spPr>
          <a:xfrm>
            <a:off x="822960" y="2614832"/>
            <a:ext cx="10515600" cy="402336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 cap="flat" cmpd="sng">
            <a:solidFill>
              <a:srgbClr val="DCE3E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2"/>
          <p:cNvSpPr txBox="1"/>
          <p:nvPr/>
        </p:nvSpPr>
        <p:spPr>
          <a:xfrm>
            <a:off x="1051560" y="2669696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1" i="0" u="none" strike="noStrike" cap="none">
                <a:solidFill>
                  <a:srgbClr val="0B6E5E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시도 ①</a:t>
            </a:r>
            <a:endParaRPr/>
          </a:p>
        </p:txBody>
      </p:sp>
      <p:sp>
        <p:nvSpPr>
          <p:cNvPr id="113" name="Google Shape;113;p2"/>
          <p:cNvSpPr txBox="1"/>
          <p:nvPr/>
        </p:nvSpPr>
        <p:spPr>
          <a:xfrm>
            <a:off x="2834640" y="2687984"/>
            <a:ext cx="694944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0" i="0" u="none" strike="noStrike" cap="none">
                <a:solidFill>
                  <a:srgbClr val="3C4947"/>
                </a:solidFill>
                <a:latin typeface="Malgun Gothic"/>
                <a:ea typeface="Malgun Gothic"/>
                <a:cs typeface="Malgun Gothic"/>
                <a:sym typeface="Malgun Gothic"/>
              </a:rPr>
              <a:t>1일차 + 2일차 조합 — 왜 지는가 · 선형의 천장</a:t>
            </a:r>
            <a:endParaRPr/>
          </a:p>
        </p:txBody>
      </p:sp>
      <p:sp>
        <p:nvSpPr>
          <p:cNvPr id="114" name="Google Shape;114;p2"/>
          <p:cNvSpPr txBox="1"/>
          <p:nvPr/>
        </p:nvSpPr>
        <p:spPr>
          <a:xfrm>
            <a:off x="10058400" y="2687984"/>
            <a:ext cx="109728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66756F"/>
                </a:solidFill>
                <a:latin typeface="Consolas"/>
                <a:ea typeface="Consolas"/>
                <a:cs typeface="Consolas"/>
                <a:sym typeface="Consolas"/>
              </a:rPr>
              <a:t>6–7</a:t>
            </a:r>
            <a:endParaRPr/>
          </a:p>
        </p:txBody>
      </p:sp>
      <p:sp>
        <p:nvSpPr>
          <p:cNvPr id="115" name="Google Shape;115;p2"/>
          <p:cNvSpPr/>
          <p:nvPr/>
        </p:nvSpPr>
        <p:spPr>
          <a:xfrm>
            <a:off x="822960" y="3062888"/>
            <a:ext cx="10515600" cy="402336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 cap="flat" cmpd="sng">
            <a:solidFill>
              <a:srgbClr val="DCE3E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2"/>
          <p:cNvSpPr txBox="1"/>
          <p:nvPr/>
        </p:nvSpPr>
        <p:spPr>
          <a:xfrm>
            <a:off x="1051560" y="3117752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1" i="0" u="none" strike="noStrike" cap="none">
                <a:solidFill>
                  <a:srgbClr val="0B6E5E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시도 ②</a:t>
            </a:r>
            <a:endParaRPr/>
          </a:p>
        </p:txBody>
      </p:sp>
      <p:sp>
        <p:nvSpPr>
          <p:cNvPr id="117" name="Google Shape;117;p2"/>
          <p:cNvSpPr txBox="1"/>
          <p:nvPr/>
        </p:nvSpPr>
        <p:spPr>
          <a:xfrm>
            <a:off x="2834640" y="3136040"/>
            <a:ext cx="694944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0" i="0" u="none" strike="noStrike" cap="none">
                <a:solidFill>
                  <a:srgbClr val="3C4947"/>
                </a:solidFill>
                <a:latin typeface="Malgun Gothic"/>
                <a:ea typeface="Malgun Gothic"/>
                <a:cs typeface="Malgun Gothic"/>
                <a:sym typeface="Malgun Gothic"/>
              </a:rPr>
              <a:t>DC-Net — 2일차 최고 구조가 죽은 이유</a:t>
            </a:r>
            <a:endParaRPr/>
          </a:p>
        </p:txBody>
      </p:sp>
      <p:sp>
        <p:nvSpPr>
          <p:cNvPr id="118" name="Google Shape;118;p2"/>
          <p:cNvSpPr txBox="1"/>
          <p:nvPr/>
        </p:nvSpPr>
        <p:spPr>
          <a:xfrm>
            <a:off x="10058400" y="3136040"/>
            <a:ext cx="109728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66756F"/>
                </a:solidFill>
                <a:latin typeface="Consolas"/>
                <a:ea typeface="Consolas"/>
                <a:cs typeface="Consolas"/>
                <a:sym typeface="Consolas"/>
              </a:rPr>
              <a:t>8</a:t>
            </a:r>
            <a:endParaRPr/>
          </a:p>
        </p:txBody>
      </p:sp>
      <p:sp>
        <p:nvSpPr>
          <p:cNvPr id="119" name="Google Shape;119;p2"/>
          <p:cNvSpPr/>
          <p:nvPr/>
        </p:nvSpPr>
        <p:spPr>
          <a:xfrm>
            <a:off x="822960" y="3510944"/>
            <a:ext cx="10515600" cy="402336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 cap="flat" cmpd="sng">
            <a:solidFill>
              <a:srgbClr val="DCE3E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"/>
          <p:cNvSpPr txBox="1"/>
          <p:nvPr/>
        </p:nvSpPr>
        <p:spPr>
          <a:xfrm>
            <a:off x="1051560" y="3565808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1" i="0" u="none" strike="noStrike" cap="none">
                <a:solidFill>
                  <a:srgbClr val="0B6E5E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시도 ③</a:t>
            </a:r>
            <a:endParaRPr/>
          </a:p>
        </p:txBody>
      </p:sp>
      <p:sp>
        <p:nvSpPr>
          <p:cNvPr id="121" name="Google Shape;121;p2"/>
          <p:cNvSpPr txBox="1"/>
          <p:nvPr/>
        </p:nvSpPr>
        <p:spPr>
          <a:xfrm>
            <a:off x="2834640" y="3584096"/>
            <a:ext cx="694944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0" i="0" u="none" strike="noStrike" cap="none">
                <a:solidFill>
                  <a:srgbClr val="3C4947"/>
                </a:solidFill>
                <a:latin typeface="Malgun Gothic"/>
                <a:ea typeface="Malgun Gothic"/>
                <a:cs typeface="Malgun Gothic"/>
                <a:sym typeface="Malgun Gothic"/>
              </a:rPr>
              <a:t>2단 분해 — 전달 곡선과 실패</a:t>
            </a:r>
            <a:endParaRPr/>
          </a:p>
        </p:txBody>
      </p:sp>
      <p:sp>
        <p:nvSpPr>
          <p:cNvPr id="122" name="Google Shape;122;p2"/>
          <p:cNvSpPr txBox="1"/>
          <p:nvPr/>
        </p:nvSpPr>
        <p:spPr>
          <a:xfrm>
            <a:off x="10058400" y="3584096"/>
            <a:ext cx="109728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66756F"/>
                </a:solidFill>
                <a:latin typeface="Consolas"/>
                <a:ea typeface="Consolas"/>
                <a:cs typeface="Consolas"/>
                <a:sym typeface="Consolas"/>
              </a:rPr>
              <a:t>9</a:t>
            </a:r>
            <a:endParaRPr/>
          </a:p>
        </p:txBody>
      </p:sp>
      <p:sp>
        <p:nvSpPr>
          <p:cNvPr id="123" name="Google Shape;123;p2"/>
          <p:cNvSpPr/>
          <p:nvPr/>
        </p:nvSpPr>
        <p:spPr>
          <a:xfrm>
            <a:off x="822960" y="3959000"/>
            <a:ext cx="10515600" cy="402336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 cap="flat" cmpd="sng">
            <a:solidFill>
              <a:srgbClr val="DCE3E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2"/>
          <p:cNvSpPr txBox="1"/>
          <p:nvPr/>
        </p:nvSpPr>
        <p:spPr>
          <a:xfrm>
            <a:off x="1051560" y="4013864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1" i="0" u="none" strike="noStrike" cap="none">
                <a:solidFill>
                  <a:srgbClr val="0B6E5E"/>
                </a:solidFill>
                <a:latin typeface="Malgun Gothic"/>
                <a:ea typeface="Malgun Gothic"/>
                <a:cs typeface="Malgun Gothic"/>
                <a:sym typeface="Malgun Gothic"/>
              </a:rPr>
              <a:t>우리 방법</a:t>
            </a:r>
            <a:endParaRPr/>
          </a:p>
        </p:txBody>
      </p:sp>
      <p:sp>
        <p:nvSpPr>
          <p:cNvPr id="125" name="Google Shape;125;p2"/>
          <p:cNvSpPr txBox="1"/>
          <p:nvPr/>
        </p:nvSpPr>
        <p:spPr>
          <a:xfrm>
            <a:off x="2834640" y="4032152"/>
            <a:ext cx="694944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0" i="0" u="none" strike="noStrike" cap="none">
                <a:solidFill>
                  <a:srgbClr val="3C4947"/>
                </a:solidFill>
                <a:latin typeface="Malgun Gothic"/>
                <a:ea typeface="Malgun Gothic"/>
                <a:cs typeface="Malgun Gothic"/>
                <a:sym typeface="Malgun Gothic"/>
              </a:rPr>
              <a:t>전개형 파이프라인</a:t>
            </a:r>
            <a:endParaRPr/>
          </a:p>
        </p:txBody>
      </p:sp>
      <p:sp>
        <p:nvSpPr>
          <p:cNvPr id="126" name="Google Shape;126;p2"/>
          <p:cNvSpPr txBox="1"/>
          <p:nvPr/>
        </p:nvSpPr>
        <p:spPr>
          <a:xfrm>
            <a:off x="10058400" y="4032152"/>
            <a:ext cx="109728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66756F"/>
                </a:solidFill>
                <a:latin typeface="Consolas"/>
                <a:ea typeface="Consolas"/>
                <a:cs typeface="Consolas"/>
                <a:sym typeface="Consolas"/>
              </a:rPr>
              <a:t>10</a:t>
            </a:r>
            <a:endParaRPr/>
          </a:p>
        </p:txBody>
      </p:sp>
      <p:sp>
        <p:nvSpPr>
          <p:cNvPr id="127" name="Google Shape;127;p2"/>
          <p:cNvSpPr/>
          <p:nvPr/>
        </p:nvSpPr>
        <p:spPr>
          <a:xfrm>
            <a:off x="822960" y="4407056"/>
            <a:ext cx="10515600" cy="402336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 cap="flat" cmpd="sng">
            <a:solidFill>
              <a:srgbClr val="DCE3E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2"/>
          <p:cNvSpPr txBox="1"/>
          <p:nvPr/>
        </p:nvSpPr>
        <p:spPr>
          <a:xfrm>
            <a:off x="1051560" y="4461920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1" i="0" u="none" strike="noStrike" cap="none">
                <a:solidFill>
                  <a:srgbClr val="0B6E5E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시도 ④</a:t>
            </a:r>
            <a:endParaRPr/>
          </a:p>
        </p:txBody>
      </p:sp>
      <p:sp>
        <p:nvSpPr>
          <p:cNvPr id="129" name="Google Shape;129;p2"/>
          <p:cNvSpPr txBox="1"/>
          <p:nvPr/>
        </p:nvSpPr>
        <p:spPr>
          <a:xfrm>
            <a:off x="2834640" y="4480208"/>
            <a:ext cx="694944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0" i="0" u="none" strike="noStrike" cap="none">
                <a:solidFill>
                  <a:srgbClr val="3C4947"/>
                </a:solidFill>
                <a:latin typeface="Malgun Gothic"/>
                <a:ea typeface="Malgun Gothic"/>
                <a:cs typeface="Malgun Gothic"/>
                <a:sym typeface="Malgun Gothic"/>
              </a:rPr>
              <a:t>σ 조건화 — 성능의 절반</a:t>
            </a:r>
            <a:endParaRPr/>
          </a:p>
        </p:txBody>
      </p:sp>
      <p:sp>
        <p:nvSpPr>
          <p:cNvPr id="130" name="Google Shape;130;p2"/>
          <p:cNvSpPr txBox="1"/>
          <p:nvPr/>
        </p:nvSpPr>
        <p:spPr>
          <a:xfrm>
            <a:off x="10058400" y="4480208"/>
            <a:ext cx="109728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66756F"/>
                </a:solidFill>
                <a:latin typeface="Consolas"/>
                <a:ea typeface="Consolas"/>
                <a:cs typeface="Consolas"/>
                <a:sym typeface="Consolas"/>
              </a:rPr>
              <a:t>11–12</a:t>
            </a:r>
            <a:endParaRPr/>
          </a:p>
        </p:txBody>
      </p:sp>
      <p:sp>
        <p:nvSpPr>
          <p:cNvPr id="131" name="Google Shape;131;p2"/>
          <p:cNvSpPr/>
          <p:nvPr/>
        </p:nvSpPr>
        <p:spPr>
          <a:xfrm>
            <a:off x="822960" y="4855112"/>
            <a:ext cx="10515600" cy="402336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 cap="flat" cmpd="sng">
            <a:solidFill>
              <a:srgbClr val="DCE3E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2"/>
          <p:cNvSpPr txBox="1"/>
          <p:nvPr/>
        </p:nvSpPr>
        <p:spPr>
          <a:xfrm>
            <a:off x="1051560" y="4909976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1" i="0" u="none" strike="noStrike" cap="none">
                <a:solidFill>
                  <a:srgbClr val="0B6E5E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시도 ⑤</a:t>
            </a:r>
            <a:endParaRPr/>
          </a:p>
        </p:txBody>
      </p:sp>
      <p:sp>
        <p:nvSpPr>
          <p:cNvPr id="133" name="Google Shape;133;p2"/>
          <p:cNvSpPr txBox="1"/>
          <p:nvPr/>
        </p:nvSpPr>
        <p:spPr>
          <a:xfrm>
            <a:off x="2834640" y="4928264"/>
            <a:ext cx="694944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0" i="0" u="none" strike="noStrike" cap="none">
                <a:solidFill>
                  <a:srgbClr val="3C4947"/>
                </a:solidFill>
                <a:latin typeface="Malgun Gothic"/>
                <a:ea typeface="Malgun Gothic"/>
                <a:cs typeface="Malgun Gothic"/>
                <a:sym typeface="Malgun Gothic"/>
              </a:rPr>
              <a:t>안 통한 것들, 그리고 고쳐서 통한 것</a:t>
            </a:r>
            <a:endParaRPr/>
          </a:p>
        </p:txBody>
      </p:sp>
      <p:sp>
        <p:nvSpPr>
          <p:cNvPr id="134" name="Google Shape;134;p2"/>
          <p:cNvSpPr txBox="1"/>
          <p:nvPr/>
        </p:nvSpPr>
        <p:spPr>
          <a:xfrm>
            <a:off x="10058400" y="4928264"/>
            <a:ext cx="109728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66756F"/>
                </a:solidFill>
                <a:latin typeface="Consolas"/>
                <a:ea typeface="Consolas"/>
                <a:cs typeface="Consolas"/>
                <a:sym typeface="Consolas"/>
              </a:rPr>
              <a:t>13</a:t>
            </a:r>
            <a:endParaRPr/>
          </a:p>
        </p:txBody>
      </p:sp>
      <p:sp>
        <p:nvSpPr>
          <p:cNvPr id="135" name="Google Shape;135;p2"/>
          <p:cNvSpPr/>
          <p:nvPr/>
        </p:nvSpPr>
        <p:spPr>
          <a:xfrm>
            <a:off x="822960" y="5303168"/>
            <a:ext cx="10515600" cy="402336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 cap="flat" cmpd="sng">
            <a:solidFill>
              <a:srgbClr val="DCE3E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"/>
          <p:cNvSpPr txBox="1"/>
          <p:nvPr/>
        </p:nvSpPr>
        <p:spPr>
          <a:xfrm>
            <a:off x="1051560" y="5358032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1" i="0" u="none" strike="noStrike" cap="none">
                <a:solidFill>
                  <a:srgbClr val="0B6E5E"/>
                </a:solidFill>
                <a:latin typeface="Malgun Gothic"/>
                <a:ea typeface="Malgun Gothic"/>
                <a:cs typeface="Malgun Gothic"/>
                <a:sym typeface="Malgun Gothic"/>
              </a:rPr>
              <a:t>결과</a:t>
            </a:r>
            <a:endParaRPr/>
          </a:p>
        </p:txBody>
      </p:sp>
      <p:sp>
        <p:nvSpPr>
          <p:cNvPr id="137" name="Google Shape;137;p2"/>
          <p:cNvSpPr txBox="1"/>
          <p:nvPr/>
        </p:nvSpPr>
        <p:spPr>
          <a:xfrm>
            <a:off x="2834640" y="5376320"/>
            <a:ext cx="694944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0" i="0" u="none" strike="noStrike" cap="none">
                <a:solidFill>
                  <a:srgbClr val="3C4947"/>
                </a:solidFill>
                <a:latin typeface="Malgun Gothic"/>
                <a:ea typeface="Malgun Gothic"/>
                <a:cs typeface="Malgun Gothic"/>
                <a:sym typeface="Malgun Gothic"/>
              </a:rPr>
              <a:t>최종 점수 · 복원 이미지 · 취약점</a:t>
            </a:r>
            <a:endParaRPr/>
          </a:p>
        </p:txBody>
      </p:sp>
      <p:sp>
        <p:nvSpPr>
          <p:cNvPr id="138" name="Google Shape;138;p2"/>
          <p:cNvSpPr txBox="1"/>
          <p:nvPr/>
        </p:nvSpPr>
        <p:spPr>
          <a:xfrm>
            <a:off x="10058400" y="5376320"/>
            <a:ext cx="109728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66756F"/>
                </a:solidFill>
                <a:latin typeface="Consolas"/>
                <a:ea typeface="Consolas"/>
                <a:cs typeface="Consolas"/>
                <a:sym typeface="Consolas"/>
              </a:rPr>
              <a:t>14–17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한눈에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여정 — 뭘 바꿔서 얼마나 올랐나</a:t>
            </a:r>
          </a:p>
        </p:txBody>
      </p:sp>
      <p:sp>
        <p:nvSpPr>
          <p:cNvPr id="5" name="Rectangle 4"/>
          <p:cNvSpPr/>
          <p:nvPr/>
        </p:nvSpPr>
        <p:spPr>
          <a:xfrm>
            <a:off x="664698" y="135636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02920" y="1481328"/>
            <a:ext cx="1572768" cy="1389888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57782" y="1335024"/>
            <a:ext cx="14630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dirty="0" err="1">
                <a:solidFill>
                  <a:srgbClr val="0B6E5E"/>
                </a:solidFill>
                <a:latin typeface="Consolas"/>
              </a:rPr>
              <a:t>출발</a:t>
            </a:r>
            <a:endParaRPr sz="1050" b="1" dirty="0">
              <a:solidFill>
                <a:srgbClr val="0B6E5E"/>
              </a:solidFill>
              <a:latin typeface="Consola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57784" y="1819656"/>
            <a:ext cx="1463040" cy="5852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>
                <a:solidFill>
                  <a:srgbClr val="131A19"/>
                </a:solidFill>
                <a:latin typeface="맑은 고딕"/>
              </a:rPr>
              <a:t>Wiener
단독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7784" y="2441448"/>
            <a:ext cx="14630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50" b="1">
                <a:solidFill>
                  <a:srgbClr val="3C4947"/>
                </a:solidFill>
                <a:latin typeface="Consolas"/>
              </a:rPr>
              <a:t>13.79 dB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103120" y="2084831"/>
            <a:ext cx="182880" cy="219456"/>
          </a:xfrm>
          <a:prstGeom prst="rightArrow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2350008" y="1481328"/>
            <a:ext cx="1572768" cy="1389888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404870" y="1335024"/>
            <a:ext cx="14630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>
                <a:solidFill>
                  <a:srgbClr val="0B6E5E"/>
                </a:solidFill>
                <a:latin typeface="Consolas"/>
              </a:rPr>
              <a:t>① 조합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04872" y="1819656"/>
            <a:ext cx="1463040" cy="5852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>
                <a:solidFill>
                  <a:srgbClr val="131A19"/>
                </a:solidFill>
                <a:latin typeface="맑은 고딕"/>
              </a:rPr>
              <a:t>1일차 디노이저
→ Wiener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04872" y="2441448"/>
            <a:ext cx="14630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50" b="1">
                <a:solidFill>
                  <a:srgbClr val="3C4947"/>
                </a:solidFill>
                <a:latin typeface="Consolas"/>
              </a:rPr>
              <a:t>21.06 dB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3950208" y="2084831"/>
            <a:ext cx="182880" cy="219456"/>
          </a:xfrm>
          <a:prstGeom prst="rightArrow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4197096" y="1481328"/>
            <a:ext cx="1572768" cy="1389888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251958" y="1335024"/>
            <a:ext cx="14630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>
                <a:solidFill>
                  <a:srgbClr val="0B6E5E"/>
                </a:solidFill>
                <a:latin typeface="Consolas"/>
              </a:rPr>
              <a:t>② 구조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51960" y="1819656"/>
            <a:ext cx="1463040" cy="5852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>
                <a:solidFill>
                  <a:srgbClr val="131A19"/>
                </a:solidFill>
                <a:latin typeface="맑은 고딕"/>
              </a:rPr>
              <a:t>전개형
(물리+학습)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51960" y="2441448"/>
            <a:ext cx="14630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50" b="1">
                <a:solidFill>
                  <a:srgbClr val="3C4947"/>
                </a:solidFill>
                <a:latin typeface="Consolas"/>
              </a:rPr>
              <a:t>25.91 dB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5797296" y="2084831"/>
            <a:ext cx="182880" cy="219456"/>
          </a:xfrm>
          <a:prstGeom prst="rightArrow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6044184" y="1481328"/>
            <a:ext cx="1572768" cy="1389888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099046" y="1335024"/>
            <a:ext cx="14630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>
                <a:solidFill>
                  <a:srgbClr val="0B6E5E"/>
                </a:solidFill>
                <a:latin typeface="Consolas"/>
              </a:rPr>
              <a:t>③ 조건화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9048" y="1819656"/>
            <a:ext cx="1463040" cy="5852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>
                <a:solidFill>
                  <a:srgbClr val="131A19"/>
                </a:solidFill>
                <a:latin typeface="맑은 고딕"/>
              </a:rPr>
              <a:t>σ 를 측정치
에서 읽는다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9048" y="2441448"/>
            <a:ext cx="14630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50" b="1">
                <a:solidFill>
                  <a:srgbClr val="3C4947"/>
                </a:solidFill>
                <a:latin typeface="Consolas"/>
              </a:rPr>
              <a:t>29.25 dB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7644384" y="2084831"/>
            <a:ext cx="182880" cy="219456"/>
          </a:xfrm>
          <a:prstGeom prst="rightArrow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7891272" y="1481328"/>
            <a:ext cx="1572768" cy="1389888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946134" y="1335024"/>
            <a:ext cx="14630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>
                <a:solidFill>
                  <a:srgbClr val="0B6E5E"/>
                </a:solidFill>
                <a:latin typeface="Consolas"/>
              </a:rPr>
              <a:t>④ 수렴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46136" y="1819656"/>
            <a:ext cx="1463040" cy="5852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>
                <a:solidFill>
                  <a:srgbClr val="131A19"/>
                </a:solidFill>
                <a:latin typeface="맑은 고딕"/>
              </a:rPr>
              <a:t>끝까지
더 학습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46136" y="2441448"/>
            <a:ext cx="1463040" cy="35201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50" b="1" dirty="0" smtClean="0">
                <a:solidFill>
                  <a:srgbClr val="3C4947"/>
                </a:solidFill>
                <a:latin typeface="Consolas"/>
              </a:rPr>
              <a:t>30.32 dB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9491472" y="2084831"/>
            <a:ext cx="182880" cy="219456"/>
          </a:xfrm>
          <a:prstGeom prst="rightArrow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9738360" y="1481328"/>
            <a:ext cx="1572768" cy="1389888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793222" y="1335024"/>
            <a:ext cx="14630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>
                <a:solidFill>
                  <a:srgbClr val="0B6E5E"/>
                </a:solidFill>
                <a:latin typeface="Consolas"/>
              </a:rPr>
              <a:t>⑤ 융합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93224" y="1819656"/>
            <a:ext cx="1463040" cy="5852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>
                <a:solidFill>
                  <a:srgbClr val="131A19"/>
                </a:solidFill>
                <a:latin typeface="맑은 고딕"/>
              </a:rPr>
              <a:t>반복 4번·6번
두 모델 평균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793224" y="2441448"/>
            <a:ext cx="14630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50" b="1">
                <a:solidFill>
                  <a:srgbClr val="0B6E5E"/>
                </a:solidFill>
                <a:latin typeface="Consolas"/>
              </a:rPr>
              <a:t>30.44 dB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54296" y="2871216"/>
            <a:ext cx="7315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1">
                <a:solidFill>
                  <a:srgbClr val="66756F"/>
                </a:solidFill>
                <a:latin typeface="맑은 고딕"/>
              </a:rPr>
              <a:t>↓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2926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맑은 고딕"/>
              </a:rPr>
              <a:t>② 자리에서 갈린 세 갈래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2920" y="3200400"/>
            <a:ext cx="3566160" cy="932688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8C4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12648" y="3264408"/>
            <a:ext cx="2468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131A19"/>
                </a:solidFill>
                <a:latin typeface="맑은 고딕"/>
              </a:rPr>
              <a:t>물리를 버린다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2648" y="3520440"/>
            <a:ext cx="2560320" cy="5120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6756F"/>
                </a:solidFill>
                <a:latin typeface="맑은 고딕"/>
              </a:rPr>
              <a:t>end-to-end — 네트워크
하나가 한 방에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200399" y="3273552"/>
            <a:ext cx="886967" cy="33278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250" b="1" dirty="0">
                <a:solidFill>
                  <a:srgbClr val="8C4A6B"/>
                </a:solidFill>
                <a:latin typeface="Consolas"/>
              </a:rPr>
              <a:t>24.6 dB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200400" y="3602736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C4A6B"/>
                </a:solidFill>
                <a:latin typeface="Consolas"/>
              </a:rPr>
              <a:t>막다른 길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178807" y="3200400"/>
            <a:ext cx="3566160" cy="932688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8C4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4288535" y="3264408"/>
            <a:ext cx="2468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131A19"/>
                </a:solidFill>
                <a:latin typeface="맑은 고딕"/>
              </a:rPr>
              <a:t>물리를 쓰되 한 번만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88535" y="3520440"/>
            <a:ext cx="2560320" cy="5120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6756F"/>
                </a:solidFill>
                <a:latin typeface="맑은 고딕"/>
              </a:rPr>
              <a:t>2단 분해 — 측정치 영역에서
지우고 역필터 한 번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76286" y="3273552"/>
            <a:ext cx="859535" cy="33278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250" b="1" dirty="0">
                <a:solidFill>
                  <a:srgbClr val="8C4A6B"/>
                </a:solidFill>
                <a:latin typeface="Consolas"/>
              </a:rPr>
              <a:t>15.6 dB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76287" y="3602736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C4A6B"/>
                </a:solidFill>
                <a:latin typeface="Consolas"/>
              </a:rPr>
              <a:t>막다른 길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854694" y="3200400"/>
            <a:ext cx="3566160" cy="932688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7964422" y="3264408"/>
            <a:ext cx="2468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131A19"/>
                </a:solidFill>
                <a:latin typeface="맑은 고딕"/>
              </a:rPr>
              <a:t>물리와 학습을 번갈아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964422" y="3520440"/>
            <a:ext cx="2560320" cy="5120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6756F"/>
                </a:solidFill>
                <a:latin typeface="맑은 고딕"/>
              </a:rPr>
              <a:t>전개형 — 매번 측정치로
되돌리며 4번 반복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433302" y="3273552"/>
            <a:ext cx="987552" cy="33278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250" b="1" dirty="0">
                <a:solidFill>
                  <a:srgbClr val="0B6E5E"/>
                </a:solidFill>
                <a:latin typeface="Consolas"/>
              </a:rPr>
              <a:t>25.91 dB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552174" y="3602736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0B6E5E"/>
                </a:solidFill>
                <a:latin typeface="Consolas"/>
              </a:rPr>
              <a:t>본선</a:t>
            </a:r>
          </a:p>
        </p:txBody>
      </p:sp>
      <p:graphicFrame>
        <p:nvGraphicFramePr>
          <p:cNvPr id="52" name="Table 5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8497674"/>
              </p:ext>
            </p:extLst>
          </p:nvPr>
        </p:nvGraphicFramePr>
        <p:xfrm>
          <a:off x="640080" y="4224528"/>
          <a:ext cx="10881358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930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2128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9456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4620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31A19"/>
                          </a:solidFill>
                          <a:latin typeface="맑은 고딕"/>
                        </a:rPr>
                        <a:t>단계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131A19"/>
                          </a:solidFill>
                          <a:latin typeface="Consolas"/>
                        </a:rPr>
                        <a:t>무엇을 바꿨나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131A19"/>
                          </a:solidFill>
                          <a:latin typeface="Consolas"/>
                        </a:rPr>
                        <a:t>왜 올랐나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131A19"/>
                          </a:solidFill>
                          <a:latin typeface="Consolas"/>
                        </a:rPr>
                        <a:t>이득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C4947"/>
                          </a:solidFill>
                          <a:latin typeface="맑은 고딕"/>
                        </a:rPr>
                        <a:t>① 조합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역산 전에 노이즈를 먼저 지운다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노이즈가 흐림 뒤에 붙어서 측정치에서는 백색이다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+7.3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C4947"/>
                          </a:solidFill>
                          <a:latin typeface="맑은 고딕"/>
                        </a:rPr>
                        <a:t>② 구조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물리 제약과 학습을 번갈아 4번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역산은 공식으로 끝내고, 네트워크는 모르는 주파수만 채운다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+4.9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C4947"/>
                          </a:solidFill>
                          <a:latin typeface="맑은 고딕"/>
                        </a:rPr>
                        <a:t>③ 조건화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σ 를 널 원뿔에서 읽어 넣는다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σ 가 장마다 200배씩 차이난다. 하나로 퉁치면 평균에 맞춰버린다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+3.3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C4947"/>
                          </a:solidFill>
                          <a:latin typeface="맑은 고딕"/>
                        </a:rPr>
                        <a:t>④ 수렴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세 번에 걸쳐 230 에폭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늘릴 때마다 마지막 에폭이 제일 좋았다. 세 번 다 덜 돌린 거였다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+1.07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31A19"/>
                          </a:solidFill>
                          <a:latin typeface="맑은 고딕"/>
                        </a:rPr>
                        <a:t>⑤ 융합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131A19"/>
                          </a:solidFill>
                          <a:latin typeface="Consolas"/>
                        </a:rPr>
                        <a:t>②를 4번 도는 모델과 6번 도는 모델, 둘의 출력을 평균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dirty="0" err="1">
                          <a:solidFill>
                            <a:srgbClr val="131A19"/>
                          </a:solidFill>
                          <a:latin typeface="Consolas"/>
                        </a:rPr>
                        <a:t>반복 횟수가 다르면 틀리는 방식도 달라서 오차가 서로 상쇄된다</a:t>
                      </a:r>
                      <a:endParaRPr sz="1050" b="1" dirty="0">
                        <a:solidFill>
                          <a:srgbClr val="131A19"/>
                        </a:solidFill>
                        <a:latin typeface="Consolas"/>
                      </a:endParaRP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dirty="0">
                          <a:solidFill>
                            <a:srgbClr val="131A19"/>
                          </a:solidFill>
                          <a:latin typeface="Consolas"/>
                        </a:rPr>
                        <a:t>+0.03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3" name="TextBox 52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dirty="0" err="1">
                <a:solidFill>
                  <a:srgbClr val="66756F"/>
                </a:solidFill>
                <a:latin typeface="Consolas"/>
              </a:rPr>
              <a:t>출발 13.79 → 최종 30.44   ·   통과 기준 = 배포 baseline 25.02 / 0.815 대비 +5.42 dB</a:t>
            </a:r>
          </a:p>
        </p:txBody>
      </p:sp>
    </p:spTree>
    <p:extLst>
      <p:ext uri="{BB962C8B-B14F-4D97-AF65-F5344CB8AC3E}">
        <p14:creationId xmlns:p14="http://schemas.microsoft.com/office/powerpoint/2010/main" val="31231708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제출 정보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dirty="0" err="1">
                <a:solidFill>
                  <a:srgbClr val="131A19"/>
                </a:solidFill>
                <a:latin typeface="맑은 고딕"/>
              </a:rPr>
              <a:t>구성 — 네트워크 · 학습 방법 · 학습 시간</a:t>
            </a:r>
            <a:endParaRPr sz="3000" b="1" dirty="0">
              <a:solidFill>
                <a:srgbClr val="131A19"/>
              </a:solidFill>
              <a:latin typeface="맑은 고딕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외부 사전학습 가중치는 안 썼다. 주어진 데이터만 가지고 GPU 한 장으로 만들었다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66928" y="2066543"/>
            <a:ext cx="3611880" cy="416052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86384" y="2212847"/>
            <a:ext cx="36118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0B6E5E"/>
                </a:solidFill>
                <a:latin typeface="Consola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414015"/>
            <a:ext cx="3172968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131A19"/>
                </a:solidFill>
                <a:latin typeface="맑은 고딕"/>
              </a:rPr>
              <a:t>네트워크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2724911"/>
            <a:ext cx="3172968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맑은 고딕"/>
              </a:rPr>
              <a:t>Unrolled network — 물리를 층으로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2999231"/>
            <a:ext cx="3172968" cy="3063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22000"/>
              </a:lnSpc>
              <a:spcBef>
                <a:spcPts val="200"/>
              </a:spcBef>
            </a:pPr>
            <a:r>
              <a:rPr sz="950" b="0">
                <a:solidFill>
                  <a:srgbClr val="3C4947"/>
                </a:solidFill>
                <a:latin typeface="Consolas"/>
              </a:rPr>
              <a:t>x₀ = Wiener(g, λ₀)</a:t>
            </a:r>
          </a:p>
          <a:p>
            <a:pPr>
              <a:lnSpc>
                <a:spcPct val="122000"/>
              </a:lnSpc>
              <a:spcBef>
                <a:spcPts val="200"/>
              </a:spcBef>
            </a:pPr>
            <a:r>
              <a:rPr sz="950" b="0">
                <a:solidFill>
                  <a:srgbClr val="3C4947"/>
                </a:solidFill>
                <a:latin typeface="Consolas"/>
              </a:rPr>
              <a:t>반복 N:  σ̂ = estimate_sigma(g)</a:t>
            </a:r>
          </a:p>
          <a:p>
            <a:pPr>
              <a:lnSpc>
                <a:spcPct val="122000"/>
              </a:lnSpc>
              <a:spcBef>
                <a:spcPts val="200"/>
              </a:spcBef>
            </a:pPr>
            <a:r>
              <a:rPr sz="950" b="0">
                <a:solidFill>
                  <a:srgbClr val="3C4947"/>
                </a:solidFill>
                <a:latin typeface="Consolas"/>
              </a:rPr>
              <a:t>             z = DRUNet(x, σ̂)</a:t>
            </a:r>
          </a:p>
          <a:p>
            <a:pPr>
              <a:lnSpc>
                <a:spcPct val="122000"/>
              </a:lnSpc>
              <a:spcBef>
                <a:spcPts val="200"/>
              </a:spcBef>
            </a:pPr>
            <a:r>
              <a:rPr sz="950" b="0">
                <a:solidFill>
                  <a:srgbClr val="3C4947"/>
                </a:solidFill>
                <a:latin typeface="Consolas"/>
              </a:rPr>
              <a:t>             x = (D·G + λZ)/(D² + λ)</a:t>
            </a:r>
          </a:p>
          <a:p>
            <a:pPr>
              <a:lnSpc>
                <a:spcPct val="122000"/>
              </a:lnSpc>
              <a:spcBef>
                <a:spcPts val="0"/>
              </a:spcBef>
            </a:pPr>
            <a:endParaRPr sz="950" b="0">
              <a:solidFill>
                <a:srgbClr val="3C4947"/>
              </a:solidFill>
              <a:latin typeface="Consolas"/>
            </a:endParaRPr>
          </a:p>
          <a:p>
            <a:pPr>
              <a:lnSpc>
                <a:spcPct val="122000"/>
              </a:lnSpc>
              <a:spcBef>
                <a:spcPts val="200"/>
              </a:spcBef>
            </a:pPr>
            <a:r>
              <a:rPr sz="950" b="0">
                <a:solidFill>
                  <a:srgbClr val="3C4947"/>
                </a:solidFill>
                <a:latin typeface="맑은 고딕"/>
              </a:rPr>
              <a:t>백본 </a:t>
            </a:r>
            <a:r>
              <a:rPr sz="950" b="1">
                <a:solidFill>
                  <a:srgbClr val="3C4947"/>
                </a:solidFill>
                <a:latin typeface="맑은 고딕"/>
              </a:rPr>
              <a:t>DRUNet</a:t>
            </a:r>
            <a:r>
              <a:rPr sz="950" b="0">
                <a:solidFill>
                  <a:srgbClr val="3C4947"/>
                </a:solidFill>
                <a:latin typeface="맑은 고딕"/>
              </a:rPr>
              <a:t> (U-Net + residual, σ 조건화 채널) · features 48</a:t>
            </a:r>
          </a:p>
          <a:p>
            <a:pPr>
              <a:lnSpc>
                <a:spcPct val="122000"/>
              </a:lnSpc>
              <a:spcBef>
                <a:spcPts val="200"/>
              </a:spcBef>
            </a:pPr>
            <a:r>
              <a:rPr sz="950" b="0">
                <a:solidFill>
                  <a:srgbClr val="3C4947"/>
                </a:solidFill>
                <a:latin typeface="맑은 고딕"/>
              </a:rPr>
              <a:t>파라미터 </a:t>
            </a:r>
            <a:r>
              <a:rPr sz="950" b="1">
                <a:solidFill>
                  <a:srgbClr val="3C4947"/>
                </a:solidFill>
                <a:latin typeface="맑은 고딕"/>
              </a:rPr>
              <a:t>18,359,572</a:t>
            </a:r>
            <a:r>
              <a:rPr sz="950" b="0">
                <a:solidFill>
                  <a:srgbClr val="3C4947"/>
                </a:solidFill>
                <a:latin typeface="맑은 고딕"/>
              </a:rPr>
              <a:t> — 그중 λ 는 4개뿐</a:t>
            </a:r>
          </a:p>
          <a:p>
            <a:pPr>
              <a:lnSpc>
                <a:spcPct val="122000"/>
              </a:lnSpc>
              <a:spcBef>
                <a:spcPts val="200"/>
              </a:spcBef>
            </a:pPr>
            <a:r>
              <a:rPr sz="950" b="0">
                <a:solidFill>
                  <a:srgbClr val="66756F"/>
                </a:solidFill>
                <a:latin typeface="맑은 고딕"/>
              </a:rPr>
              <a:t>가중치 공유: 모든 단계가 같은 망</a:t>
            </a:r>
          </a:p>
          <a:p>
            <a:pPr>
              <a:lnSpc>
                <a:spcPct val="122000"/>
              </a:lnSpc>
              <a:spcBef>
                <a:spcPts val="0"/>
              </a:spcBef>
            </a:pPr>
            <a:endParaRPr sz="950" b="0">
              <a:solidFill>
                <a:srgbClr val="66756F"/>
              </a:solidFill>
              <a:latin typeface="맑은 고딕"/>
            </a:endParaRPr>
          </a:p>
          <a:p>
            <a:pPr>
              <a:lnSpc>
                <a:spcPct val="122000"/>
              </a:lnSpc>
              <a:spcBef>
                <a:spcPts val="200"/>
              </a:spcBef>
            </a:pPr>
            <a:r>
              <a:rPr sz="950" b="1">
                <a:solidFill>
                  <a:srgbClr val="0B6E5E"/>
                </a:solidFill>
                <a:latin typeface="맑은 고딕"/>
              </a:rPr>
              <a:t>pretrained 사용 안 함</a:t>
            </a:r>
          </a:p>
          <a:p>
            <a:pPr>
              <a:lnSpc>
                <a:spcPct val="122000"/>
              </a:lnSpc>
              <a:spcBef>
                <a:spcPts val="200"/>
              </a:spcBef>
            </a:pPr>
            <a:r>
              <a:rPr sz="950" b="0">
                <a:solidFill>
                  <a:srgbClr val="66756F"/>
                </a:solidFill>
                <a:latin typeface="맑은 고딕"/>
              </a:rPr>
              <a:t>ImageNet·공개 DRUNet 같은 외부 가중치를 전혀 안 썼다</a:t>
            </a:r>
          </a:p>
          <a:p>
            <a:pPr>
              <a:lnSpc>
                <a:spcPct val="122000"/>
              </a:lnSpc>
              <a:spcBef>
                <a:spcPts val="200"/>
              </a:spcBef>
            </a:pPr>
            <a:r>
              <a:rPr sz="950" b="0">
                <a:solidFill>
                  <a:srgbClr val="66756F"/>
                </a:solidFill>
                <a:latin typeface="맑은 고딕"/>
              </a:rPr>
              <a:t>초기화는 무작위, 또는 우리가 직접 학습한 체크포인트에서 이어 학습</a:t>
            </a:r>
          </a:p>
          <a:p>
            <a:pPr>
              <a:lnSpc>
                <a:spcPct val="122000"/>
              </a:lnSpc>
              <a:spcBef>
                <a:spcPts val="0"/>
              </a:spcBef>
            </a:pPr>
            <a:endParaRPr sz="950" b="0">
              <a:solidFill>
                <a:srgbClr val="66756F"/>
              </a:solidFill>
              <a:latin typeface="맑은 고딕"/>
            </a:endParaRPr>
          </a:p>
          <a:p>
            <a:pPr>
              <a:lnSpc>
                <a:spcPct val="122000"/>
              </a:lnSpc>
              <a:spcBef>
                <a:spcPts val="200"/>
              </a:spcBef>
            </a:pPr>
            <a:r>
              <a:rPr sz="950" b="1">
                <a:solidFill>
                  <a:srgbClr val="3C4947"/>
                </a:solidFill>
                <a:latin typeface="맑은 고딕"/>
              </a:rPr>
              <a:t>제출 = 4단계 + 6단계 두 모델의 0.5:0.5 평균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61688" y="2066543"/>
            <a:ext cx="3611880" cy="416052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81144" y="2212847"/>
            <a:ext cx="36118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0B6E5E"/>
                </a:solidFill>
                <a:latin typeface="Consola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81144" y="2414015"/>
            <a:ext cx="3172968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131A19"/>
                </a:solidFill>
                <a:latin typeface="맑은 고딕"/>
              </a:rPr>
              <a:t>학습 방법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81144" y="2724911"/>
            <a:ext cx="3172968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맑은 고딕"/>
              </a:rPr>
              <a:t>Supervised — 열화 쌍을 직접 만든다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81144" y="2999231"/>
            <a:ext cx="3172968" cy="3063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22000"/>
              </a:lnSpc>
              <a:spcBef>
                <a:spcPts val="200"/>
              </a:spcBef>
            </a:pPr>
            <a:r>
              <a:rPr sz="950" b="0" dirty="0" err="1">
                <a:solidFill>
                  <a:srgbClr val="3C4947"/>
                </a:solidFill>
                <a:latin typeface="맑은 고딕"/>
              </a:rPr>
              <a:t>제공된 train </a:t>
            </a:r>
            <a:r>
              <a:rPr sz="950" b="1" dirty="0">
                <a:solidFill>
                  <a:srgbClr val="3C4947"/>
                </a:solidFill>
                <a:latin typeface="맑은 고딕"/>
              </a:rPr>
              <a:t>7,268장</a:t>
            </a:r>
            <a:r>
              <a:rPr sz="950" b="0" dirty="0">
                <a:solidFill>
                  <a:srgbClr val="3C4947"/>
                </a:solidFill>
                <a:latin typeface="맑은 고딕"/>
              </a:rPr>
              <a:t> 만 사용. </a:t>
            </a:r>
            <a:r>
              <a:rPr sz="950" b="1" dirty="0">
                <a:solidFill>
                  <a:srgbClr val="0B6E5E"/>
                </a:solidFill>
                <a:latin typeface="맑은 고딕"/>
              </a:rPr>
              <a:t>test 는 채점에만</a:t>
            </a:r>
          </a:p>
          <a:p>
            <a:pPr>
              <a:lnSpc>
                <a:spcPct val="122000"/>
              </a:lnSpc>
              <a:spcBef>
                <a:spcPts val="200"/>
              </a:spcBef>
            </a:pPr>
            <a:r>
              <a:rPr sz="950" b="0" dirty="0">
                <a:solidFill>
                  <a:srgbClr val="3C4947"/>
                </a:solidFill>
                <a:latin typeface="맑은 고딕"/>
              </a:rPr>
              <a:t>clean f 에서 매 배치 </a:t>
            </a:r>
            <a:r>
              <a:rPr sz="950" b="0" dirty="0">
                <a:solidFill>
                  <a:srgbClr val="3C4947"/>
                </a:solidFill>
                <a:latin typeface="Consolas"/>
              </a:rPr>
              <a:t>f → dipole → +noise(4종)</a:t>
            </a:r>
            <a:r>
              <a:rPr sz="950" b="0" dirty="0">
                <a:solidFill>
                  <a:srgbClr val="3C4947"/>
                </a:solidFill>
                <a:latin typeface="맑은 고딕"/>
              </a:rPr>
              <a:t> 로 쌍 생성</a:t>
            </a:r>
          </a:p>
          <a:p>
            <a:pPr>
              <a:lnSpc>
                <a:spcPct val="122000"/>
              </a:lnSpc>
              <a:spcBef>
                <a:spcPts val="0"/>
              </a:spcBef>
            </a:pPr>
            <a:endParaRPr sz="950" b="0" dirty="0">
              <a:solidFill>
                <a:srgbClr val="3C4947"/>
              </a:solidFill>
              <a:latin typeface="맑은 고딕"/>
            </a:endParaRPr>
          </a:p>
          <a:p>
            <a:pPr>
              <a:lnSpc>
                <a:spcPct val="122000"/>
              </a:lnSpc>
              <a:spcBef>
                <a:spcPts val="200"/>
              </a:spcBef>
            </a:pPr>
            <a:r>
              <a:rPr sz="950" b="0" dirty="0">
                <a:solidFill>
                  <a:srgbClr val="3C4947"/>
                </a:solidFill>
                <a:latin typeface="Consolas"/>
              </a:rPr>
              <a:t>Loss  Charbonnier √(e²+ε²)</a:t>
            </a:r>
          </a:p>
          <a:p>
            <a:pPr>
              <a:lnSpc>
                <a:spcPct val="122000"/>
              </a:lnSpc>
              <a:spcBef>
                <a:spcPts val="200"/>
              </a:spcBef>
            </a:pPr>
            <a:r>
              <a:rPr sz="950" b="0" dirty="0" err="1">
                <a:solidFill>
                  <a:srgbClr val="3C4947"/>
                </a:solidFill>
                <a:latin typeface="Consolas"/>
              </a:rPr>
              <a:t>Optim  AdamW · lr 2e-4 · wd 1e-5</a:t>
            </a:r>
          </a:p>
          <a:p>
            <a:pPr>
              <a:lnSpc>
                <a:spcPct val="122000"/>
              </a:lnSpc>
              <a:spcBef>
                <a:spcPts val="200"/>
              </a:spcBef>
            </a:pPr>
            <a:r>
              <a:rPr sz="950" b="0" dirty="0" err="1">
                <a:solidFill>
                  <a:srgbClr val="3C4947"/>
                </a:solidFill>
                <a:latin typeface="Consolas"/>
              </a:rPr>
              <a:t>Sched  warmup 200 step → cosine</a:t>
            </a:r>
          </a:p>
          <a:p>
            <a:pPr>
              <a:lnSpc>
                <a:spcPct val="122000"/>
              </a:lnSpc>
              <a:spcBef>
                <a:spcPts val="200"/>
              </a:spcBef>
            </a:pPr>
            <a:r>
              <a:rPr sz="950" b="0" dirty="0">
                <a:solidFill>
                  <a:srgbClr val="3C4947"/>
                </a:solidFill>
                <a:latin typeface="Consolas"/>
              </a:rPr>
              <a:t>AMP   bf16 · grad clip 1.0</a:t>
            </a:r>
          </a:p>
          <a:p>
            <a:pPr>
              <a:lnSpc>
                <a:spcPct val="122000"/>
              </a:lnSpc>
              <a:spcBef>
                <a:spcPts val="200"/>
              </a:spcBef>
            </a:pPr>
            <a:r>
              <a:rPr sz="950" b="0" dirty="0">
                <a:solidFill>
                  <a:srgbClr val="3C4947"/>
                </a:solidFill>
                <a:latin typeface="Consolas"/>
              </a:rPr>
              <a:t>Batch  8 · 256² 통째로 (크롭 없음)</a:t>
            </a:r>
          </a:p>
          <a:p>
            <a:pPr>
              <a:lnSpc>
                <a:spcPct val="122000"/>
              </a:lnSpc>
              <a:spcBef>
                <a:spcPts val="0"/>
              </a:spcBef>
            </a:pPr>
            <a:endParaRPr sz="950" b="0" dirty="0">
              <a:solidFill>
                <a:srgbClr val="3C4947"/>
              </a:solidFill>
              <a:latin typeface="Consolas"/>
            </a:endParaRPr>
          </a:p>
          <a:p>
            <a:pPr>
              <a:lnSpc>
                <a:spcPct val="122000"/>
              </a:lnSpc>
              <a:spcBef>
                <a:spcPts val="200"/>
              </a:spcBef>
            </a:pPr>
            <a:r>
              <a:rPr sz="950" b="0" dirty="0">
                <a:solidFill>
                  <a:srgbClr val="66756F"/>
                </a:solidFill>
                <a:latin typeface="맑은 고딕"/>
              </a:rPr>
              <a:t>augmentation 은 뒤집기만 — 90° 회전 제외</a:t>
            </a:r>
          </a:p>
          <a:p>
            <a:pPr>
              <a:lnSpc>
                <a:spcPct val="122000"/>
              </a:lnSpc>
              <a:spcBef>
                <a:spcPts val="200"/>
              </a:spcBef>
            </a:pPr>
            <a:r>
              <a:rPr sz="950" b="0" dirty="0">
                <a:solidFill>
                  <a:srgbClr val="66756F"/>
                </a:solidFill>
                <a:latin typeface="맑은 고딕"/>
              </a:rPr>
              <a:t>λ 도 함께 학습 (log 로 저장, 단계마다 따로)</a:t>
            </a:r>
          </a:p>
          <a:p>
            <a:pPr>
              <a:lnSpc>
                <a:spcPct val="122000"/>
              </a:lnSpc>
              <a:spcBef>
                <a:spcPts val="0"/>
              </a:spcBef>
            </a:pPr>
            <a:endParaRPr sz="950" b="0" dirty="0">
              <a:solidFill>
                <a:srgbClr val="66756F"/>
              </a:solidFill>
              <a:latin typeface="맑은 고딕"/>
            </a:endParaRPr>
          </a:p>
          <a:p>
            <a:pPr>
              <a:lnSpc>
                <a:spcPct val="122000"/>
              </a:lnSpc>
              <a:spcBef>
                <a:spcPts val="200"/>
              </a:spcBef>
            </a:pPr>
            <a:r>
              <a:rPr sz="950" b="0" dirty="0" err="1">
                <a:solidFill>
                  <a:srgbClr val="3C4947"/>
                </a:solidFill>
                <a:latin typeface="맑은 고딕"/>
              </a:rPr>
              <a:t>모델 선택은 </a:t>
            </a:r>
            <a:r>
              <a:rPr sz="950" b="1" dirty="0" err="1">
                <a:solidFill>
                  <a:srgbClr val="0B6E5E"/>
                </a:solidFill>
                <a:latin typeface="맑은 고딕"/>
              </a:rPr>
              <a:t>val 100장</a:t>
            </a:r>
            <a:r>
              <a:rPr sz="950" b="0" dirty="0">
                <a:solidFill>
                  <a:srgbClr val="3C4947"/>
                </a:solidFill>
                <a:latin typeface="맑은 고딕"/>
              </a:rPr>
              <a:t> 의 best epoch</a:t>
            </a:r>
          </a:p>
          <a:p>
            <a:pPr>
              <a:lnSpc>
                <a:spcPct val="122000"/>
              </a:lnSpc>
              <a:spcBef>
                <a:spcPts val="200"/>
              </a:spcBef>
            </a:pPr>
            <a:r>
              <a:rPr sz="950" b="0" dirty="0" err="1">
                <a:solidFill>
                  <a:srgbClr val="66756F"/>
                </a:solidFill>
                <a:latin typeface="맑은 고딕"/>
              </a:rPr>
              <a:t>추론에 16× self-ensemble (뒤집기·180°·대각 순환이동)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56448" y="2066543"/>
            <a:ext cx="3611880" cy="416052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375904" y="2212847"/>
            <a:ext cx="36118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0B6E5E"/>
                </a:solidFill>
                <a:latin typeface="Consolas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75904" y="2414015"/>
            <a:ext cx="3172968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131A19"/>
                </a:solidFill>
                <a:latin typeface="맑은 고딕"/>
              </a:rPr>
              <a:t>학습 시간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75904" y="2724911"/>
            <a:ext cx="3172968" cy="26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dirty="0" err="1">
                <a:solidFill>
                  <a:srgbClr val="66756F"/>
                </a:solidFill>
                <a:latin typeface="맑은 고딕"/>
              </a:rPr>
              <a:t>Colab </a:t>
            </a:r>
            <a:r>
              <a:rPr lang="en-US" sz="1000" dirty="0" smtClean="0">
                <a:solidFill>
                  <a:srgbClr val="66756F"/>
                </a:solidFill>
                <a:latin typeface="맑은 고딕"/>
              </a:rPr>
              <a:t>G4</a:t>
            </a:r>
            <a:r>
              <a:rPr sz="1000" b="0" dirty="0" smtClean="0">
                <a:solidFill>
                  <a:srgbClr val="66756F"/>
                </a:solidFill>
                <a:latin typeface="맑은 고딕"/>
              </a:rPr>
              <a:t> 1장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75904" y="2999231"/>
            <a:ext cx="3172968" cy="25728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22000"/>
              </a:lnSpc>
              <a:spcBef>
                <a:spcPts val="200"/>
              </a:spcBef>
            </a:pPr>
            <a:r>
              <a:rPr sz="950" b="0" dirty="0">
                <a:solidFill>
                  <a:srgbClr val="3C4947"/>
                </a:solidFill>
                <a:latin typeface="Consolas"/>
              </a:rPr>
              <a:t>v1  60 epoch</a:t>
            </a:r>
            <a:r>
              <a:rPr sz="950" b="1" dirty="0">
                <a:solidFill>
                  <a:srgbClr val="3C4947"/>
                </a:solidFill>
                <a:latin typeface="맑은 고딕"/>
              </a:rPr>
              <a:t>        6,133 s  (1.7 h)</a:t>
            </a:r>
          </a:p>
          <a:p>
            <a:pPr>
              <a:lnSpc>
                <a:spcPct val="122000"/>
              </a:lnSpc>
              <a:spcBef>
                <a:spcPts val="200"/>
              </a:spcBef>
            </a:pPr>
            <a:r>
              <a:rPr sz="950" b="0" dirty="0">
                <a:solidFill>
                  <a:srgbClr val="3C4947"/>
                </a:solidFill>
                <a:latin typeface="Consolas"/>
              </a:rPr>
              <a:t>long  4단계 이어 학습</a:t>
            </a:r>
            <a:r>
              <a:rPr sz="950" b="0" dirty="0">
                <a:solidFill>
                  <a:srgbClr val="3C4947"/>
                </a:solidFill>
                <a:latin typeface="맑은 고딕"/>
              </a:rPr>
              <a:t>   약 2.5 h</a:t>
            </a:r>
          </a:p>
          <a:p>
            <a:pPr>
              <a:lnSpc>
                <a:spcPct val="122000"/>
              </a:lnSpc>
              <a:spcBef>
                <a:spcPts val="200"/>
              </a:spcBef>
            </a:pPr>
            <a:r>
              <a:rPr sz="950" b="0" dirty="0">
                <a:solidFill>
                  <a:srgbClr val="3C4947"/>
                </a:solidFill>
                <a:latin typeface="Consolas"/>
              </a:rPr>
              <a:t>iter6  6단계 이어 학습</a:t>
            </a:r>
            <a:r>
              <a:rPr sz="950" b="0" dirty="0">
                <a:solidFill>
                  <a:srgbClr val="3C4947"/>
                </a:solidFill>
                <a:latin typeface="맑은 고딕"/>
              </a:rPr>
              <a:t>  약 2.5 h</a:t>
            </a:r>
          </a:p>
          <a:p>
            <a:pPr>
              <a:lnSpc>
                <a:spcPct val="122000"/>
              </a:lnSpc>
              <a:spcBef>
                <a:spcPts val="0"/>
              </a:spcBef>
            </a:pPr>
            <a:endParaRPr sz="950" b="0" dirty="0">
              <a:solidFill>
                <a:srgbClr val="3C4947"/>
              </a:solidFill>
              <a:latin typeface="맑은 고딕"/>
            </a:endParaRPr>
          </a:p>
          <a:p>
            <a:pPr>
              <a:lnSpc>
                <a:spcPct val="122000"/>
              </a:lnSpc>
              <a:spcBef>
                <a:spcPts val="200"/>
              </a:spcBef>
            </a:pPr>
            <a:r>
              <a:rPr sz="950" b="1" dirty="0" err="1">
                <a:solidFill>
                  <a:srgbClr val="0B6E5E"/>
                </a:solidFill>
                <a:latin typeface="맑은 고딕"/>
              </a:rPr>
              <a:t>제출 모델 합계  약 7 h</a:t>
            </a:r>
          </a:p>
          <a:p>
            <a:pPr>
              <a:lnSpc>
                <a:spcPct val="122000"/>
              </a:lnSpc>
              <a:spcBef>
                <a:spcPts val="0"/>
              </a:spcBef>
            </a:pPr>
            <a:endParaRPr sz="950" b="1" dirty="0">
              <a:solidFill>
                <a:srgbClr val="0B6E5E"/>
              </a:solidFill>
              <a:latin typeface="맑은 고딕"/>
            </a:endParaRPr>
          </a:p>
          <a:p>
            <a:pPr>
              <a:lnSpc>
                <a:spcPct val="122000"/>
              </a:lnSpc>
              <a:spcBef>
                <a:spcPts val="0"/>
              </a:spcBef>
            </a:pPr>
            <a:endParaRPr sz="950" b="0" dirty="0">
              <a:solidFill>
                <a:srgbClr val="66756F"/>
              </a:solidFill>
              <a:latin typeface="맑은 고딕"/>
            </a:endParaRPr>
          </a:p>
          <a:p>
            <a:pPr>
              <a:lnSpc>
                <a:spcPct val="122000"/>
              </a:lnSpc>
              <a:spcBef>
                <a:spcPts val="200"/>
              </a:spcBef>
            </a:pPr>
            <a:r>
              <a:rPr sz="950" b="0" dirty="0" err="1">
                <a:solidFill>
                  <a:srgbClr val="3C4947"/>
                </a:solidFill>
                <a:latin typeface="맑은 고딕"/>
              </a:rPr>
              <a:t>탐색·실패한 시도까지 포함한 3일차 총 GPU 시간</a:t>
            </a:r>
            <a:endParaRPr sz="950" b="0" dirty="0">
              <a:solidFill>
                <a:srgbClr val="3C4947"/>
              </a:solidFill>
              <a:latin typeface="맑은 고딕"/>
            </a:endParaRPr>
          </a:p>
          <a:p>
            <a:pPr>
              <a:lnSpc>
                <a:spcPct val="122000"/>
              </a:lnSpc>
              <a:spcBef>
                <a:spcPts val="200"/>
              </a:spcBef>
            </a:pPr>
            <a:r>
              <a:rPr sz="950" b="1" dirty="0">
                <a:solidFill>
                  <a:srgbClr val="3C4947"/>
                </a:solidFill>
                <a:latin typeface="맑은 고딕"/>
              </a:rPr>
              <a:t>약 15 h</a:t>
            </a:r>
            <a:r>
              <a:rPr sz="950" b="0" dirty="0">
                <a:solidFill>
                  <a:srgbClr val="66756F"/>
                </a:solidFill>
                <a:latin typeface="맑은 고딕"/>
              </a:rPr>
              <a:t>  (DC-Net · 2단 분해 · label-free 등)</a:t>
            </a:r>
          </a:p>
          <a:p>
            <a:pPr>
              <a:lnSpc>
                <a:spcPct val="122000"/>
              </a:lnSpc>
              <a:spcBef>
                <a:spcPts val="0"/>
              </a:spcBef>
            </a:pPr>
            <a:endParaRPr sz="950" b="0" dirty="0">
              <a:solidFill>
                <a:srgbClr val="66756F"/>
              </a:solidFill>
              <a:latin typeface="맑은 고딕"/>
            </a:endParaRPr>
          </a:p>
          <a:p>
            <a:pPr>
              <a:lnSpc>
                <a:spcPct val="122000"/>
              </a:lnSpc>
              <a:spcBef>
                <a:spcPts val="200"/>
              </a:spcBef>
            </a:pPr>
            <a:r>
              <a:rPr sz="950" b="0" dirty="0" err="1">
                <a:solidFill>
                  <a:srgbClr val="3C4947"/>
                </a:solidFill>
                <a:latin typeface="맑은 고딕"/>
              </a:rPr>
              <a:t>추론 (test 100장)</a:t>
            </a:r>
          </a:p>
          <a:p>
            <a:pPr>
              <a:lnSpc>
                <a:spcPct val="122000"/>
              </a:lnSpc>
              <a:spcBef>
                <a:spcPts val="200"/>
              </a:spcBef>
            </a:pPr>
            <a:r>
              <a:rPr sz="950" b="0" dirty="0">
                <a:solidFill>
                  <a:srgbClr val="66756F"/>
                </a:solidFill>
                <a:latin typeface="맑은 고딕"/>
              </a:rPr>
              <a:t>16× self-ensemble  약 10~20분 · 앙상블 없이 1분 이내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test_deconv_noise 100장 · 최종 30.44 dB / 0.8899 (배포 baseline 25.02 / 0.815 대비 +5.42 dB)</a:t>
            </a:r>
          </a:p>
        </p:txBody>
      </p:sp>
    </p:spTree>
    <p:extLst>
      <p:ext uri="{BB962C8B-B14F-4D97-AF65-F5344CB8AC3E}">
        <p14:creationId xmlns:p14="http://schemas.microsoft.com/office/powerpoint/2010/main" val="13706437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5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none" strike="noStrike" cap="none">
                <a:solidFill>
                  <a:srgbClr val="0B6E5E"/>
                </a:solidFill>
                <a:latin typeface="Consolas"/>
                <a:ea typeface="Consolas"/>
                <a:cs typeface="Consolas"/>
                <a:sym typeface="Consolas"/>
              </a:rPr>
              <a:t>문제</a:t>
            </a:r>
            <a:endParaRPr/>
          </a:p>
        </p:txBody>
      </p:sp>
      <p:sp>
        <p:nvSpPr>
          <p:cNvPr id="216" name="Google Shape;216;p5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131A19"/>
                </a:solidFill>
                <a:latin typeface="Malgun Gothic"/>
                <a:ea typeface="Malgun Gothic"/>
                <a:cs typeface="Malgun Gothic"/>
                <a:sym typeface="Malgun Gothic"/>
              </a:rPr>
              <a:t>문제가 어떻게 만들어지는가</a:t>
            </a:r>
            <a:endParaRPr/>
          </a:p>
        </p:txBody>
      </p:sp>
      <p:sp>
        <p:nvSpPr>
          <p:cNvPr id="217" name="Google Shape;217;p5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66756F"/>
                </a:solidFill>
                <a:latin typeface="Malgun Gothic"/>
                <a:ea typeface="Malgun Gothic"/>
                <a:cs typeface="Malgun Gothic"/>
                <a:sym typeface="Malgun Gothic"/>
              </a:rPr>
              <a:t>clean → dipole blur → + noise. 학습 쌍도 같은 방식으로 만든다</a:t>
            </a:r>
            <a:endParaRPr/>
          </a:p>
        </p:txBody>
      </p:sp>
      <p:sp>
        <p:nvSpPr>
          <p:cNvPr id="218" name="Google Shape;218;p5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19" name="Google Shape;219;p5" descr="day3_forward_chain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31520" y="1920240"/>
            <a:ext cx="10698480" cy="2992160"/>
          </a:xfrm>
          <a:prstGeom prst="rect">
            <a:avLst/>
          </a:prstGeom>
          <a:noFill/>
          <a:ln>
            <a:noFill/>
          </a:ln>
        </p:spPr>
      </p:pic>
      <p:sp>
        <p:nvSpPr>
          <p:cNvPr id="220" name="Google Shape;220;p5"/>
          <p:cNvSpPr txBox="1"/>
          <p:nvPr/>
        </p:nvSpPr>
        <p:spPr>
          <a:xfrm>
            <a:off x="640080" y="6355080"/>
            <a:ext cx="10972800" cy="2846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 dirty="0" err="1">
                <a:solidFill>
                  <a:srgbClr val="66756F"/>
                </a:solidFill>
                <a:latin typeface="Consolas"/>
                <a:ea typeface="Consolas"/>
                <a:cs typeface="Consolas"/>
                <a:sym typeface="Consolas"/>
              </a:rPr>
              <a:t>노이즈가 흐림 뒤에 붙는다. 오른쪽 끝이 노이즈만 뽑아낸 것이다. 측정치에서는 백색이라 역산 전에 지워야 한다</a:t>
            </a:r>
            <a:endParaRPr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4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none" strike="noStrike" cap="none">
                <a:solidFill>
                  <a:srgbClr val="0B6E5E"/>
                </a:solidFill>
                <a:latin typeface="Consolas"/>
                <a:ea typeface="Consolas"/>
                <a:cs typeface="Consolas"/>
                <a:sym typeface="Consolas"/>
              </a:rPr>
              <a:t>Day 3</a:t>
            </a:r>
            <a:endParaRPr/>
          </a:p>
        </p:txBody>
      </p:sp>
      <p:sp>
        <p:nvSpPr>
          <p:cNvPr id="202" name="Google Shape;202;p4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131A19"/>
                </a:solidFill>
                <a:latin typeface="Malgun Gothic"/>
                <a:ea typeface="Malgun Gothic"/>
                <a:cs typeface="Malgun Gothic"/>
                <a:sym typeface="Malgun Gothic"/>
              </a:rPr>
              <a:t>문제 — 두 열화가 겹쳤다</a:t>
            </a:r>
            <a:endParaRPr/>
          </a:p>
        </p:txBody>
      </p:sp>
      <p:sp>
        <p:nvSpPr>
          <p:cNvPr id="203" name="Google Shape;203;p4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66756F"/>
                </a:solidFill>
                <a:latin typeface="Malgun Gothic"/>
                <a:ea typeface="Malgun Gothic"/>
                <a:cs typeface="Malgun Gothic"/>
                <a:sym typeface="Malgun Gothic"/>
              </a:rPr>
              <a:t>g = h * f + n</a:t>
            </a:r>
            <a:endParaRPr/>
          </a:p>
        </p:txBody>
      </p:sp>
      <p:sp>
        <p:nvSpPr>
          <p:cNvPr id="204" name="Google Shape;204;p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205" name="Google Shape;205;p4"/>
          <p:cNvGraphicFramePr/>
          <p:nvPr>
            <p:extLst>
              <p:ext uri="{D42A27DB-BD31-4B8C-83A1-F6EECF244321}">
                <p14:modId xmlns:p14="http://schemas.microsoft.com/office/powerpoint/2010/main" val="2682875535"/>
              </p:ext>
            </p:extLst>
          </p:nvPr>
        </p:nvGraphicFramePr>
        <p:xfrm>
          <a:off x="822960" y="1737335"/>
          <a:ext cx="5318348" cy="1371625"/>
        </p:xfrm>
        <a:graphic>
          <a:graphicData uri="http://schemas.openxmlformats.org/drawingml/2006/table">
            <a:tbl>
              <a:tblPr firstRow="1" bandRow="1">
                <a:noFill/>
                <a:tableStyleId>{7DE65E82-E5E6-4290-B14A-9E70F09EAB91}</a:tableStyleId>
              </a:tblPr>
              <a:tblGrid>
                <a:gridCol w="11131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052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131A19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기호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131A1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뜻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DCED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f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원본 이미지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h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 dirty="0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dipole 커널 (한 점이 퍼지는 모양)</a:t>
                      </a:r>
                      <a:endParaRPr dirty="0"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n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노이즈 (4종, σ 가 장마다 다름)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g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 dirty="0" err="1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측정치</a:t>
                      </a:r>
                      <a:endParaRPr dirty="0"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06" name="Google Shape;206;p4"/>
          <p:cNvSpPr/>
          <p:nvPr/>
        </p:nvSpPr>
        <p:spPr>
          <a:xfrm>
            <a:off x="6949440" y="1645920"/>
            <a:ext cx="4389120" cy="155448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 cap="flat" cmpd="sng">
            <a:solidFill>
              <a:srgbClr val="0B6E5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4"/>
          <p:cNvSpPr txBox="1"/>
          <p:nvPr/>
        </p:nvSpPr>
        <p:spPr>
          <a:xfrm>
            <a:off x="7178040" y="1828800"/>
            <a:ext cx="3931920" cy="1280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1" i="0" u="none" strike="noStrike" cap="none">
                <a:solidFill>
                  <a:srgbClr val="131A19"/>
                </a:solidFill>
                <a:latin typeface="Malgun Gothic"/>
                <a:ea typeface="Malgun Gothic"/>
                <a:cs typeface="Malgun Gothic"/>
                <a:sym typeface="Malgun Gothic"/>
              </a:rPr>
              <a:t>h 를 안다는 게 제일 크다.</a:t>
            </a:r>
            <a:endParaRPr/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0" i="0" u="none" strike="noStrike" cap="none">
                <a:solidFill>
                  <a:srgbClr val="3C4947"/>
                </a:solidFill>
                <a:latin typeface="Malgun Gothic"/>
                <a:ea typeface="Malgun Gothic"/>
                <a:cs typeface="Malgun Gothic"/>
                <a:sym typeface="Malgun Gothic"/>
              </a:rPr>
              <a:t>역필터를 공식으로 바로 만들 수 있고,</a:t>
            </a:r>
            <a:endParaRPr/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0" i="0" u="none" strike="noStrike" cap="none">
                <a:solidFill>
                  <a:srgbClr val="3C4947"/>
                </a:solidFill>
                <a:latin typeface="Malgun Gothic"/>
                <a:ea typeface="Malgun Gothic"/>
                <a:cs typeface="Malgun Gothic"/>
                <a:sym typeface="Malgun Gothic"/>
              </a:rPr>
              <a:t>σ 를 공짜로 잴 수 있다.</a:t>
            </a:r>
            <a:endParaRPr/>
          </a:p>
        </p:txBody>
      </p:sp>
      <p:graphicFrame>
        <p:nvGraphicFramePr>
          <p:cNvPr id="208" name="Google Shape;208;p4"/>
          <p:cNvGraphicFramePr/>
          <p:nvPr/>
        </p:nvGraphicFramePr>
        <p:xfrm>
          <a:off x="822960" y="3383280"/>
          <a:ext cx="10515600" cy="1426470"/>
        </p:xfrm>
        <a:graphic>
          <a:graphicData uri="http://schemas.openxmlformats.org/drawingml/2006/table">
            <a:tbl>
              <a:tblPr firstRow="1" bandRow="1">
                <a:noFill/>
                <a:tableStyleId>{7DE65E82-E5E6-4290-B14A-9E70F09EAB91}</a:tableStyleId>
              </a:tblPr>
              <a:tblGrid>
                <a:gridCol w="1752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037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548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044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82300" marR="82300" marT="27425" marB="27425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131A1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1일차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131A1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2일차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131A1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3일차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DCED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문제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g = f + n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g = h * f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131A1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g = h * f + n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ECF5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답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DRUNet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Wiener K→0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131A1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전개형 + σ 조건화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ECF5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점수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37.42 dB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109.86 dB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131A1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30.44 dB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ECF5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입력 SNR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+8.6 dB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무한대 (노이즈 없음)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131A1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+0.9 dB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ECF5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09" name="Google Shape;209;p4"/>
          <p:cNvSpPr/>
          <p:nvPr/>
        </p:nvSpPr>
        <p:spPr>
          <a:xfrm>
            <a:off x="822960" y="5166360"/>
            <a:ext cx="10515600" cy="77724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 cap="flat" cmpd="sng">
            <a:solidFill>
              <a:srgbClr val="0B6E5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4"/>
          <p:cNvSpPr txBox="1"/>
          <p:nvPr/>
        </p:nvSpPr>
        <p:spPr>
          <a:xfrm>
            <a:off x="1051560" y="5321808"/>
            <a:ext cx="100584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u="none" strike="noStrike" cap="none">
                <a:solidFill>
                  <a:srgbClr val="131A19"/>
                </a:solidFill>
                <a:latin typeface="Malgun Gothic"/>
                <a:ea typeface="Malgun Gothic"/>
                <a:cs typeface="Malgun Gothic"/>
                <a:sym typeface="Malgun Gothic"/>
              </a:rPr>
              <a:t>3일차는 신호와 노이즈 크기가 거의 같다 (SNR +0.9 dB). 흐림이 대비를 0.41배로 줄여놔서 그렇다.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6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none" strike="noStrike" cap="none">
                <a:solidFill>
                  <a:srgbClr val="0B6E5E"/>
                </a:solidFill>
                <a:latin typeface="Consolas"/>
                <a:ea typeface="Consolas"/>
                <a:cs typeface="Consolas"/>
                <a:sym typeface="Consolas"/>
              </a:rPr>
              <a:t>시도 ①</a:t>
            </a:r>
            <a:endParaRPr/>
          </a:p>
        </p:txBody>
      </p:sp>
      <p:sp>
        <p:nvSpPr>
          <p:cNvPr id="226" name="Google Shape;226;p6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131A19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시도 ① — 1일차 + 2일차를 이어 붙인다</a:t>
            </a:r>
            <a:endParaRPr/>
          </a:p>
        </p:txBody>
      </p:sp>
      <p:sp>
        <p:nvSpPr>
          <p:cNvPr id="227" name="Google Shape;227;p6"/>
          <p:cNvSpPr txBox="1"/>
          <p:nvPr/>
        </p:nvSpPr>
        <p:spPr>
          <a:xfrm>
            <a:off x="640080" y="1258823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 dirty="0" err="1">
                <a:solidFill>
                  <a:srgbClr val="66756F"/>
                </a:solidFill>
                <a:latin typeface="Malgun Gothic"/>
                <a:ea typeface="Malgun Gothic"/>
                <a:cs typeface="Malgun Gothic"/>
                <a:sym typeface="Malgun Gothic"/>
              </a:rPr>
              <a:t>각각은 제일 좋은 방법인데 합치면 진다</a:t>
            </a:r>
            <a:endParaRPr dirty="0"/>
          </a:p>
        </p:txBody>
      </p:sp>
      <p:sp>
        <p:nvSpPr>
          <p:cNvPr id="228" name="Google Shape;228;p6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229" name="Google Shape;229;p6"/>
          <p:cNvGraphicFramePr/>
          <p:nvPr/>
        </p:nvGraphicFramePr>
        <p:xfrm>
          <a:off x="822960" y="1600200"/>
          <a:ext cx="5852150" cy="1700795"/>
        </p:xfrm>
        <a:graphic>
          <a:graphicData uri="http://schemas.openxmlformats.org/drawingml/2006/table">
            <a:tbl>
              <a:tblPr firstRow="1" bandRow="1">
                <a:noFill/>
                <a:tableStyleId>{7DE65E82-E5E6-4290-B14A-9E70F09EAB91}</a:tableStyleId>
              </a:tblPr>
              <a:tblGrid>
                <a:gridCol w="1645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131A19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순서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131A1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방법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131A1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PSNR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DCED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131A19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디노이징 먼저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131A1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1일차 디노이저 → Wiener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131A1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21.06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ECF5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median 3×3 → Wiener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19.20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디컨볼루션 먼저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Wiener → 1일차 디노이저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16.88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번갈아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plug-and-play (디노이저 고정)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16.02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참고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 dirty="0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Wiener 단독 · 2일차 답(K→0)</a:t>
                      </a:r>
                      <a:endParaRPr dirty="0"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 dirty="0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13.79 · −24</a:t>
                      </a:r>
                      <a:endParaRPr dirty="0"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30" name="Google Shape;230;p6"/>
          <p:cNvSpPr/>
          <p:nvPr/>
        </p:nvSpPr>
        <p:spPr>
          <a:xfrm>
            <a:off x="7040880" y="1600200"/>
            <a:ext cx="4297680" cy="192024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 cap="flat" cmpd="sng">
            <a:solidFill>
              <a:srgbClr val="0B6E5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" name="Google Shape;231;p6"/>
          <p:cNvSpPr txBox="1"/>
          <p:nvPr/>
        </p:nvSpPr>
        <p:spPr>
          <a:xfrm>
            <a:off x="7269480" y="1783080"/>
            <a:ext cx="3840480" cy="1645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131A19"/>
                </a:solidFill>
                <a:latin typeface="Malgun Gothic"/>
                <a:ea typeface="Malgun Gothic"/>
                <a:cs typeface="Malgun Gothic"/>
                <a:sym typeface="Malgun Gothic"/>
              </a:rPr>
              <a:t>순서만 바꿔도 4.2 dB 차이가 난다.</a:t>
            </a:r>
            <a:endParaRPr/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 b="1" i="0" u="none" strike="noStrike" cap="none">
              <a:solidFill>
                <a:srgbClr val="131A19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3C4947"/>
                </a:solidFill>
                <a:latin typeface="Malgun Gothic"/>
                <a:ea typeface="Malgun Gothic"/>
                <a:cs typeface="Malgun Gothic"/>
                <a:sym typeface="Malgun Gothic"/>
              </a:rPr>
              <a:t>Wiener 를 먼저 걸면 노이즈가 1/D 로 커지고 X자 모양으로 얽힌다. 디노이저가 본 적 없는 노이즈가 되는 것이다.</a:t>
            </a:r>
            <a:endParaRPr/>
          </a:p>
        </p:txBody>
      </p:sp>
      <p:sp>
        <p:nvSpPr>
          <p:cNvPr id="232" name="Google Shape;232;p6"/>
          <p:cNvSpPr/>
          <p:nvPr/>
        </p:nvSpPr>
        <p:spPr>
          <a:xfrm>
            <a:off x="822960" y="3749039"/>
            <a:ext cx="10515600" cy="713232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 cap="flat" cmpd="sng">
            <a:solidFill>
              <a:srgbClr val="DCE3E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6"/>
          <p:cNvSpPr txBox="1"/>
          <p:nvPr/>
        </p:nvSpPr>
        <p:spPr>
          <a:xfrm>
            <a:off x="1051560" y="3813047"/>
            <a:ext cx="694944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u="none" strike="noStrike" cap="none">
                <a:solidFill>
                  <a:srgbClr val="131A19"/>
                </a:solidFill>
                <a:latin typeface="Malgun Gothic"/>
                <a:ea typeface="Malgun Gothic"/>
                <a:cs typeface="Malgun Gothic"/>
                <a:sym typeface="Malgun Gothic"/>
              </a:rPr>
              <a:t>2일차 답은 노이즈가 0이라서 통했다</a:t>
            </a:r>
            <a:endParaRPr/>
          </a:p>
        </p:txBody>
      </p:sp>
      <p:sp>
        <p:nvSpPr>
          <p:cNvPr id="234" name="Google Shape;234;p6"/>
          <p:cNvSpPr txBox="1"/>
          <p:nvPr/>
        </p:nvSpPr>
        <p:spPr>
          <a:xfrm>
            <a:off x="1051560" y="4096511"/>
            <a:ext cx="694944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66756F"/>
                </a:solidFill>
                <a:latin typeface="Malgun Gothic"/>
                <a:ea typeface="Malgun Gothic"/>
                <a:cs typeface="Malgun Gothic"/>
                <a:sym typeface="Malgun Gothic"/>
              </a:rPr>
              <a:t>1/D 로 역산하면 노이즈가 폭발한다. 2일차는 n=0 이라 무한대 × 0 = 0 이었다.</a:t>
            </a:r>
            <a:endParaRPr/>
          </a:p>
        </p:txBody>
      </p:sp>
      <p:sp>
        <p:nvSpPr>
          <p:cNvPr id="235" name="Google Shape;235;p6"/>
          <p:cNvSpPr txBox="1"/>
          <p:nvPr/>
        </p:nvSpPr>
        <p:spPr>
          <a:xfrm>
            <a:off x="8321040" y="3858767"/>
            <a:ext cx="283464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u="none" strike="noStrike" cap="none">
                <a:solidFill>
                  <a:srgbClr val="0B6E5E"/>
                </a:solidFill>
                <a:latin typeface="Consolas"/>
                <a:ea typeface="Consolas"/>
                <a:cs typeface="Consolas"/>
                <a:sym typeface="Consolas"/>
              </a:rPr>
              <a:t>+51.5 dB노이즈 증폭</a:t>
            </a:r>
            <a:br>
              <a:rPr lang="en-US" sz="1300" b="1" i="0" u="none" strike="noStrike" cap="none">
                <a:solidFill>
                  <a:srgbClr val="0B6E5E"/>
                </a:solidFill>
                <a:latin typeface="Consolas"/>
                <a:ea typeface="Consolas"/>
                <a:cs typeface="Consolas"/>
                <a:sym typeface="Consolas"/>
              </a:rPr>
            </a:br>
            <a:endParaRPr/>
          </a:p>
        </p:txBody>
      </p:sp>
      <p:sp>
        <p:nvSpPr>
          <p:cNvPr id="236" name="Google Shape;236;p6"/>
          <p:cNvSpPr/>
          <p:nvPr/>
        </p:nvSpPr>
        <p:spPr>
          <a:xfrm>
            <a:off x="822960" y="4553711"/>
            <a:ext cx="10515600" cy="713232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 cap="flat" cmpd="sng">
            <a:solidFill>
              <a:srgbClr val="DCE3E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6"/>
          <p:cNvSpPr txBox="1"/>
          <p:nvPr/>
        </p:nvSpPr>
        <p:spPr>
          <a:xfrm>
            <a:off x="1051560" y="4617719"/>
            <a:ext cx="694944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u="none" strike="noStrike" cap="none">
                <a:solidFill>
                  <a:srgbClr val="131A19"/>
                </a:solidFill>
                <a:latin typeface="Malgun Gothic"/>
                <a:ea typeface="Malgun Gothic"/>
                <a:cs typeface="Malgun Gothic"/>
                <a:sym typeface="Malgun Gothic"/>
              </a:rPr>
              <a:t>흐림이 대비를 줄여서 같은 σ 라도 훨씬 어렵다</a:t>
            </a:r>
            <a:endParaRPr/>
          </a:p>
        </p:txBody>
      </p:sp>
      <p:sp>
        <p:nvSpPr>
          <p:cNvPr id="238" name="Google Shape;238;p6"/>
          <p:cNvSpPr txBox="1"/>
          <p:nvPr/>
        </p:nvSpPr>
        <p:spPr>
          <a:xfrm>
            <a:off x="1051560" y="4901183"/>
            <a:ext cx="694944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66756F"/>
                </a:solidFill>
                <a:latin typeface="Malgun Gothic"/>
                <a:ea typeface="Malgun Gothic"/>
                <a:cs typeface="Malgun Gothic"/>
                <a:sym typeface="Malgun Gothic"/>
              </a:rPr>
              <a:t>std(f)=0.222 → std(h*f)=0.092. 노이즈는 1일차와 똑같은데 신호만 줄었다.</a:t>
            </a:r>
            <a:endParaRPr/>
          </a:p>
        </p:txBody>
      </p:sp>
      <p:sp>
        <p:nvSpPr>
          <p:cNvPr id="239" name="Google Shape;239;p6"/>
          <p:cNvSpPr txBox="1"/>
          <p:nvPr/>
        </p:nvSpPr>
        <p:spPr>
          <a:xfrm>
            <a:off x="8321040" y="4663439"/>
            <a:ext cx="283464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u="none" strike="noStrike" cap="none">
                <a:solidFill>
                  <a:srgbClr val="0B6E5E"/>
                </a:solidFill>
                <a:latin typeface="Consolas"/>
                <a:ea typeface="Consolas"/>
                <a:cs typeface="Consolas"/>
                <a:sym typeface="Consolas"/>
              </a:rPr>
              <a:t>SNR +8.6→ +0.9 dB</a:t>
            </a:r>
            <a:br>
              <a:rPr lang="en-US" sz="1300" b="1" i="0" u="none" strike="noStrike" cap="none">
                <a:solidFill>
                  <a:srgbClr val="0B6E5E"/>
                </a:solidFill>
                <a:latin typeface="Consolas"/>
                <a:ea typeface="Consolas"/>
                <a:cs typeface="Consolas"/>
                <a:sym typeface="Consolas"/>
              </a:rPr>
            </a:br>
            <a:endParaRPr/>
          </a:p>
        </p:txBody>
      </p:sp>
      <p:sp>
        <p:nvSpPr>
          <p:cNvPr id="240" name="Google Shape;240;p6"/>
          <p:cNvSpPr/>
          <p:nvPr/>
        </p:nvSpPr>
        <p:spPr>
          <a:xfrm>
            <a:off x="822960" y="5358383"/>
            <a:ext cx="10515600" cy="713232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 cap="flat" cmpd="sng">
            <a:solidFill>
              <a:srgbClr val="DCE3E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6"/>
          <p:cNvSpPr txBox="1"/>
          <p:nvPr/>
        </p:nvSpPr>
        <p:spPr>
          <a:xfrm>
            <a:off x="1051560" y="5422391"/>
            <a:ext cx="694944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u="none" strike="noStrike" cap="none">
                <a:solidFill>
                  <a:srgbClr val="131A19"/>
                </a:solidFill>
                <a:latin typeface="Malgun Gothic"/>
                <a:ea typeface="Malgun Gothic"/>
                <a:cs typeface="Malgun Gothic"/>
                <a:sym typeface="Malgun Gothic"/>
              </a:rPr>
              <a:t>주파수의 16% 는 아예 못 살린다</a:t>
            </a:r>
            <a:endParaRPr/>
          </a:p>
        </p:txBody>
      </p:sp>
      <p:sp>
        <p:nvSpPr>
          <p:cNvPr id="242" name="Google Shape;242;p6"/>
          <p:cNvSpPr txBox="1"/>
          <p:nvPr/>
        </p:nvSpPr>
        <p:spPr>
          <a:xfrm>
            <a:off x="1051560" y="5705855"/>
            <a:ext cx="694944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66756F"/>
                </a:solidFill>
                <a:latin typeface="Malgun Gothic"/>
                <a:ea typeface="Malgun Gothic"/>
                <a:cs typeface="Malgun Gothic"/>
                <a:sym typeface="Malgun Gothic"/>
              </a:rPr>
              <a:t>|D|&lt;0.1 은 역산하면 SNR 이 −20 dB 이하다. 2일차엔 이것도 살렸다 (노이즈가 0이라).</a:t>
            </a:r>
            <a:endParaRPr/>
          </a:p>
        </p:txBody>
      </p:sp>
      <p:sp>
        <p:nvSpPr>
          <p:cNvPr id="243" name="Google Shape;243;p6"/>
          <p:cNvSpPr txBox="1"/>
          <p:nvPr/>
        </p:nvSpPr>
        <p:spPr>
          <a:xfrm>
            <a:off x="8321040" y="5468111"/>
            <a:ext cx="283464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u="none" strike="noStrike" cap="none">
                <a:solidFill>
                  <a:srgbClr val="0B6E5E"/>
                </a:solidFill>
                <a:latin typeface="Consolas"/>
                <a:ea typeface="Consolas"/>
                <a:cs typeface="Consolas"/>
                <a:sym typeface="Consolas"/>
              </a:rPr>
              <a:t>16%버려진다</a:t>
            </a:r>
            <a:br>
              <a:rPr lang="en-US" sz="1300" b="1" i="0" u="none" strike="noStrike" cap="none">
                <a:solidFill>
                  <a:srgbClr val="0B6E5E"/>
                </a:solidFill>
                <a:latin typeface="Consolas"/>
                <a:ea typeface="Consolas"/>
                <a:cs typeface="Consolas"/>
                <a:sym typeface="Consolas"/>
              </a:rPr>
            </a:b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7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none" strike="noStrike" cap="none">
                <a:solidFill>
                  <a:srgbClr val="0B6E5E"/>
                </a:solidFill>
                <a:latin typeface="Consolas"/>
                <a:ea typeface="Consolas"/>
                <a:cs typeface="Consolas"/>
                <a:sym typeface="Consolas"/>
              </a:rPr>
              <a:t>한계</a:t>
            </a:r>
            <a:endParaRPr/>
          </a:p>
        </p:txBody>
      </p:sp>
      <p:sp>
        <p:nvSpPr>
          <p:cNvPr id="249" name="Google Shape;249;p7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131A19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시도 ① 의 한계 — 선형은 21.95 dB 에서 끝난다</a:t>
            </a:r>
            <a:endParaRPr/>
          </a:p>
        </p:txBody>
      </p:sp>
      <p:sp>
        <p:nvSpPr>
          <p:cNvPr id="250" name="Google Shape;250;p7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 dirty="0" err="1">
                <a:solidFill>
                  <a:srgbClr val="66756F"/>
                </a:solidFill>
                <a:latin typeface="Malgun Gothic"/>
                <a:ea typeface="Malgun Gothic"/>
                <a:cs typeface="Malgun Gothic"/>
                <a:sym typeface="Malgun Gothic"/>
              </a:rPr>
              <a:t>정답의 파워 스펙트럼을 알려줘도 그렇다</a:t>
            </a:r>
            <a:endParaRPr dirty="0"/>
          </a:p>
        </p:txBody>
      </p:sp>
      <p:sp>
        <p:nvSpPr>
          <p:cNvPr id="251" name="Google Shape;251;p7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252" name="Google Shape;252;p7"/>
          <p:cNvGraphicFramePr/>
          <p:nvPr/>
        </p:nvGraphicFramePr>
        <p:xfrm>
          <a:off x="822960" y="1645920"/>
          <a:ext cx="6035025" cy="1920275"/>
        </p:xfrm>
        <a:graphic>
          <a:graphicData uri="http://schemas.openxmlformats.org/drawingml/2006/table">
            <a:tbl>
              <a:tblPr firstRow="1" bandRow="1">
                <a:noFill/>
                <a:tableStyleId>{7DE65E82-E5E6-4290-B14A-9E70F09EAB91}</a:tableStyleId>
              </a:tblPr>
              <a:tblGrid>
                <a:gridCol w="27501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93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917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131A19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필터 / 방법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131A1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PSNR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131A1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성격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DCED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Wiener 상수 K (val 에서 고름)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13.72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실제로 쓸 수 있는 것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1일차 디노이저 → Wiener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21.06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학습 없는 조합 중 최고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오라클 위너 (장마다 참 스펙트럼)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21.95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선형의 천장. 만들 수 없다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 dirty="0" err="1">
                          <a:solidFill>
                            <a:srgbClr val="3C494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원뿔을 포기하는 방법의 상한</a:t>
                      </a:r>
                      <a:endParaRPr dirty="0"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25.08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비선형이어도 넘을 수 없다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배포 baseline (End2End U-Net)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25.02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그 상한에 붙어 있다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131A19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우리 최종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131A1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30.44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 dirty="0" err="1">
                          <a:solidFill>
                            <a:srgbClr val="131A1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원뿔을 실제로 메우고 있다</a:t>
                      </a:r>
                      <a:endParaRPr dirty="0"/>
                    </a:p>
                  </a:txBody>
                  <a:tcPr marL="82300" marR="82300" marT="27425" marB="27425" anchor="ctr">
                    <a:solidFill>
                      <a:srgbClr val="ECF5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53" name="Google Shape;253;p7"/>
          <p:cNvSpPr/>
          <p:nvPr/>
        </p:nvSpPr>
        <p:spPr>
          <a:xfrm>
            <a:off x="7223760" y="1645920"/>
            <a:ext cx="4325112" cy="219456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 cap="flat" cmpd="sng">
            <a:solidFill>
              <a:srgbClr val="0B6E5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Google Shape;254;p7"/>
          <p:cNvSpPr txBox="1"/>
          <p:nvPr/>
        </p:nvSpPr>
        <p:spPr>
          <a:xfrm>
            <a:off x="7452360" y="1828800"/>
            <a:ext cx="3657600" cy="1920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131A19"/>
                </a:solidFill>
                <a:latin typeface="Malgun Gothic"/>
                <a:ea typeface="Malgun Gothic"/>
                <a:cs typeface="Malgun Gothic"/>
                <a:sym typeface="Malgun Gothic"/>
              </a:rPr>
              <a:t>천장이 두 개 있다.</a:t>
            </a:r>
            <a:endParaRPr/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 b="1" i="0" u="none" strike="noStrike" cap="none">
              <a:solidFill>
                <a:srgbClr val="131A19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3C4947"/>
                </a:solidFill>
                <a:latin typeface="Malgun Gothic"/>
                <a:ea typeface="Malgun Gothic"/>
                <a:cs typeface="Malgun Gothic"/>
                <a:sym typeface="Malgun Gothic"/>
              </a:rPr>
              <a:t>선형은 21.95 에서 끝난다.</a:t>
            </a:r>
            <a:endParaRPr/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3C4947"/>
                </a:solidFill>
                <a:latin typeface="Malgun Gothic"/>
                <a:ea typeface="Malgun Gothic"/>
                <a:cs typeface="Malgun Gothic"/>
                <a:sym typeface="Malgun Gothic"/>
              </a:rPr>
              <a:t>원뿔을 포기하면 비선형이라도</a:t>
            </a:r>
            <a:endParaRPr/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131A19"/>
                </a:solidFill>
                <a:latin typeface="Malgun Gothic"/>
                <a:ea typeface="Malgun Gothic"/>
                <a:cs typeface="Malgun Gothic"/>
                <a:sym typeface="Malgun Gothic"/>
              </a:rPr>
              <a:t>25.08 이 한계다 —</a:t>
            </a:r>
            <a:endParaRPr/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3C4947"/>
                </a:solidFill>
                <a:latin typeface="Malgun Gothic"/>
                <a:ea typeface="Malgun Gothic"/>
                <a:cs typeface="Malgun Gothic"/>
                <a:sym typeface="Malgun Gothic"/>
              </a:rPr>
              <a:t>우리 오차(정답의 0.77%)가</a:t>
            </a:r>
            <a:endParaRPr/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3C4947"/>
                </a:solidFill>
                <a:latin typeface="Malgun Gothic"/>
                <a:ea typeface="Malgun Gothic"/>
                <a:cs typeface="Malgun Gothic"/>
                <a:sym typeface="Malgun Gothic"/>
              </a:rPr>
              <a:t>원뿔에 든 정답(2.24%)보다 작다.</a:t>
            </a:r>
            <a:endParaRPr/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 b="0" i="0" u="none" strike="noStrike" cap="none">
              <a:solidFill>
                <a:srgbClr val="3C4947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131A19"/>
                </a:solidFill>
                <a:latin typeface="Malgun Gothic"/>
                <a:ea typeface="Malgun Gothic"/>
                <a:cs typeface="Malgun Gothic"/>
                <a:sym typeface="Malgun Gothic"/>
              </a:rPr>
              <a:t>그러니 30.44 는 원뿔의 65% 이상을</a:t>
            </a:r>
            <a:endParaRPr/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131A19"/>
                </a:solidFill>
                <a:latin typeface="Malgun Gothic"/>
                <a:ea typeface="Malgun Gothic"/>
                <a:cs typeface="Malgun Gothic"/>
                <a:sym typeface="Malgun Gothic"/>
              </a:rPr>
              <a:t>메웠다는 얘기다.</a:t>
            </a:r>
            <a:endParaRPr/>
          </a:p>
        </p:txBody>
      </p:sp>
      <p:sp>
        <p:nvSpPr>
          <p:cNvPr id="255" name="Google Shape;255;p7"/>
          <p:cNvSpPr txBox="1"/>
          <p:nvPr/>
        </p:nvSpPr>
        <p:spPr>
          <a:xfrm>
            <a:off x="822960" y="4069080"/>
            <a:ext cx="105156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0B6E5E"/>
                </a:solidFill>
                <a:latin typeface="Malgun Gothic"/>
                <a:ea typeface="Malgun Gothic"/>
                <a:cs typeface="Malgun Gothic"/>
                <a:sym typeface="Malgun Gothic"/>
              </a:rPr>
              <a:t>왜 정답을 봐도 완벽하지 못한가</a:t>
            </a:r>
            <a:endParaRPr/>
          </a:p>
        </p:txBody>
      </p:sp>
      <p:graphicFrame>
        <p:nvGraphicFramePr>
          <p:cNvPr id="256" name="Google Shape;256;p7"/>
          <p:cNvGraphicFramePr/>
          <p:nvPr/>
        </p:nvGraphicFramePr>
        <p:xfrm>
          <a:off x="822960" y="4480560"/>
          <a:ext cx="10515600" cy="1371625"/>
        </p:xfrm>
        <a:graphic>
          <a:graphicData uri="http://schemas.openxmlformats.org/drawingml/2006/table">
            <a:tbl>
              <a:tblPr firstRow="1" bandRow="1">
                <a:noFill/>
                <a:tableStyleId>{7DE65E82-E5E6-4290-B14A-9E70F09EAB91}</a:tableStyleId>
              </a:tblPr>
              <a:tblGrid>
                <a:gridCol w="23774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1381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1" u="none" strike="noStrike" cap="none">
                          <a:solidFill>
                            <a:srgbClr val="131A19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이유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1" u="none" strike="noStrike" cap="none">
                          <a:solidFill>
                            <a:srgbClr val="131A1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설명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DCED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u="none" strike="noStrike" cap="none">
                          <a:solidFill>
                            <a:srgbClr val="3C494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위상은 모른다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파워 스펙트럼은 '어느 굵기 무늬가 얼마나' 만 안다. '어디에 있는지' 는 위상이 담고 있다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u="none" strike="noStrike" cap="none">
                          <a:solidFill>
                            <a:srgbClr val="3C494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곱하기밖에 못 한다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F̂(k) = W(k)·G(k). 측정치에 없는 것은 어떤 수를 곱해도 안 나온다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u="none" strike="noStrike" cap="none">
                          <a:solidFill>
                            <a:srgbClr val="3C494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오차의 32% 는 버린 주파수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주파수의 89.2% 가 노이즈가 더 세다. 거기선 버리는 게 최선이고, 버린 만큼 오차로 남는다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u="none" strike="noStrike" cap="none">
                          <a:solidFill>
                            <a:srgbClr val="3C494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오차의 68% 는 새어든 노이즈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살린 주파수에서도 신호를 다 살리면서 노이즈를 다 막을 수는 없다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8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none" strike="noStrike" cap="none">
                <a:solidFill>
                  <a:srgbClr val="0B6E5E"/>
                </a:solidFill>
                <a:latin typeface="Consolas"/>
                <a:ea typeface="Consolas"/>
                <a:cs typeface="Consolas"/>
                <a:sym typeface="Consolas"/>
              </a:rPr>
              <a:t>시도 ②</a:t>
            </a:r>
            <a:endParaRPr/>
          </a:p>
        </p:txBody>
      </p:sp>
      <p:sp>
        <p:nvSpPr>
          <p:cNvPr id="262" name="Google Shape;262;p8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 dirty="0" err="1">
                <a:solidFill>
                  <a:srgbClr val="131A19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시도 ② — DC-Net. 2일차 최고 구조를 그대로</a:t>
            </a:r>
            <a:endParaRPr dirty="0"/>
          </a:p>
        </p:txBody>
      </p:sp>
      <p:sp>
        <p:nvSpPr>
          <p:cNvPr id="263" name="Google Shape;263;p8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66756F"/>
                </a:solidFill>
                <a:latin typeface="Malgun Gothic"/>
                <a:ea typeface="Malgun Gothic"/>
                <a:cs typeface="Malgun Gothic"/>
                <a:sym typeface="Malgun Gothic"/>
              </a:rPr>
              <a:t>2일차 42.93 dB → 3일차 14.80 dB</a:t>
            </a:r>
            <a:endParaRPr/>
          </a:p>
        </p:txBody>
      </p:sp>
      <p:sp>
        <p:nvSpPr>
          <p:cNvPr id="264" name="Google Shape;264;p8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8"/>
          <p:cNvSpPr txBox="1"/>
          <p:nvPr/>
        </p:nvSpPr>
        <p:spPr>
          <a:xfrm>
            <a:off x="822960" y="1600200"/>
            <a:ext cx="105156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>
                <a:solidFill>
                  <a:srgbClr val="3C4947"/>
                </a:solidFill>
                <a:latin typeface="Malgun Gothic"/>
                <a:ea typeface="Malgun Gothic"/>
                <a:cs typeface="Malgun Gothic"/>
                <a:sym typeface="Malgun Gothic"/>
              </a:rPr>
              <a:t>hard DC 는 |D|&gt;τ 인 주파수를 G/D 로 못박는다. 그런데 G = D·F + N 이므로</a:t>
            </a:r>
            <a:endParaRPr dirty="0"/>
          </a:p>
        </p:txBody>
      </p:sp>
      <p:sp>
        <p:nvSpPr>
          <p:cNvPr id="266" name="Google Shape;266;p8"/>
          <p:cNvSpPr/>
          <p:nvPr/>
        </p:nvSpPr>
        <p:spPr>
          <a:xfrm>
            <a:off x="2377440" y="2057400"/>
            <a:ext cx="7406640" cy="64008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 cap="flat" cmpd="sng">
            <a:solidFill>
              <a:srgbClr val="0B6E5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" name="Google Shape;267;p8"/>
          <p:cNvSpPr txBox="1"/>
          <p:nvPr/>
        </p:nvSpPr>
        <p:spPr>
          <a:xfrm>
            <a:off x="2468880" y="2194560"/>
            <a:ext cx="722376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131A19"/>
                </a:solidFill>
                <a:latin typeface="Consolas"/>
                <a:ea typeface="Consolas"/>
                <a:cs typeface="Consolas"/>
                <a:sym typeface="Consolas"/>
              </a:rPr>
              <a:t>G/D  =  F  +  N/D        ← 증폭된 노이즈를 못박는다</a:t>
            </a:r>
            <a:endParaRPr/>
          </a:p>
        </p:txBody>
      </p:sp>
      <p:sp>
        <p:nvSpPr>
          <p:cNvPr id="268" name="Google Shape;268;p8"/>
          <p:cNvSpPr txBox="1"/>
          <p:nvPr/>
        </p:nvSpPr>
        <p:spPr>
          <a:xfrm>
            <a:off x="822960" y="2788920"/>
            <a:ext cx="105156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66756F"/>
                </a:solidFill>
                <a:latin typeface="Malgun Gothic"/>
                <a:ea typeface="Malgun Gothic"/>
                <a:cs typeface="Malgun Gothic"/>
                <a:sym typeface="Malgun Gothic"/>
              </a:rPr>
              <a:t>네트워크는 그 주파수를 손댈 수가 없다. 2일차엔 N=0 이라 문제가 없었다.</a:t>
            </a:r>
            <a:endParaRPr/>
          </a:p>
        </p:txBody>
      </p:sp>
      <p:graphicFrame>
        <p:nvGraphicFramePr>
          <p:cNvPr id="269" name="Google Shape;269;p8"/>
          <p:cNvGraphicFramePr/>
          <p:nvPr/>
        </p:nvGraphicFramePr>
        <p:xfrm>
          <a:off x="822960" y="3291840"/>
          <a:ext cx="10515575" cy="1097300"/>
        </p:xfrm>
        <a:graphic>
          <a:graphicData uri="http://schemas.openxmlformats.org/drawingml/2006/table">
            <a:tbl>
              <a:tblPr firstRow="1" bandRow="1">
                <a:noFill/>
                <a:tableStyleId>{7DE65E82-E5E6-4290-B14A-9E70F09EAB91}</a:tableStyleId>
              </a:tblPr>
              <a:tblGrid>
                <a:gridCol w="3108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8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131A19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τ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131A1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못박는 주파수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131A1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경계 노이즈 증폭 1/τ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131A1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결과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DCED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0.005 (2일차 최적 방향)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99.2%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200배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폭발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0.05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92.0%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20배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14.80 dB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0.2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66.4%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5배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DC 가 무의미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70" name="Google Shape;270;p8"/>
          <p:cNvSpPr/>
          <p:nvPr/>
        </p:nvSpPr>
        <p:spPr>
          <a:xfrm>
            <a:off x="822960" y="4800600"/>
            <a:ext cx="10515600" cy="109728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 cap="flat" cmpd="sng">
            <a:solidFill>
              <a:srgbClr val="0B6E5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" name="Google Shape;271;p8"/>
          <p:cNvSpPr txBox="1"/>
          <p:nvPr/>
        </p:nvSpPr>
        <p:spPr>
          <a:xfrm>
            <a:off x="1051560" y="4983480"/>
            <a:ext cx="1005840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u="none" strike="noStrike" cap="none">
                <a:solidFill>
                  <a:srgbClr val="131A19"/>
                </a:solidFill>
                <a:latin typeface="Malgun Gothic"/>
                <a:ea typeface="Malgun Gothic"/>
                <a:cs typeface="Malgun Gothic"/>
                <a:sym typeface="Malgun Gothic"/>
              </a:rPr>
              <a:t>τ 를 키우면 DC 가 의미가 없어지고, 줄이면 폭발한다. 3일차엔 쓸만한 τ 가 없다.</a:t>
            </a:r>
            <a:endParaRPr/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3C4947"/>
                </a:solidFill>
                <a:latin typeface="Malgun Gothic"/>
                <a:ea typeface="Malgun Gothic"/>
                <a:cs typeface="Malgun Gothic"/>
                <a:sym typeface="Malgun Gothic"/>
              </a:rPr>
              <a:t>못박는 대신 무게를 주면 된다. 그게 soft DC 고,</a:t>
            </a:r>
            <a:endParaRPr/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3C4947"/>
                </a:solidFill>
                <a:latin typeface="Malgun Gothic"/>
                <a:ea typeface="Malgun Gothic"/>
                <a:cs typeface="Malgun Gothic"/>
                <a:sym typeface="Malgun Gothic"/>
              </a:rPr>
              <a:t>전개형이 그 형태다 (λ→0 이면 DC-Net 과 같아진다).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9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none" strike="noStrike" cap="none">
                <a:solidFill>
                  <a:srgbClr val="0B6E5E"/>
                </a:solidFill>
                <a:latin typeface="Consolas"/>
                <a:ea typeface="Consolas"/>
                <a:cs typeface="Consolas"/>
                <a:sym typeface="Consolas"/>
              </a:rPr>
              <a:t>시도 ③</a:t>
            </a:r>
            <a:endParaRPr/>
          </a:p>
        </p:txBody>
      </p:sp>
      <p:sp>
        <p:nvSpPr>
          <p:cNvPr id="277" name="Google Shape;277;p9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131A19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시도 ③ — 2단 분해. 1일차 문제로 환원하기</a:t>
            </a:r>
            <a:endParaRPr/>
          </a:p>
        </p:txBody>
      </p:sp>
      <p:sp>
        <p:nvSpPr>
          <p:cNvPr id="278" name="Google Shape;278;p9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66756F"/>
                </a:solidFill>
                <a:latin typeface="Malgun Gothic"/>
                <a:ea typeface="Malgun Gothic"/>
                <a:cs typeface="Malgun Gothic"/>
                <a:sym typeface="Malgun Gothic"/>
              </a:rPr>
              <a:t>노이즈가 흐림 뒤에 붙으니, 측정치에서 보면 1일차 문제다</a:t>
            </a:r>
            <a:endParaRPr/>
          </a:p>
        </p:txBody>
      </p:sp>
      <p:sp>
        <p:nvSpPr>
          <p:cNvPr id="279" name="Google Shape;279;p9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" name="Google Shape;280;p9"/>
          <p:cNvSpPr/>
          <p:nvPr/>
        </p:nvSpPr>
        <p:spPr>
          <a:xfrm>
            <a:off x="1463040" y="1645920"/>
            <a:ext cx="2011680" cy="118872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 cap="flat" cmpd="sng">
            <a:solidFill>
              <a:srgbClr val="DCE3E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" name="Google Shape;281;p9"/>
          <p:cNvSpPr txBox="1"/>
          <p:nvPr/>
        </p:nvSpPr>
        <p:spPr>
          <a:xfrm>
            <a:off x="1554480" y="1755648"/>
            <a:ext cx="182880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1" i="0" u="none" strike="noStrike" cap="none">
                <a:solidFill>
                  <a:srgbClr val="131A19"/>
                </a:solidFill>
                <a:latin typeface="Malgun Gothic"/>
                <a:ea typeface="Malgun Gothic"/>
                <a:cs typeface="Malgun Gothic"/>
                <a:sym typeface="Malgun Gothic"/>
              </a:rPr>
              <a:t>측정치 g</a:t>
            </a:r>
            <a:endParaRPr/>
          </a:p>
        </p:txBody>
      </p:sp>
      <p:sp>
        <p:nvSpPr>
          <p:cNvPr id="282" name="Google Shape;282;p9"/>
          <p:cNvSpPr txBox="1"/>
          <p:nvPr/>
        </p:nvSpPr>
        <p:spPr>
          <a:xfrm>
            <a:off x="1554480" y="2103120"/>
            <a:ext cx="182880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66756F"/>
                </a:solidFill>
                <a:latin typeface="Consolas"/>
                <a:ea typeface="Consolas"/>
                <a:cs typeface="Consolas"/>
                <a:sym typeface="Consolas"/>
              </a:rPr>
              <a:t>h*f + n</a:t>
            </a:r>
            <a:endParaRPr/>
          </a:p>
        </p:txBody>
      </p:sp>
      <p:sp>
        <p:nvSpPr>
          <p:cNvPr id="283" name="Google Shape;283;p9"/>
          <p:cNvSpPr/>
          <p:nvPr/>
        </p:nvSpPr>
        <p:spPr>
          <a:xfrm>
            <a:off x="3749040" y="1645920"/>
            <a:ext cx="2011680" cy="118872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 cap="flat" cmpd="sng">
            <a:solidFill>
              <a:srgbClr val="DCE3E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" name="Google Shape;284;p9"/>
          <p:cNvSpPr txBox="1"/>
          <p:nvPr/>
        </p:nvSpPr>
        <p:spPr>
          <a:xfrm>
            <a:off x="3840480" y="1755648"/>
            <a:ext cx="182880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1" i="0" u="none" strike="noStrike" cap="none">
                <a:solidFill>
                  <a:srgbClr val="131A19"/>
                </a:solidFill>
                <a:latin typeface="Malgun Gothic"/>
                <a:ea typeface="Malgun Gothic"/>
                <a:cs typeface="Malgun Gothic"/>
                <a:sym typeface="Malgun Gothic"/>
              </a:rPr>
              <a:t>디노이저</a:t>
            </a:r>
            <a:endParaRPr/>
          </a:p>
        </p:txBody>
      </p:sp>
      <p:sp>
        <p:nvSpPr>
          <p:cNvPr id="285" name="Google Shape;285;p9"/>
          <p:cNvSpPr txBox="1"/>
          <p:nvPr/>
        </p:nvSpPr>
        <p:spPr>
          <a:xfrm>
            <a:off x="3840480" y="2103120"/>
            <a:ext cx="182880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66756F"/>
                </a:solidFill>
                <a:latin typeface="Consolas"/>
                <a:ea typeface="Consolas"/>
                <a:cs typeface="Consolas"/>
                <a:sym typeface="Consolas"/>
              </a:rPr>
              <a:t>z ≈ h*f1일차 문제</a:t>
            </a:r>
            <a:br>
              <a:rPr lang="en-US" sz="1050" b="0" i="0" u="none" strike="noStrike" cap="none">
                <a:solidFill>
                  <a:srgbClr val="66756F"/>
                </a:solidFill>
                <a:latin typeface="Consolas"/>
                <a:ea typeface="Consolas"/>
                <a:cs typeface="Consolas"/>
                <a:sym typeface="Consolas"/>
              </a:rPr>
            </a:br>
            <a:endParaRPr/>
          </a:p>
        </p:txBody>
      </p:sp>
      <p:sp>
        <p:nvSpPr>
          <p:cNvPr id="286" name="Google Shape;286;p9"/>
          <p:cNvSpPr/>
          <p:nvPr/>
        </p:nvSpPr>
        <p:spPr>
          <a:xfrm>
            <a:off x="6035040" y="1645920"/>
            <a:ext cx="2011680" cy="118872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 cap="flat" cmpd="sng">
            <a:solidFill>
              <a:srgbClr val="DCE3E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7" name="Google Shape;287;p9"/>
          <p:cNvSpPr txBox="1"/>
          <p:nvPr/>
        </p:nvSpPr>
        <p:spPr>
          <a:xfrm>
            <a:off x="6126480" y="1755648"/>
            <a:ext cx="182880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1" i="0" u="none" strike="noStrike" cap="none">
                <a:solidFill>
                  <a:srgbClr val="131A19"/>
                </a:solidFill>
                <a:latin typeface="Malgun Gothic"/>
                <a:ea typeface="Malgun Gothic"/>
                <a:cs typeface="Malgun Gothic"/>
                <a:sym typeface="Malgun Gothic"/>
              </a:rPr>
              <a:t>역필터</a:t>
            </a:r>
            <a:endParaRPr/>
          </a:p>
        </p:txBody>
      </p:sp>
      <p:sp>
        <p:nvSpPr>
          <p:cNvPr id="288" name="Google Shape;288;p9"/>
          <p:cNvSpPr txBox="1"/>
          <p:nvPr/>
        </p:nvSpPr>
        <p:spPr>
          <a:xfrm>
            <a:off x="6126480" y="2103120"/>
            <a:ext cx="182880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 dirty="0">
                <a:solidFill>
                  <a:srgbClr val="66756F"/>
                </a:solidFill>
                <a:latin typeface="Consolas"/>
                <a:ea typeface="Consolas"/>
                <a:cs typeface="Consolas"/>
                <a:sym typeface="Consolas"/>
              </a:rPr>
              <a:t>x = D·Z/(D²+λ)2일차 답</a:t>
            </a:r>
            <a:br>
              <a:rPr lang="en-US" sz="1050" b="0" i="0" u="none" strike="noStrike" cap="none" dirty="0">
                <a:solidFill>
                  <a:srgbClr val="66756F"/>
                </a:solidFill>
                <a:latin typeface="Consolas"/>
                <a:ea typeface="Consolas"/>
                <a:cs typeface="Consolas"/>
                <a:sym typeface="Consolas"/>
              </a:rPr>
            </a:br>
            <a:endParaRPr dirty="0"/>
          </a:p>
        </p:txBody>
      </p:sp>
      <p:sp>
        <p:nvSpPr>
          <p:cNvPr id="289" name="Google Shape;289;p9"/>
          <p:cNvSpPr/>
          <p:nvPr/>
        </p:nvSpPr>
        <p:spPr>
          <a:xfrm>
            <a:off x="8321040" y="1645920"/>
            <a:ext cx="2011680" cy="118872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 cap="flat" cmpd="sng">
            <a:solidFill>
              <a:srgbClr val="DCE3E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0" name="Google Shape;290;p9"/>
          <p:cNvSpPr txBox="1"/>
          <p:nvPr/>
        </p:nvSpPr>
        <p:spPr>
          <a:xfrm>
            <a:off x="8412480" y="1755648"/>
            <a:ext cx="182880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1" i="0" u="none" strike="noStrike" cap="none">
                <a:solidFill>
                  <a:srgbClr val="131A19"/>
                </a:solidFill>
                <a:latin typeface="Malgun Gothic"/>
                <a:ea typeface="Malgun Gothic"/>
                <a:cs typeface="Malgun Gothic"/>
                <a:sym typeface="Malgun Gothic"/>
              </a:rPr>
              <a:t>복원</a:t>
            </a:r>
            <a:endParaRPr/>
          </a:p>
        </p:txBody>
      </p:sp>
      <p:sp>
        <p:nvSpPr>
          <p:cNvPr id="291" name="Google Shape;291;p9"/>
          <p:cNvSpPr txBox="1"/>
          <p:nvPr/>
        </p:nvSpPr>
        <p:spPr>
          <a:xfrm>
            <a:off x="8412480" y="2103120"/>
            <a:ext cx="182880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66756F"/>
                </a:solidFill>
                <a:latin typeface="Consolas"/>
                <a:ea typeface="Consolas"/>
                <a:cs typeface="Consolas"/>
                <a:sym typeface="Consolas"/>
              </a:rPr>
              <a:t>15.6 dB실패</a:t>
            </a:r>
            <a:br>
              <a:rPr lang="en-US" sz="1050" b="0" i="0" u="none" strike="noStrike" cap="none">
                <a:solidFill>
                  <a:srgbClr val="66756F"/>
                </a:solidFill>
                <a:latin typeface="Consolas"/>
                <a:ea typeface="Consolas"/>
                <a:cs typeface="Consolas"/>
                <a:sym typeface="Consolas"/>
              </a:rPr>
            </a:br>
            <a:endParaRPr/>
          </a:p>
        </p:txBody>
      </p:sp>
      <p:graphicFrame>
        <p:nvGraphicFramePr>
          <p:cNvPr id="292" name="Google Shape;292;p9"/>
          <p:cNvGraphicFramePr/>
          <p:nvPr/>
        </p:nvGraphicFramePr>
        <p:xfrm>
          <a:off x="822960" y="3063240"/>
          <a:ext cx="5852150" cy="1371625"/>
        </p:xfrm>
        <a:graphic>
          <a:graphicData uri="http://schemas.openxmlformats.org/drawingml/2006/table">
            <a:tbl>
              <a:tblPr firstRow="1" bandRow="1">
                <a:noFill/>
                <a:tableStyleId>{7DE65E82-E5E6-4290-B14A-9E70F09EAB91}</a:tableStyleId>
              </a:tblPr>
              <a:tblGrid>
                <a:gridCol w="30147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87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87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131A19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측정치 영역에서 지운 정도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131A1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→ 최종 PSNR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131A1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→ 최종 SSIM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DCED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25 dB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20.24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0.5572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35 dB  ← 우리가 도달한 곳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26.83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0.7809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40 dB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29.86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0.8626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131A19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완벽 (오차 0)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131A1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71.47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131A1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0.9999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ECF5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93" name="Google Shape;293;p9"/>
          <p:cNvSpPr/>
          <p:nvPr/>
        </p:nvSpPr>
        <p:spPr>
          <a:xfrm>
            <a:off x="7040880" y="3063240"/>
            <a:ext cx="4297680" cy="155448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 cap="flat" cmpd="sng">
            <a:solidFill>
              <a:srgbClr val="0B6E5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" name="Google Shape;294;p9"/>
          <p:cNvSpPr txBox="1"/>
          <p:nvPr/>
        </p:nvSpPr>
        <p:spPr>
          <a:xfrm>
            <a:off x="7269480" y="3246120"/>
            <a:ext cx="3840480" cy="1280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1" i="0" u="none" strike="noStrike" cap="none">
                <a:solidFill>
                  <a:srgbClr val="131A19"/>
                </a:solidFill>
                <a:latin typeface="Malgun Gothic"/>
                <a:ea typeface="Malgun Gothic"/>
                <a:cs typeface="Malgun Gothic"/>
                <a:sym typeface="Malgun Gothic"/>
              </a:rPr>
              <a:t>생각한 대로 곡선은 나왔다.</a:t>
            </a:r>
            <a:endParaRPr/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0" i="0" u="none" strike="noStrike" cap="none">
                <a:solidFill>
                  <a:srgbClr val="3C4947"/>
                </a:solidFill>
                <a:latin typeface="Malgun Gothic"/>
                <a:ea typeface="Malgun Gothic"/>
                <a:cs typeface="Malgun Gothic"/>
                <a:sym typeface="Malgun Gothic"/>
              </a:rPr>
              <a:t>측정치에서 노이즈만 완벽히 지우면</a:t>
            </a:r>
            <a:endParaRPr/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0" i="0" u="none" strike="noStrike" cap="none">
                <a:solidFill>
                  <a:srgbClr val="3C4947"/>
                </a:solidFill>
                <a:latin typeface="Malgun Gothic"/>
                <a:ea typeface="Malgun Gothic"/>
                <a:cs typeface="Malgun Gothic"/>
                <a:sym typeface="Malgun Gothic"/>
              </a:rPr>
              <a:t>2일차 답이 71 dB 를 낸다.</a:t>
            </a:r>
            <a:endParaRPr/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0" i="0" u="none" strike="noStrike" cap="none">
                <a:solidFill>
                  <a:srgbClr val="3C4947"/>
                </a:solidFill>
                <a:latin typeface="Malgun Gothic"/>
                <a:ea typeface="Malgun Gothic"/>
                <a:cs typeface="Malgun Gothic"/>
                <a:sym typeface="Malgun Gothic"/>
              </a:rPr>
              <a:t>구조 자체는 문제가 없다.</a:t>
            </a:r>
            <a:endParaRPr/>
          </a:p>
        </p:txBody>
      </p:sp>
      <p:sp>
        <p:nvSpPr>
          <p:cNvPr id="295" name="Google Shape;295;p9"/>
          <p:cNvSpPr/>
          <p:nvPr/>
        </p:nvSpPr>
        <p:spPr>
          <a:xfrm>
            <a:off x="822960" y="4846320"/>
            <a:ext cx="10515600" cy="105156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 cap="flat" cmpd="sng">
            <a:solidFill>
              <a:srgbClr val="8C4A6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" name="Google Shape;296;p9"/>
          <p:cNvSpPr txBox="1"/>
          <p:nvPr/>
        </p:nvSpPr>
        <p:spPr>
          <a:xfrm>
            <a:off x="1051560" y="5010912"/>
            <a:ext cx="1005840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1" i="0" u="none" strike="noStrike" cap="none">
                <a:solidFill>
                  <a:srgbClr val="131A19"/>
                </a:solidFill>
                <a:latin typeface="Malgun Gothic"/>
                <a:ea typeface="Malgun Gothic"/>
                <a:cs typeface="Malgun Gothic"/>
                <a:sym typeface="Malgun Gothic"/>
              </a:rPr>
              <a:t>그런데 그게 얼마나 어려운 일인지를 안 따져봤다. 1일차는 25.95 → 37.42 (+11.5 dB) 였는데 여기서는 13.50 → 40 (+26.5 dB) 를 요구한다.</a:t>
            </a:r>
            <a:endParaRPr/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0" i="0" u="none" strike="noStrike" cap="none">
                <a:solidFill>
                  <a:srgbClr val="3C4947"/>
                </a:solidFill>
                <a:latin typeface="Malgun Gothic"/>
                <a:ea typeface="Malgun Gothic"/>
                <a:cs typeface="Malgun Gothic"/>
                <a:sym typeface="Malgun Gothic"/>
              </a:rPr>
              <a:t>역필터가 네트워크 오차를 1/D 로 키우고, 뭉개진 h*f 는 선명한 f 보다 사전지식이 약하다. 1일차보다 훨씬 어려운 1일차 문제였다.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10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none" strike="noStrike" cap="none">
                <a:solidFill>
                  <a:srgbClr val="0B6E5E"/>
                </a:solidFill>
                <a:latin typeface="Consolas"/>
                <a:ea typeface="Consolas"/>
                <a:cs typeface="Consolas"/>
                <a:sym typeface="Consolas"/>
              </a:rPr>
              <a:t>방법</a:t>
            </a:r>
            <a:endParaRPr/>
          </a:p>
        </p:txBody>
      </p:sp>
      <p:sp>
        <p:nvSpPr>
          <p:cNvPr id="302" name="Google Shape;302;p10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131A19"/>
                </a:solidFill>
                <a:latin typeface="Malgun Gothic"/>
                <a:ea typeface="Malgun Gothic"/>
                <a:cs typeface="Malgun Gothic"/>
                <a:sym typeface="Malgun Gothic"/>
              </a:rPr>
              <a:t>우리 방법 — 전개형</a:t>
            </a:r>
            <a:endParaRPr/>
          </a:p>
        </p:txBody>
      </p:sp>
      <p:sp>
        <p:nvSpPr>
          <p:cNvPr id="303" name="Google Shape;303;p10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66756F"/>
                </a:solidFill>
                <a:latin typeface="Malgun Gothic"/>
                <a:ea typeface="Malgun Gothic"/>
                <a:cs typeface="Malgun Gothic"/>
                <a:sym typeface="Malgun Gothic"/>
              </a:rPr>
              <a:t>데이터 정합과 사전지식을 번갈아 4번</a:t>
            </a:r>
            <a:endParaRPr/>
          </a:p>
        </p:txBody>
      </p:sp>
      <p:sp>
        <p:nvSpPr>
          <p:cNvPr id="304" name="Google Shape;304;p10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5" name="Google Shape;305;p10"/>
          <p:cNvSpPr/>
          <p:nvPr/>
        </p:nvSpPr>
        <p:spPr>
          <a:xfrm>
            <a:off x="685800" y="1828800"/>
            <a:ext cx="1874519" cy="146304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 cap="flat" cmpd="sng">
            <a:solidFill>
              <a:srgbClr val="DCE3E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6" name="Google Shape;306;p10"/>
          <p:cNvSpPr txBox="1"/>
          <p:nvPr/>
        </p:nvSpPr>
        <p:spPr>
          <a:xfrm>
            <a:off x="758952" y="1956816"/>
            <a:ext cx="173736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1" i="0" u="none" strike="noStrike" cap="none">
                <a:solidFill>
                  <a:srgbClr val="131A19"/>
                </a:solidFill>
                <a:latin typeface="Malgun Gothic"/>
                <a:ea typeface="Malgun Gothic"/>
                <a:cs typeface="Malgun Gothic"/>
                <a:sym typeface="Malgun Gothic"/>
              </a:rPr>
              <a:t>측정치 g</a:t>
            </a:r>
            <a:endParaRPr/>
          </a:p>
        </p:txBody>
      </p:sp>
      <p:sp>
        <p:nvSpPr>
          <p:cNvPr id="307" name="Google Shape;307;p10"/>
          <p:cNvSpPr txBox="1"/>
          <p:nvPr/>
        </p:nvSpPr>
        <p:spPr>
          <a:xfrm>
            <a:off x="758952" y="2414016"/>
            <a:ext cx="173736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66756F"/>
                </a:solidFill>
                <a:latin typeface="Consolas"/>
                <a:ea typeface="Consolas"/>
                <a:cs typeface="Consolas"/>
                <a:sym typeface="Consolas"/>
              </a:rPr>
              <a:t>h*f + n</a:t>
            </a:r>
            <a:endParaRPr/>
          </a:p>
        </p:txBody>
      </p:sp>
      <p:sp>
        <p:nvSpPr>
          <p:cNvPr id="308" name="Google Shape;308;p10"/>
          <p:cNvSpPr/>
          <p:nvPr/>
        </p:nvSpPr>
        <p:spPr>
          <a:xfrm>
            <a:off x="2596896" y="2450592"/>
            <a:ext cx="219456" cy="237744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0B6E5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9" name="Google Shape;309;p10"/>
          <p:cNvSpPr/>
          <p:nvPr/>
        </p:nvSpPr>
        <p:spPr>
          <a:xfrm>
            <a:off x="2880360" y="1828800"/>
            <a:ext cx="1874519" cy="146304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 cap="flat" cmpd="sng">
            <a:solidFill>
              <a:srgbClr val="DCE3E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0" name="Google Shape;310;p10"/>
          <p:cNvSpPr txBox="1"/>
          <p:nvPr/>
        </p:nvSpPr>
        <p:spPr>
          <a:xfrm>
            <a:off x="2953512" y="1956816"/>
            <a:ext cx="173736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1" i="0" u="none" strike="noStrike" cap="none">
                <a:solidFill>
                  <a:srgbClr val="131A19"/>
                </a:solidFill>
                <a:latin typeface="Malgun Gothic"/>
                <a:ea typeface="Malgun Gothic"/>
                <a:cs typeface="Malgun Gothic"/>
                <a:sym typeface="Malgun Gothic"/>
              </a:rPr>
              <a:t>Wiener 초기화</a:t>
            </a:r>
            <a:endParaRPr/>
          </a:p>
        </p:txBody>
      </p:sp>
      <p:sp>
        <p:nvSpPr>
          <p:cNvPr id="311" name="Google Shape;311;p10"/>
          <p:cNvSpPr txBox="1"/>
          <p:nvPr/>
        </p:nvSpPr>
        <p:spPr>
          <a:xfrm>
            <a:off x="2953512" y="2414016"/>
            <a:ext cx="173736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66756F"/>
                </a:solidFill>
                <a:latin typeface="Consolas"/>
                <a:ea typeface="Consolas"/>
                <a:cs typeface="Consolas"/>
                <a:sym typeface="Consolas"/>
              </a:rPr>
              <a:t>x₀ = D·G   /(D²+λ₀)</a:t>
            </a:r>
            <a:br>
              <a:rPr lang="en-US" sz="1050" b="0" i="0" u="none" strike="noStrike" cap="none">
                <a:solidFill>
                  <a:srgbClr val="66756F"/>
                </a:solidFill>
                <a:latin typeface="Consolas"/>
                <a:ea typeface="Consolas"/>
                <a:cs typeface="Consolas"/>
                <a:sym typeface="Consolas"/>
              </a:rPr>
            </a:br>
            <a:endParaRPr/>
          </a:p>
        </p:txBody>
      </p:sp>
      <p:sp>
        <p:nvSpPr>
          <p:cNvPr id="312" name="Google Shape;312;p10"/>
          <p:cNvSpPr/>
          <p:nvPr/>
        </p:nvSpPr>
        <p:spPr>
          <a:xfrm>
            <a:off x="4791456" y="2450592"/>
            <a:ext cx="219456" cy="237744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0B6E5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3" name="Google Shape;313;p10"/>
          <p:cNvSpPr/>
          <p:nvPr/>
        </p:nvSpPr>
        <p:spPr>
          <a:xfrm>
            <a:off x="5074920" y="1828800"/>
            <a:ext cx="1874519" cy="146304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 cap="flat" cmpd="sng">
            <a:solidFill>
              <a:srgbClr val="0B6E5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" name="Google Shape;314;p10"/>
          <p:cNvSpPr txBox="1"/>
          <p:nvPr/>
        </p:nvSpPr>
        <p:spPr>
          <a:xfrm>
            <a:off x="5148072" y="1956816"/>
            <a:ext cx="173736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1" i="0" u="none" strike="noStrike" cap="none">
                <a:solidFill>
                  <a:srgbClr val="131A19"/>
                </a:solidFill>
                <a:latin typeface="Malgun Gothic"/>
                <a:ea typeface="Malgun Gothic"/>
                <a:cs typeface="Malgun Gothic"/>
                <a:sym typeface="Malgun Gothic"/>
              </a:rPr>
              <a:t>사전지식DRUNet</a:t>
            </a:r>
            <a:br>
              <a:rPr lang="en-US" sz="1250" b="1" i="0" u="none" strike="noStrike" cap="none">
                <a:solidFill>
                  <a:srgbClr val="131A19"/>
                </a:solidFill>
                <a:latin typeface="Malgun Gothic"/>
                <a:ea typeface="Malgun Gothic"/>
                <a:cs typeface="Malgun Gothic"/>
                <a:sym typeface="Malgun Gothic"/>
              </a:rPr>
            </a:br>
            <a:endParaRPr/>
          </a:p>
        </p:txBody>
      </p:sp>
      <p:sp>
        <p:nvSpPr>
          <p:cNvPr id="315" name="Google Shape;315;p10"/>
          <p:cNvSpPr txBox="1"/>
          <p:nvPr/>
        </p:nvSpPr>
        <p:spPr>
          <a:xfrm>
            <a:off x="5148072" y="2414016"/>
            <a:ext cx="173736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66756F"/>
                </a:solidFill>
                <a:latin typeface="Consolas"/>
                <a:ea typeface="Consolas"/>
                <a:cs typeface="Consolas"/>
                <a:sym typeface="Consolas"/>
              </a:rPr>
              <a:t>z = net(x, σ)σ 는 측정치에서</a:t>
            </a:r>
            <a:br>
              <a:rPr lang="en-US" sz="1050" b="0" i="0" u="none" strike="noStrike" cap="none">
                <a:solidFill>
                  <a:srgbClr val="66756F"/>
                </a:solidFill>
                <a:latin typeface="Consolas"/>
                <a:ea typeface="Consolas"/>
                <a:cs typeface="Consolas"/>
                <a:sym typeface="Consolas"/>
              </a:rPr>
            </a:br>
            <a:endParaRPr/>
          </a:p>
        </p:txBody>
      </p:sp>
      <p:sp>
        <p:nvSpPr>
          <p:cNvPr id="316" name="Google Shape;316;p10"/>
          <p:cNvSpPr/>
          <p:nvPr/>
        </p:nvSpPr>
        <p:spPr>
          <a:xfrm>
            <a:off x="6986016" y="2450592"/>
            <a:ext cx="219456" cy="237744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0B6E5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7" name="Google Shape;317;p10"/>
          <p:cNvSpPr/>
          <p:nvPr/>
        </p:nvSpPr>
        <p:spPr>
          <a:xfrm>
            <a:off x="7269480" y="1828800"/>
            <a:ext cx="1874519" cy="146304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 cap="flat" cmpd="sng">
            <a:solidFill>
              <a:srgbClr val="DCE3E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10"/>
          <p:cNvSpPr txBox="1"/>
          <p:nvPr/>
        </p:nvSpPr>
        <p:spPr>
          <a:xfrm>
            <a:off x="7342632" y="1956816"/>
            <a:ext cx="173736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1" i="0" u="none" strike="noStrike" cap="none">
                <a:solidFill>
                  <a:srgbClr val="131A19"/>
                </a:solidFill>
                <a:latin typeface="Malgun Gothic"/>
                <a:ea typeface="Malgun Gothic"/>
                <a:cs typeface="Malgun Gothic"/>
                <a:sym typeface="Malgun Gothic"/>
              </a:rPr>
              <a:t>데이터 정합</a:t>
            </a:r>
            <a:endParaRPr/>
          </a:p>
        </p:txBody>
      </p:sp>
      <p:sp>
        <p:nvSpPr>
          <p:cNvPr id="319" name="Google Shape;319;p10"/>
          <p:cNvSpPr txBox="1"/>
          <p:nvPr/>
        </p:nvSpPr>
        <p:spPr>
          <a:xfrm>
            <a:off x="7342632" y="2414016"/>
            <a:ext cx="173736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66756F"/>
                </a:solidFill>
                <a:latin typeface="Consolas"/>
                <a:ea typeface="Consolas"/>
                <a:cs typeface="Consolas"/>
                <a:sym typeface="Consolas"/>
              </a:rPr>
              <a:t>x = (D·G+λZ)     /(D²+λ)</a:t>
            </a:r>
            <a:br>
              <a:rPr lang="en-US" sz="1050" b="0" i="0" u="none" strike="noStrike" cap="none">
                <a:solidFill>
                  <a:srgbClr val="66756F"/>
                </a:solidFill>
                <a:latin typeface="Consolas"/>
                <a:ea typeface="Consolas"/>
                <a:cs typeface="Consolas"/>
                <a:sym typeface="Consolas"/>
              </a:rPr>
            </a:br>
            <a:endParaRPr/>
          </a:p>
        </p:txBody>
      </p:sp>
      <p:sp>
        <p:nvSpPr>
          <p:cNvPr id="320" name="Google Shape;320;p10"/>
          <p:cNvSpPr/>
          <p:nvPr/>
        </p:nvSpPr>
        <p:spPr>
          <a:xfrm>
            <a:off x="9180576" y="2450592"/>
            <a:ext cx="219456" cy="237744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0B6E5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10"/>
          <p:cNvSpPr/>
          <p:nvPr/>
        </p:nvSpPr>
        <p:spPr>
          <a:xfrm>
            <a:off x="9464040" y="1828800"/>
            <a:ext cx="1874519" cy="146304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 cap="flat" cmpd="sng">
            <a:solidFill>
              <a:srgbClr val="0B6E5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2" name="Google Shape;322;p10"/>
          <p:cNvSpPr txBox="1"/>
          <p:nvPr/>
        </p:nvSpPr>
        <p:spPr>
          <a:xfrm>
            <a:off x="9537192" y="1956816"/>
            <a:ext cx="173736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1" i="0" u="none" strike="noStrike" cap="none">
                <a:solidFill>
                  <a:srgbClr val="131A19"/>
                </a:solidFill>
                <a:latin typeface="Malgun Gothic"/>
                <a:ea typeface="Malgun Gothic"/>
                <a:cs typeface="Malgun Gothic"/>
                <a:sym typeface="Malgun Gothic"/>
              </a:rPr>
              <a:t>복원 f̂</a:t>
            </a:r>
            <a:endParaRPr/>
          </a:p>
        </p:txBody>
      </p:sp>
      <p:sp>
        <p:nvSpPr>
          <p:cNvPr id="323" name="Google Shape;323;p10"/>
          <p:cNvSpPr txBox="1"/>
          <p:nvPr/>
        </p:nvSpPr>
        <p:spPr>
          <a:xfrm>
            <a:off x="9537192" y="2414016"/>
            <a:ext cx="173736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66756F"/>
                </a:solidFill>
                <a:latin typeface="Consolas"/>
                <a:ea typeface="Consolas"/>
                <a:cs typeface="Consolas"/>
                <a:sym typeface="Consolas"/>
              </a:rPr>
              <a:t>30.44 dB</a:t>
            </a:r>
            <a:endParaRPr/>
          </a:p>
        </p:txBody>
      </p:sp>
      <p:sp>
        <p:nvSpPr>
          <p:cNvPr id="324" name="Google Shape;324;p10"/>
          <p:cNvSpPr txBox="1"/>
          <p:nvPr/>
        </p:nvSpPr>
        <p:spPr>
          <a:xfrm>
            <a:off x="2834640" y="3456432"/>
            <a:ext cx="59436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0B6E5E"/>
                </a:solidFill>
                <a:latin typeface="Consolas"/>
                <a:ea typeface="Consolas"/>
                <a:cs typeface="Consolas"/>
                <a:sym typeface="Consolas"/>
              </a:rPr>
              <a:t>↑____________ 4번 반복 ____________|</a:t>
            </a:r>
            <a:endParaRPr/>
          </a:p>
        </p:txBody>
      </p:sp>
      <p:graphicFrame>
        <p:nvGraphicFramePr>
          <p:cNvPr id="325" name="Google Shape;325;p10"/>
          <p:cNvGraphicFramePr/>
          <p:nvPr/>
        </p:nvGraphicFramePr>
        <p:xfrm>
          <a:off x="822960" y="3931920"/>
          <a:ext cx="10515575" cy="1097300"/>
        </p:xfrm>
        <a:graphic>
          <a:graphicData uri="http://schemas.openxmlformats.org/drawingml/2006/table">
            <a:tbl>
              <a:tblPr firstRow="1" bandRow="1">
                <a:noFill/>
                <a:tableStyleId>{7DE65E82-E5E6-4290-B14A-9E70F09EAB91}</a:tableStyleId>
              </a:tblPr>
              <a:tblGrid>
                <a:gridCol w="21945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0408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131A19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단계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131A1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학습되나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131A1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하는 일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DCED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Wiener 초기화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아니오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닫힌 해. dipole 은 주파수 영역에서 대각 연산자다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DRUNet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예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역산이 포기한 주파수를 이미지 사전지식으로 메운다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데이터 정합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λ 만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매번 측정치로 되돌려 오차가 쌓이지 않게 한다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26" name="Google Shape;326;p10"/>
          <p:cNvSpPr/>
          <p:nvPr/>
        </p:nvSpPr>
        <p:spPr>
          <a:xfrm>
            <a:off x="822960" y="5440680"/>
            <a:ext cx="10515600" cy="82296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 cap="flat" cmpd="sng">
            <a:solidFill>
              <a:srgbClr val="0B6E5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7" name="Google Shape;327;p10"/>
          <p:cNvSpPr txBox="1"/>
          <p:nvPr/>
        </p:nvSpPr>
        <p:spPr>
          <a:xfrm>
            <a:off x="1051560" y="5596128"/>
            <a:ext cx="100584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1" i="0" u="none" strike="noStrike" cap="none">
                <a:solidFill>
                  <a:srgbClr val="131A19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이미 아는 주파수를 네트워크가 다시 맞힐 필요가 없다. 모르는 주파수 채우는 데만 용량을 쓴다.</a:t>
            </a:r>
            <a:endParaRPr/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0" i="0" u="none" strike="noStrike" cap="none">
                <a:solidFill>
                  <a:srgbClr val="3C4947"/>
                </a:solidFill>
                <a:latin typeface="Malgun Gothic"/>
                <a:ea typeface="Malgun Gothic"/>
                <a:cs typeface="Malgun Gothic"/>
                <a:sym typeface="Malgun Gothic"/>
              </a:rPr>
              <a:t>λ 는 단계마다 따로 학습해 '이번엔 측정치를 얼마나 믿을지' 를 스스로 정한다.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1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none" strike="noStrike" cap="none">
                <a:solidFill>
                  <a:srgbClr val="0B6E5E"/>
                </a:solidFill>
                <a:latin typeface="Consolas"/>
                <a:ea typeface="Consolas"/>
                <a:cs typeface="Consolas"/>
                <a:sym typeface="Consolas"/>
              </a:rPr>
              <a:t>시도 ④</a:t>
            </a:r>
            <a:endParaRPr/>
          </a:p>
        </p:txBody>
      </p:sp>
      <p:sp>
        <p:nvSpPr>
          <p:cNvPr id="333" name="Google Shape;333;p11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131A19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시도 ④ — σ 를 라벨 없이 읽어 모델에 알려준다</a:t>
            </a:r>
            <a:endParaRPr/>
          </a:p>
        </p:txBody>
      </p:sp>
      <p:sp>
        <p:nvSpPr>
          <p:cNvPr id="334" name="Google Shape;334;p11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66756F"/>
                </a:solidFill>
                <a:latin typeface="Malgun Gothic"/>
                <a:ea typeface="Malgun Gothic"/>
                <a:cs typeface="Malgun Gothic"/>
                <a:sym typeface="Malgun Gothic"/>
              </a:rPr>
              <a:t>3일차 σ 는 장마다 200배 차이난다</a:t>
            </a:r>
            <a:endParaRPr/>
          </a:p>
        </p:txBody>
      </p:sp>
      <p:sp>
        <p:nvSpPr>
          <p:cNvPr id="335" name="Google Shape;335;p11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6" name="Google Shape;336;p11"/>
          <p:cNvSpPr txBox="1"/>
          <p:nvPr/>
        </p:nvSpPr>
        <p:spPr>
          <a:xfrm>
            <a:off x="822960" y="1600200"/>
            <a:ext cx="1051560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u="none" strike="noStrike" cap="none">
                <a:solidFill>
                  <a:srgbClr val="131A19"/>
                </a:solidFill>
                <a:latin typeface="Malgun Gothic"/>
                <a:ea typeface="Malgun Gothic"/>
                <a:cs typeface="Malgun Gothic"/>
                <a:sym typeface="Malgun Gothic"/>
              </a:rPr>
              <a:t>|D| &lt; 0.02 인 주파수엔 dipole 이 신호를 보내지 않는다. 거기 있는 것은 전부 노이즈다.</a:t>
            </a:r>
            <a:endParaRPr/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3C4947"/>
                </a:solidFill>
                <a:latin typeface="Malgun Gothic"/>
                <a:ea typeface="Malgun Gothic"/>
                <a:cs typeface="Malgun Gothic"/>
                <a:sym typeface="Malgun Gothic"/>
              </a:rPr>
              <a:t>파세발로 E|G|² = N·σ².  정답도 noise_meta.json 도 쓰지 않는다 — 측정치 하나에서 나온다.</a:t>
            </a:r>
            <a:endParaRPr/>
          </a:p>
        </p:txBody>
      </p:sp>
      <p:graphicFrame>
        <p:nvGraphicFramePr>
          <p:cNvPr id="337" name="Google Shape;337;p11"/>
          <p:cNvGraphicFramePr/>
          <p:nvPr/>
        </p:nvGraphicFramePr>
        <p:xfrm>
          <a:off x="822960" y="2606040"/>
          <a:ext cx="5760700" cy="1426470"/>
        </p:xfrm>
        <a:graphic>
          <a:graphicData uri="http://schemas.openxmlformats.org/drawingml/2006/table">
            <a:tbl>
              <a:tblPr firstRow="1" bandRow="1">
                <a:noFill/>
                <a:tableStyleId>{7DE65E82-E5E6-4290-B14A-9E70F09EAB91}</a:tableStyleId>
              </a:tblPr>
              <a:tblGrid>
                <a:gridCol w="26517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089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82300" marR="82300" marT="27425" marB="27425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131A1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값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DCED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σ 범위 (test 100장)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0.0007 ~ 0.1325   (200배)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추정 상대오차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중앙값 1.9%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σ&lt;0.05 구간 성능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23.91 dB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σ≥0.10 구간 성능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17.64 dB   (6.3 dB 차이)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38" name="Google Shape;338;p11"/>
          <p:cNvSpPr/>
          <p:nvPr/>
        </p:nvSpPr>
        <p:spPr>
          <a:xfrm>
            <a:off x="6949440" y="2606040"/>
            <a:ext cx="4389120" cy="155448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 cap="flat" cmpd="sng">
            <a:solidFill>
              <a:srgbClr val="0B6E5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11"/>
          <p:cNvSpPr txBox="1"/>
          <p:nvPr/>
        </p:nvSpPr>
        <p:spPr>
          <a:xfrm>
            <a:off x="7178040" y="2788920"/>
            <a:ext cx="3931920" cy="1280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0" i="0" u="none" strike="noStrike" cap="none">
                <a:solidFill>
                  <a:srgbClr val="3C4947"/>
                </a:solidFill>
                <a:latin typeface="Malgun Gothic"/>
                <a:ea typeface="Malgun Gothic"/>
                <a:cs typeface="Malgun Gothic"/>
                <a:sym typeface="Malgun Gothic"/>
              </a:rPr>
              <a:t>모델 하나로 200배 범위를 다</a:t>
            </a:r>
            <a:endParaRPr/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1" i="0" u="none" strike="noStrike" cap="none">
                <a:solidFill>
                  <a:srgbClr val="131A19"/>
                </a:solidFill>
                <a:latin typeface="Malgun Gothic"/>
                <a:ea typeface="Malgun Gothic"/>
                <a:cs typeface="Malgun Gothic"/>
                <a:sym typeface="Malgun Gothic"/>
              </a:rPr>
              <a:t>덮으려면 평균에 맞출 수밖에 없다.</a:t>
            </a:r>
            <a:endParaRPr/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50" b="1" i="0" u="none" strike="noStrike" cap="none">
              <a:solidFill>
                <a:srgbClr val="131A19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0" i="0" u="none" strike="noStrike" cap="none">
                <a:solidFill>
                  <a:srgbClr val="3C4947"/>
                </a:solidFill>
                <a:latin typeface="Malgun Gothic"/>
                <a:ea typeface="Malgun Gothic"/>
                <a:cs typeface="Malgun Gothic"/>
                <a:sym typeface="Malgun Gothic"/>
              </a:rPr>
              <a:t>σ 를 알려주면 매 장에 맞는</a:t>
            </a:r>
            <a:endParaRPr/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0" i="0" u="none" strike="noStrike" cap="none">
                <a:solidFill>
                  <a:srgbClr val="3C4947"/>
                </a:solidFill>
                <a:latin typeface="Malgun Gothic"/>
                <a:ea typeface="Malgun Gothic"/>
                <a:cs typeface="Malgun Gothic"/>
                <a:sym typeface="Malgun Gothic"/>
              </a:rPr>
              <a:t>세기로 지울 수 있다.</a:t>
            </a:r>
            <a:endParaRPr/>
          </a:p>
        </p:txBody>
      </p:sp>
      <p:sp>
        <p:nvSpPr>
          <p:cNvPr id="340" name="Google Shape;340;p11"/>
          <p:cNvSpPr/>
          <p:nvPr/>
        </p:nvSpPr>
        <p:spPr>
          <a:xfrm>
            <a:off x="822960" y="4389120"/>
            <a:ext cx="10515600" cy="137160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 cap="flat" cmpd="sng">
            <a:solidFill>
              <a:srgbClr val="0B6E5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1" name="Google Shape;341;p11"/>
          <p:cNvSpPr txBox="1"/>
          <p:nvPr/>
        </p:nvSpPr>
        <p:spPr>
          <a:xfrm>
            <a:off x="1051560" y="4572000"/>
            <a:ext cx="10058400" cy="1097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1" i="0" u="none" strike="noStrike" cap="none">
                <a:solidFill>
                  <a:srgbClr val="131A19"/>
                </a:solidFill>
                <a:latin typeface="Malgun Gothic"/>
                <a:ea typeface="Malgun Gothic"/>
                <a:cs typeface="Malgun Gothic"/>
                <a:sym typeface="Malgun Gothic"/>
              </a:rPr>
              <a:t>커널을 아니까 쓸 수 있는 방법이다.</a:t>
            </a:r>
            <a:endParaRPr/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0" i="0" u="none" strike="noStrike" cap="none">
                <a:solidFill>
                  <a:srgbClr val="3C4947"/>
                </a:solidFill>
                <a:latin typeface="Malgun Gothic"/>
                <a:ea typeface="Malgun Gothic"/>
                <a:cs typeface="Malgun Gothic"/>
                <a:sym typeface="Malgun Gothic"/>
              </a:rPr>
              <a:t>MAD 같은 일반 추정기는 이미지 고주파를 노이즈로 착각한다. 1일차에 σ 게이트가 실패한 게 그 이유였다.</a:t>
            </a:r>
            <a:endParaRPr/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0" i="0" u="none" strike="noStrike" cap="none">
                <a:solidFill>
                  <a:srgbClr val="3C4947"/>
                </a:solidFill>
                <a:latin typeface="Malgun Gothic"/>
                <a:ea typeface="Malgun Gothic"/>
                <a:cs typeface="Malgun Gothic"/>
                <a:sym typeface="Malgun Gothic"/>
              </a:rPr>
              <a:t>여기선 신호가 있을 수 없는 자리를 커널이 알려주니 착각할 일이 없다.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p12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none" strike="noStrike" cap="none">
                <a:solidFill>
                  <a:srgbClr val="0B6E5E"/>
                </a:solidFill>
                <a:latin typeface="Consolas"/>
                <a:ea typeface="Consolas"/>
                <a:cs typeface="Consolas"/>
                <a:sym typeface="Consolas"/>
              </a:rPr>
              <a:t>근거</a:t>
            </a:r>
            <a:endParaRPr/>
          </a:p>
        </p:txBody>
      </p:sp>
      <p:sp>
        <p:nvSpPr>
          <p:cNvPr id="347" name="Google Shape;347;p1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131A19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시도 ④ 의 근거 — σ 가 성능의 절반을 책임진다</a:t>
            </a:r>
            <a:endParaRPr/>
          </a:p>
        </p:txBody>
      </p:sp>
      <p:sp>
        <p:nvSpPr>
          <p:cNvPr id="348" name="Google Shape;348;p12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66756F"/>
                </a:solidFill>
                <a:latin typeface="Malgun Gothic"/>
                <a:ea typeface="Malgun Gothic"/>
                <a:cs typeface="Malgun Gothic"/>
                <a:sym typeface="Malgun Gothic"/>
              </a:rPr>
              <a:t>가중치는 그대로 두고 σ 입력만 바꾼다. 학습이 필요 없는 ablation</a:t>
            </a:r>
            <a:endParaRPr/>
          </a:p>
        </p:txBody>
      </p:sp>
      <p:sp>
        <p:nvSpPr>
          <p:cNvPr id="349" name="Google Shape;349;p12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350" name="Google Shape;350;p12"/>
          <p:cNvGraphicFramePr/>
          <p:nvPr/>
        </p:nvGraphicFramePr>
        <p:xfrm>
          <a:off x="822960" y="1691640"/>
          <a:ext cx="10515575" cy="1645950"/>
        </p:xfrm>
        <a:graphic>
          <a:graphicData uri="http://schemas.openxmlformats.org/drawingml/2006/table">
            <a:tbl>
              <a:tblPr firstRow="1" bandRow="1">
                <a:noFill/>
                <a:tableStyleId>{7DE65E82-E5E6-4290-B14A-9E70F09EAB91}</a:tableStyleId>
              </a:tblPr>
              <a:tblGrid>
                <a:gridCol w="47798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207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207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943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131A19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σ 를 어떻게 주는가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131A1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PSNR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131A1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SSIM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131A1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손실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DCED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131A19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추정 σ (장마다 다르게)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131A1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29.59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131A1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0.8817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131A1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—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ECF5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전체 평균 하나로 고정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25.37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0.7751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-4.22 dB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σ 2배 (과대평가)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22.52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0.7890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-7.07 dB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σ 절반 (과소평가)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22.92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0.6484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-6.67 dB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전부 0 (노이즈가 없다고)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15.93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0.4040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-13.66 dB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51" name="Google Shape;351;p12"/>
          <p:cNvSpPr/>
          <p:nvPr/>
        </p:nvSpPr>
        <p:spPr>
          <a:xfrm>
            <a:off x="822960" y="4023360"/>
            <a:ext cx="10515600" cy="173736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 cap="flat" cmpd="sng">
            <a:solidFill>
              <a:srgbClr val="0B6E5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12"/>
          <p:cNvSpPr txBox="1"/>
          <p:nvPr/>
        </p:nvSpPr>
        <p:spPr>
          <a:xfrm>
            <a:off x="1051560" y="4206240"/>
            <a:ext cx="10058400" cy="1463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u="none" strike="noStrike" cap="none">
                <a:solidFill>
                  <a:srgbClr val="131A19"/>
                </a:solidFill>
                <a:latin typeface="Malgun Gothic"/>
                <a:ea typeface="Malgun Gothic"/>
                <a:cs typeface="Malgun Gothic"/>
                <a:sym typeface="Malgun Gothic"/>
              </a:rPr>
              <a:t>장마다 σ 를 다르게 주면 하나로 퉁칠 때보다 4.22 dB 낫다.</a:t>
            </a:r>
            <a:endParaRPr/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00" b="1" i="0" u="none" strike="noStrike" cap="none">
              <a:solidFill>
                <a:srgbClr val="131A19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3C4947"/>
                </a:solidFill>
                <a:latin typeface="Malgun Gothic"/>
                <a:ea typeface="Malgun Gothic"/>
                <a:cs typeface="Malgun Gothic"/>
                <a:sym typeface="Malgun Gothic"/>
              </a:rPr>
              <a:t>σ 를 0 이라고 알려주면 29.59 에서 15.93 으로 무너진다. 2배·절반으로 틀리게 알려줘도 7 dB 가까이 잃는다.</a:t>
            </a:r>
            <a:endParaRPr/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3C4947"/>
                </a:solidFill>
                <a:latin typeface="Malgun Gothic"/>
                <a:ea typeface="Malgun Gothic"/>
                <a:cs typeface="Malgun Gothic"/>
                <a:sym typeface="Malgun Gothic"/>
              </a:rPr>
              <a:t>모델이 σ 를 실제로 쓰고 있다는 증거다. 정확히 알려주는 게 그만큼 중요하다.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13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none" strike="noStrike" cap="none">
                <a:solidFill>
                  <a:srgbClr val="0B6E5E"/>
                </a:solidFill>
                <a:latin typeface="Consolas"/>
                <a:ea typeface="Consolas"/>
                <a:cs typeface="Consolas"/>
                <a:sym typeface="Consolas"/>
              </a:rPr>
              <a:t>실패 기록</a:t>
            </a:r>
            <a:endParaRPr/>
          </a:p>
        </p:txBody>
      </p:sp>
      <p:sp>
        <p:nvSpPr>
          <p:cNvPr id="358" name="Google Shape;358;p13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131A19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시도 ⑤ — 안 통한 것들, 그리고 고쳐서 통한 것</a:t>
            </a:r>
            <a:endParaRPr/>
          </a:p>
        </p:txBody>
      </p:sp>
      <p:sp>
        <p:nvSpPr>
          <p:cNvPr id="359" name="Google Shape;359;p1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66756F"/>
                </a:solidFill>
                <a:latin typeface="Malgun Gothic"/>
                <a:ea typeface="Malgun Gothic"/>
                <a:cs typeface="Malgun Gothic"/>
                <a:sym typeface="Malgun Gothic"/>
              </a:rPr>
              <a:t>왜 안 되는지 알면 고칠 수 있다</a:t>
            </a:r>
            <a:endParaRPr/>
          </a:p>
        </p:txBody>
      </p:sp>
      <p:sp>
        <p:nvSpPr>
          <p:cNvPr id="360" name="Google Shape;360;p13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361" name="Google Shape;361;p13"/>
          <p:cNvGraphicFramePr/>
          <p:nvPr/>
        </p:nvGraphicFramePr>
        <p:xfrm>
          <a:off x="640080" y="1691640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{7DE65E82-E5E6-4290-B14A-9E70F09EAB91}</a:tableStyleId>
              </a:tblPr>
              <a:tblGrid>
                <a:gridCol w="29260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858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rgbClr val="131A19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시도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rgbClr val="131A1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결과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rgbClr val="131A1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왜 안 됐나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DCED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C494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SSIM 을 처음부터 손실에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17.5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덜 학습된 모델을 '정답과 맞든 아니든 국소 대비를 키우는' 쪽으로 민다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C494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언샤프 후처리로 SSIM 보정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무효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잔차까지 같이 커진다. 이미 잃은 대비는 나중에 못 만든다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C494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노이즈 통계 조건화 (왜도·첨도)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29.59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첨도가 rician 을 가르지만(10.4 vs 2.9~3.8) 모델이 쓰지 않았다 (−0.03 dB)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C494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모델 융합 1차 — 형제 셋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29.66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실패. 같은 체크포인트에서 이어받은 형제라 틀리는 방식이 같다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C494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추론 때 반복 횟수 늘리기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20.99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4단계로 학습한 모델은 5단계에서 분포를 벗어난다. val 이 4를 골랐다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C494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end-to-end DRUNet (대조군)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24.6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전개형보다 5 dB 아래. 물리 구조가 실제로 이득이라는 증거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C494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모델 융합 2차 — 반복 4번 + 6번 모델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30.44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성공. 구조가 다르니 틀리는 방식도 다르다. 1차 실패 원인을 고친 것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62" name="Google Shape;362;p13"/>
          <p:cNvSpPr/>
          <p:nvPr/>
        </p:nvSpPr>
        <p:spPr>
          <a:xfrm>
            <a:off x="640080" y="4754880"/>
            <a:ext cx="10881360" cy="105156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 cap="flat" cmpd="sng">
            <a:solidFill>
              <a:srgbClr val="0B6E5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3" name="Google Shape;363;p13"/>
          <p:cNvSpPr txBox="1"/>
          <p:nvPr/>
        </p:nvSpPr>
        <p:spPr>
          <a:xfrm>
            <a:off x="868680" y="4937760"/>
            <a:ext cx="1042416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1" i="0" u="none" strike="noStrike" cap="none">
                <a:solidFill>
                  <a:srgbClr val="131A19"/>
                </a:solidFill>
                <a:latin typeface="Malgun Gothic"/>
                <a:ea typeface="Malgun Gothic"/>
                <a:cs typeface="Malgun Gothic"/>
                <a:sym typeface="Malgun Gothic"/>
              </a:rPr>
              <a:t>결국 점수를 올린 건 하나였다. 수렴할 때까지 더 돌리는 것.</a:t>
            </a:r>
            <a:endParaRPr/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0" i="0" u="none" strike="noStrike" cap="none">
                <a:solidFill>
                  <a:srgbClr val="3C4947"/>
                </a:solidFill>
                <a:latin typeface="Malgun Gothic"/>
                <a:ea typeface="Malgun Gothic"/>
                <a:cs typeface="Malgun Gothic"/>
                <a:sym typeface="Malgun Gothic"/>
              </a:rPr>
              <a:t>60 에폭에서 끊었는데 매번 마지막까지 오르고 있었다. 새 구조를 찾는 것보다 있는 걸 끝까지 돌리는 게 나았다.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Google Shape;368;p14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none" strike="noStrike" cap="none">
                <a:solidFill>
                  <a:srgbClr val="0B6E5E"/>
                </a:solidFill>
                <a:latin typeface="Consolas"/>
                <a:ea typeface="Consolas"/>
                <a:cs typeface="Consolas"/>
                <a:sym typeface="Consolas"/>
              </a:rPr>
              <a:t>제출값</a:t>
            </a:r>
            <a:endParaRPr/>
          </a:p>
        </p:txBody>
      </p:sp>
      <p:sp>
        <p:nvSpPr>
          <p:cNvPr id="369" name="Google Shape;369;p14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131A19"/>
                </a:solidFill>
                <a:latin typeface="Malgun Gothic"/>
                <a:ea typeface="Malgun Gothic"/>
                <a:cs typeface="Malgun Gothic"/>
                <a:sym typeface="Malgun Gothic"/>
              </a:rPr>
              <a:t>최종 결과</a:t>
            </a:r>
            <a:endParaRPr/>
          </a:p>
        </p:txBody>
      </p:sp>
      <p:sp>
        <p:nvSpPr>
          <p:cNvPr id="370" name="Google Shape;370;p14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66756F"/>
                </a:solidFill>
                <a:latin typeface="Malgun Gothic"/>
                <a:ea typeface="Malgun Gothic"/>
                <a:cs typeface="Malgun Gothic"/>
                <a:sym typeface="Malgun Gothic"/>
              </a:rPr>
              <a:t>test_deconv_noise 100장 · 16× self-ensemble</a:t>
            </a:r>
            <a:endParaRPr/>
          </a:p>
        </p:txBody>
      </p:sp>
      <p:sp>
        <p:nvSpPr>
          <p:cNvPr id="371" name="Google Shape;371;p1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372" name="Google Shape;372;p14"/>
          <p:cNvGraphicFramePr/>
          <p:nvPr/>
        </p:nvGraphicFramePr>
        <p:xfrm>
          <a:off x="822960" y="1645920"/>
          <a:ext cx="10515600" cy="1152145"/>
        </p:xfrm>
        <a:graphic>
          <a:graphicData uri="http://schemas.openxmlformats.org/drawingml/2006/table">
            <a:tbl>
              <a:tblPr firstRow="1" bandRow="1">
                <a:noFill/>
                <a:tableStyleId>{7DE65E82-E5E6-4290-B14A-9E70F09EAB91}</a:tableStyleId>
              </a:tblPr>
              <a:tblGrid>
                <a:gridCol w="4754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031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82300" marR="82300" marT="27425" marB="27425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131A1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PSNR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131A1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SSIM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131A1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판정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DCED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입력 (blur + noise)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8.02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−0.0187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출발점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통과 기준 = 배포 baseline (End2End U-Net)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25.02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0.815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넘어야 할 선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131A19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우리 (전개형 + σ 조건화 + 16× self-ensemble + 두 모델 평균)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131A1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30.44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131A1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0.8899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131A1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통과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ECF5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373" name="Google Shape;373;p14"/>
          <p:cNvGraphicFramePr/>
          <p:nvPr/>
        </p:nvGraphicFramePr>
        <p:xfrm>
          <a:off x="822960" y="3931920"/>
          <a:ext cx="4937775" cy="1371625"/>
        </p:xfrm>
        <a:graphic>
          <a:graphicData uri="http://schemas.openxmlformats.org/drawingml/2006/table">
            <a:tbl>
              <a:tblPr firstRow="1" bandRow="1">
                <a:noFill/>
                <a:tableStyleId>{7DE65E82-E5E6-4290-B14A-9E70F09EAB91}</a:tableStyleId>
              </a:tblPr>
              <a:tblGrid>
                <a:gridCol w="25603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131A19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노이즈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131A1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PSNR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131A1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SSIM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DCED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gaussian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30.37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0.8891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rician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23.41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0.7689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uniform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29.81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0.9150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salt_and_pepper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38.19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0.9864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74" name="Google Shape;374;p14"/>
          <p:cNvSpPr/>
          <p:nvPr/>
        </p:nvSpPr>
        <p:spPr>
          <a:xfrm>
            <a:off x="6126480" y="3931920"/>
            <a:ext cx="5212080" cy="155448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 cap="flat" cmpd="sng">
            <a:solidFill>
              <a:srgbClr val="0B6E5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5" name="Google Shape;375;p14"/>
          <p:cNvSpPr txBox="1"/>
          <p:nvPr/>
        </p:nvSpPr>
        <p:spPr>
          <a:xfrm>
            <a:off x="6355080" y="4114800"/>
            <a:ext cx="4754880" cy="1280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131A19"/>
                </a:solidFill>
                <a:latin typeface="Malgun Gothic"/>
                <a:ea typeface="Malgun Gothic"/>
                <a:cs typeface="Malgun Gothic"/>
                <a:sym typeface="Malgun Gothic"/>
              </a:rPr>
              <a:t>rician 만 23.41 로 7 dB 뒤진다.</a:t>
            </a:r>
            <a:endParaRPr/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3C4947"/>
                </a:solidFill>
                <a:latin typeface="Malgun Gothic"/>
                <a:ea typeface="Malgun Gothic"/>
                <a:cs typeface="Malgun Gothic"/>
                <a:sym typeface="Malgun Gothic"/>
              </a:rPr>
              <a:t>정류가 밝기를 +0.0396 밀어 올리는데</a:t>
            </a:r>
            <a:endParaRPr/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3C4947"/>
                </a:solidFill>
                <a:latin typeface="Malgun Gothic"/>
                <a:ea typeface="Malgun Gothic"/>
                <a:cs typeface="Malgun Gothic"/>
                <a:sym typeface="Malgun Gothic"/>
              </a:rPr>
              <a:t>dipole 은 DC 를 1/3 로 보존하므로</a:t>
            </a:r>
            <a:endParaRPr/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3C4947"/>
                </a:solidFill>
                <a:latin typeface="Malgun Gothic"/>
                <a:ea typeface="Malgun Gothic"/>
                <a:cs typeface="Malgun Gothic"/>
                <a:sym typeface="Malgun Gothic"/>
              </a:rPr>
              <a:t>역산에서 3배가 되어 0.119 로 남는다</a:t>
            </a:r>
            <a:endParaRPr/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3C4947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이미지 std 가 0.222 니까 작은 값이 아니다.</a:t>
            </a:r>
            <a:endParaRPr/>
          </a:p>
        </p:txBody>
      </p:sp>
      <p:sp>
        <p:nvSpPr>
          <p:cNvPr id="376" name="Google Shape;376;p14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66756F"/>
                </a:solidFill>
                <a:latin typeface="Consolas"/>
                <a:ea typeface="Consolas"/>
                <a:cs typeface="Consolas"/>
                <a:sym typeface="Consolas"/>
              </a:rPr>
              <a:t>통과 기준(= 배포 baseline) 대비 +5.42 dB · +0.0749   ·   오차 에너지로는 3.5배 줄었다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Google Shape;381;p15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none" strike="noStrike" cap="none">
                <a:solidFill>
                  <a:srgbClr val="0B6E5E"/>
                </a:solidFill>
                <a:latin typeface="Consolas"/>
                <a:ea typeface="Consolas"/>
                <a:cs typeface="Consolas"/>
                <a:sym typeface="Consolas"/>
              </a:rPr>
              <a:t>복원 결과</a:t>
            </a:r>
            <a:endParaRPr/>
          </a:p>
        </p:txBody>
      </p:sp>
      <p:sp>
        <p:nvSpPr>
          <p:cNvPr id="382" name="Google Shape;382;p15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131A19"/>
                </a:solidFill>
                <a:latin typeface="Malgun Gothic"/>
                <a:ea typeface="Malgun Gothic"/>
                <a:cs typeface="Malgun Gothic"/>
                <a:sym typeface="Malgun Gothic"/>
              </a:rPr>
              <a:t>복원 결과 — 노이즈 4종 × 방법별</a:t>
            </a:r>
            <a:endParaRPr/>
          </a:p>
        </p:txBody>
      </p:sp>
      <p:sp>
        <p:nvSpPr>
          <p:cNvPr id="384" name="Google Shape;384;p15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85" name="Google Shape;385;p15" descr="day3_methods_gri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182250" y="1280160"/>
            <a:ext cx="7322234" cy="4983480"/>
          </a:xfrm>
          <a:prstGeom prst="rect">
            <a:avLst/>
          </a:prstGeom>
          <a:noFill/>
          <a:ln>
            <a:noFill/>
          </a:ln>
        </p:spPr>
      </p:pic>
      <p:sp>
        <p:nvSpPr>
          <p:cNvPr id="386" name="Google Shape;386;p15"/>
          <p:cNvSpPr txBox="1"/>
          <p:nvPr/>
        </p:nvSpPr>
        <p:spPr>
          <a:xfrm>
            <a:off x="484104" y="6380987"/>
            <a:ext cx="11220743" cy="2269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 err="1">
                <a:solidFill>
                  <a:srgbClr val="66756F"/>
                </a:solidFill>
                <a:latin typeface="Consolas"/>
                <a:ea typeface="Consolas"/>
                <a:cs typeface="Consolas"/>
                <a:sym typeface="Consolas"/>
              </a:rPr>
              <a:t>왼쪽에서 오른쪽이 시도 순서다: 정답 · 측정치 · Wiener 단독 · 시도② DC-Net · end-to-end U-Net · 시도③ 전개형 초기 · 시도④ σ 조건화 · 우리 모델(융합)   |   칸마다 그 장의 PSNR / SSIM 을 적었다</a:t>
            </a:r>
            <a:endParaRPr sz="105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difference map + zoom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Gaussian — 30.37 dB / 0.8891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7232" y="146702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dirty="0" err="1">
                <a:solidFill>
                  <a:srgbClr val="66756F"/>
                </a:solidFill>
                <a:latin typeface="맑은 고딕"/>
              </a:rPr>
              <a:t>가장 무난한 경우다. 오차가 경계와 잔무늬에 몰리고 평평한 곳은 거의 비어 있다</a:t>
            </a:r>
            <a:endParaRPr sz="1400" b="0" dirty="0">
              <a:solidFill>
                <a:srgbClr val="66756F"/>
              </a:solidFill>
              <a:latin typeface="맑은 고딕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day3_diff_zoom_gaussi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76557" y="2019300"/>
            <a:ext cx="5364523" cy="42062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561935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difference map + zoom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Rician — 23.41 dB / 0.7689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dirty="0" err="1">
                <a:solidFill>
                  <a:srgbClr val="66756F"/>
                </a:solidFill>
                <a:latin typeface="맑은 고딕"/>
              </a:rPr>
              <a:t>우리 약점이다. difference map 이 고르게 밝다. 경계가 아니라 전면이 틀렸다</a:t>
            </a:r>
            <a:endParaRPr sz="1400" b="0" dirty="0">
              <a:solidFill>
                <a:srgbClr val="66756F"/>
              </a:solidFill>
              <a:latin typeface="맑은 고딕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day3_diff_zoom_rici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6811" y="1996441"/>
            <a:ext cx="5364523" cy="42062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385263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difference map + zoom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Uniform — 29.81 dB / 0.9150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Gaussian 과 거의 같아 보인다. 노이즈 모양보다 세기가 결과를 정한다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day3_diff_zoom_unif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35600" y="1874520"/>
            <a:ext cx="5364523" cy="42062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763951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difference map + zoom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Salt &amp; Pepper — 38.19 dB / 0.9864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dirty="0" err="1">
                <a:solidFill>
                  <a:srgbClr val="66756F"/>
                </a:solidFill>
                <a:latin typeface="맑은 고딕"/>
              </a:rPr>
              <a:t>가장 잘 나온다. 오차가 점으로만 남고 면으로 번지지 않는다</a:t>
            </a:r>
            <a:endParaRPr sz="1400" b="0" dirty="0">
              <a:solidFill>
                <a:srgbClr val="66756F"/>
              </a:solidFill>
              <a:latin typeface="맑은 고딕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day3_diff_zoom_salt_and_pepp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2214" y="2105591"/>
            <a:ext cx="5364523" cy="42062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240315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17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none" strike="noStrike" cap="none">
                <a:solidFill>
                  <a:srgbClr val="0B6E5E"/>
                </a:solidFill>
                <a:latin typeface="Consolas"/>
                <a:ea typeface="Consolas"/>
                <a:cs typeface="Consolas"/>
                <a:sym typeface="Consolas"/>
              </a:rPr>
              <a:t>결과 분석</a:t>
            </a:r>
            <a:endParaRPr/>
          </a:p>
        </p:txBody>
      </p:sp>
      <p:sp>
        <p:nvSpPr>
          <p:cNvPr id="402" name="Google Shape;402;p17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131A19"/>
                </a:solidFill>
                <a:latin typeface="Malgun Gothic"/>
                <a:ea typeface="Malgun Gothic"/>
                <a:cs typeface="Malgun Gothic"/>
                <a:sym typeface="Malgun Gothic"/>
              </a:rPr>
              <a:t>취약점 분석 — 어떤 노이즈, 어떤 이미지에 약한가</a:t>
            </a:r>
            <a:endParaRPr/>
          </a:p>
        </p:txBody>
      </p:sp>
      <p:sp>
        <p:nvSpPr>
          <p:cNvPr id="403" name="Google Shape;403;p17"/>
          <p:cNvSpPr txBox="1"/>
          <p:nvPr/>
        </p:nvSpPr>
        <p:spPr>
          <a:xfrm>
            <a:off x="640080" y="1199450"/>
            <a:ext cx="109728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66756F"/>
                </a:solidFill>
                <a:latin typeface="Malgun Gothic"/>
                <a:ea typeface="Malgun Gothic"/>
                <a:cs typeface="Malgun Gothic"/>
                <a:sym typeface="Malgun Gothic"/>
              </a:rPr>
              <a:t>노이즈는 meta 가 알려주지만 이미지 종류는 라벨이 없다. 이미지 자체 특징으로 가른다</a:t>
            </a:r>
            <a:endParaRPr/>
          </a:p>
        </p:txBody>
      </p:sp>
      <p:sp>
        <p:nvSpPr>
          <p:cNvPr id="404" name="Google Shape;404;p17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05" name="Google Shape;405;p17" descr="day3_image_types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40080" y="1463040"/>
            <a:ext cx="10881360" cy="268692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406" name="Google Shape;406;p17"/>
          <p:cNvGraphicFramePr/>
          <p:nvPr/>
        </p:nvGraphicFramePr>
        <p:xfrm>
          <a:off x="822960" y="4206240"/>
          <a:ext cx="10515600" cy="1371625"/>
        </p:xfrm>
        <a:graphic>
          <a:graphicData uri="http://schemas.openxmlformats.org/drawingml/2006/table">
            <a:tbl>
              <a:tblPr firstRow="1" bandRow="1">
                <a:noFill/>
                <a:tableStyleId>{7DE65E82-E5E6-4290-B14A-9E70F09EAB91}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3035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1" u="none" strike="noStrike" cap="none">
                          <a:solidFill>
                            <a:srgbClr val="131A19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특징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1" u="none" strike="noStrike" cap="none">
                          <a:solidFill>
                            <a:srgbClr val="131A1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하위 1/3 → 상위 1/3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1" u="none" strike="noStrike" cap="none">
                          <a:solidFill>
                            <a:srgbClr val="131A1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상관계수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1" u="none" strike="noStrike" cap="none">
                          <a:solidFill>
                            <a:srgbClr val="131A1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해석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DCED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u="none" strike="noStrike" cap="none">
                          <a:solidFill>
                            <a:srgbClr val="3C494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에지 밀도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−7.78 dB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−0.442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구조가 복잡할수록 나쁘다. 이게 제일 잘 맞는다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u="none" strike="noStrike" cap="none">
                          <a:solidFill>
                            <a:srgbClr val="3C494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대비 (std)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−4.34 dB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−0.279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PSNR 분모가 1 로 고정이라, 에너지 큰 이미지가 같은 정확도에서도 낮게 찍힌다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u="none" strike="noStrike" cap="none">
                          <a:solidFill>
                            <a:srgbClr val="3C494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동적범위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−3.47 dB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−0.234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위와 같은 이유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u="none" strike="noStrike" cap="none">
                          <a:solidFill>
                            <a:srgbClr val="3C494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무늬 조밀도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−3.11 dB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−0.179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자연 이미지는 고주파 파워가 작은데 노이즈는 평평해 그 대역은 SNR 이 1 미만이다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07" name="Google Shape;407;p17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66756F"/>
                </a:solidFill>
                <a:latin typeface="Consolas"/>
                <a:ea typeface="Consolas"/>
                <a:cs typeface="Consolas"/>
                <a:sym typeface="Consolas"/>
              </a:rPr>
              <a:t>가장 못 살린 10장 — rician 8 · uniform 2 · gaussian 0 · s&amp;p 0   |   σ 0.120 (전체 0.074) · 에지 0.083 (0.050).  약점은 '강한 rician + 복잡한 구조' 다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402;p17"/>
          <p:cNvSpPr txBox="1"/>
          <p:nvPr/>
        </p:nvSpPr>
        <p:spPr>
          <a:xfrm>
            <a:off x="640080" y="713232"/>
            <a:ext cx="10972800" cy="6693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 dirty="0" smtClean="0">
                <a:solidFill>
                  <a:srgbClr val="131A19"/>
                </a:solidFill>
                <a:latin typeface="Malgun Gothic"/>
                <a:ea typeface="Malgun Gothic"/>
                <a:cs typeface="Malgun Gothic"/>
                <a:sym typeface="Malgun Gothic"/>
              </a:rPr>
              <a:t>Self-supervised 방법 — 결과 이미지</a:t>
            </a:r>
            <a:endParaRPr dirty="0"/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84526" y="1382606"/>
            <a:ext cx="7348220" cy="506623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2004647"/>
            <a:ext cx="265752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 smtClean="0"/>
              <a:t>- PSNR : 24.79</a:t>
            </a:r>
          </a:p>
          <a:p>
            <a:pPr marL="342900" indent="-342900">
              <a:buFontTx/>
              <a:buChar char="-"/>
            </a:pPr>
            <a:endParaRPr lang="en-US" altLang="ko-KR" sz="2000" b="1" dirty="0" smtClean="0"/>
          </a:p>
          <a:p>
            <a:r>
              <a:rPr lang="en-US" altLang="ko-KR" sz="2000" b="1" dirty="0" smtClean="0"/>
              <a:t>- SSIM : 0.787</a:t>
            </a:r>
            <a:endParaRPr lang="ko-KR" altLang="en-US" sz="2000" b="1" dirty="0"/>
          </a:p>
        </p:txBody>
      </p:sp>
      <p:sp>
        <p:nvSpPr>
          <p:cNvPr id="7" name="직사각형 6"/>
          <p:cNvSpPr/>
          <p:nvPr/>
        </p:nvSpPr>
        <p:spPr>
          <a:xfrm>
            <a:off x="9757019" y="1617785"/>
            <a:ext cx="1143000" cy="491490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9699282" y="1248222"/>
            <a:ext cx="15474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Self-supervised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3681897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402;p17"/>
          <p:cNvSpPr txBox="1"/>
          <p:nvPr/>
        </p:nvSpPr>
        <p:spPr>
          <a:xfrm>
            <a:off x="640080" y="713232"/>
            <a:ext cx="10972800" cy="6693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 dirty="0" smtClean="0">
                <a:solidFill>
                  <a:srgbClr val="131A19"/>
                </a:solidFill>
                <a:latin typeface="Malgun Gothic"/>
                <a:ea typeface="Malgun Gothic"/>
                <a:cs typeface="Malgun Gothic"/>
                <a:sym typeface="Malgun Gothic"/>
              </a:rPr>
              <a:t>Self-supervised 방법 — Model</a:t>
            </a:r>
            <a:endParaRPr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3054" y="1650862"/>
            <a:ext cx="6215446" cy="4207014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26480" y="1650862"/>
            <a:ext cx="5934768" cy="46127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096873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그룹 6"/>
          <p:cNvGrpSpPr/>
          <p:nvPr/>
        </p:nvGrpSpPr>
        <p:grpSpPr>
          <a:xfrm>
            <a:off x="474784" y="2708945"/>
            <a:ext cx="5305074" cy="2057767"/>
            <a:chOff x="281354" y="1028333"/>
            <a:chExt cx="5305074" cy="2057767"/>
          </a:xfrm>
        </p:grpSpPr>
        <p:pic>
          <p:nvPicPr>
            <p:cNvPr id="4" name="그림 3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81354" y="1028333"/>
              <a:ext cx="5305074" cy="2057767"/>
            </a:xfrm>
            <a:prstGeom prst="rect">
              <a:avLst/>
            </a:prstGeom>
          </p:spPr>
        </p:pic>
        <p:sp>
          <p:nvSpPr>
            <p:cNvPr id="5" name="직사각형 4"/>
            <p:cNvSpPr/>
            <p:nvPr/>
          </p:nvSpPr>
          <p:spPr>
            <a:xfrm>
              <a:off x="3708400" y="2295525"/>
              <a:ext cx="285750" cy="200025"/>
            </a:xfrm>
            <a:prstGeom prst="rect">
              <a:avLst/>
            </a:prstGeom>
            <a:solidFill>
              <a:srgbClr val="FCFCF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" name="직사각형 5"/>
            <p:cNvSpPr/>
            <p:nvPr/>
          </p:nvSpPr>
          <p:spPr>
            <a:xfrm>
              <a:off x="3708400" y="1200150"/>
              <a:ext cx="285750" cy="200025"/>
            </a:xfrm>
            <a:prstGeom prst="rect">
              <a:avLst/>
            </a:prstGeom>
            <a:solidFill>
              <a:srgbClr val="FCFCF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10" name="그룹 9"/>
          <p:cNvGrpSpPr/>
          <p:nvPr/>
        </p:nvGrpSpPr>
        <p:grpSpPr>
          <a:xfrm>
            <a:off x="6081346" y="2579811"/>
            <a:ext cx="5837270" cy="4024892"/>
            <a:chOff x="6233746" y="1874961"/>
            <a:chExt cx="5837270" cy="4024892"/>
          </a:xfrm>
        </p:grpSpPr>
        <p:pic>
          <p:nvPicPr>
            <p:cNvPr id="8" name="그림 7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233746" y="1874961"/>
              <a:ext cx="5837270" cy="4024892"/>
            </a:xfrm>
            <a:prstGeom prst="rect">
              <a:avLst/>
            </a:prstGeom>
          </p:spPr>
        </p:pic>
        <p:sp>
          <p:nvSpPr>
            <p:cNvPr id="9" name="직사각형 8"/>
            <p:cNvSpPr/>
            <p:nvPr/>
          </p:nvSpPr>
          <p:spPr>
            <a:xfrm>
              <a:off x="9555956" y="3272204"/>
              <a:ext cx="357188" cy="200025"/>
            </a:xfrm>
            <a:prstGeom prst="rect">
              <a:avLst/>
            </a:prstGeom>
            <a:solidFill>
              <a:srgbClr val="FCFCF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11" name="Google Shape;402;p17"/>
          <p:cNvSpPr txBox="1"/>
          <p:nvPr/>
        </p:nvSpPr>
        <p:spPr>
          <a:xfrm>
            <a:off x="640080" y="713232"/>
            <a:ext cx="10972800" cy="6693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 dirty="0" smtClean="0">
                <a:solidFill>
                  <a:srgbClr val="131A19"/>
                </a:solidFill>
                <a:latin typeface="Malgun Gothic"/>
                <a:ea typeface="Malgun Gothic"/>
                <a:cs typeface="Malgun Gothic"/>
                <a:sym typeface="Malgun Gothic"/>
              </a:rPr>
              <a:t>Self-supervised 방법 — Loss function</a:t>
            </a:r>
            <a:endParaRPr dirty="0"/>
          </a:p>
        </p:txBody>
      </p:sp>
      <p:sp>
        <p:nvSpPr>
          <p:cNvPr id="13" name="Google Shape;402;p17"/>
          <p:cNvSpPr txBox="1"/>
          <p:nvPr/>
        </p:nvSpPr>
        <p:spPr>
          <a:xfrm>
            <a:off x="474784" y="2028034"/>
            <a:ext cx="2973266" cy="4385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 smtClean="0">
                <a:solidFill>
                  <a:srgbClr val="131A19"/>
                </a:solidFill>
                <a:latin typeface="Malgun Gothic"/>
                <a:ea typeface="Malgun Gothic"/>
                <a:cs typeface="Malgun Gothic"/>
                <a:sym typeface="Malgun Gothic"/>
              </a:rPr>
              <a:t>Stage 1 (Denoiser)</a:t>
            </a:r>
            <a:endParaRPr sz="1000" dirty="0"/>
          </a:p>
        </p:txBody>
      </p:sp>
      <p:sp>
        <p:nvSpPr>
          <p:cNvPr id="14" name="Google Shape;402;p17"/>
          <p:cNvSpPr txBox="1"/>
          <p:nvPr/>
        </p:nvSpPr>
        <p:spPr>
          <a:xfrm>
            <a:off x="6126480" y="2028034"/>
            <a:ext cx="2865120" cy="4385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 smtClean="0">
                <a:solidFill>
                  <a:srgbClr val="131A19"/>
                </a:solidFill>
                <a:latin typeface="Malgun Gothic"/>
                <a:ea typeface="Malgun Gothic"/>
                <a:cs typeface="Malgun Gothic"/>
                <a:sym typeface="Malgun Gothic"/>
              </a:rPr>
              <a:t>Stage 2 (Deconvolution)</a:t>
            </a:r>
            <a:endParaRPr sz="1000" dirty="0"/>
          </a:p>
        </p:txBody>
      </p:sp>
    </p:spTree>
    <p:extLst>
      <p:ext uri="{BB962C8B-B14F-4D97-AF65-F5344CB8AC3E}">
        <p14:creationId xmlns:p14="http://schemas.microsoft.com/office/powerpoint/2010/main" val="411944807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8338" y="2375755"/>
            <a:ext cx="5867400" cy="3952875"/>
          </a:xfrm>
          <a:prstGeom prst="rect">
            <a:avLst/>
          </a:prstGeom>
        </p:spPr>
      </p:pic>
      <p:sp>
        <p:nvSpPr>
          <p:cNvPr id="5" name="Google Shape;402;p17"/>
          <p:cNvSpPr txBox="1"/>
          <p:nvPr/>
        </p:nvSpPr>
        <p:spPr>
          <a:xfrm>
            <a:off x="640080" y="713232"/>
            <a:ext cx="10972800" cy="6693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 dirty="0" smtClean="0">
                <a:solidFill>
                  <a:srgbClr val="131A19"/>
                </a:solidFill>
                <a:latin typeface="Malgun Gothic"/>
                <a:ea typeface="Malgun Gothic"/>
                <a:cs typeface="Malgun Gothic"/>
                <a:sym typeface="Malgun Gothic"/>
              </a:rPr>
              <a:t>Self-supervised 방법 — 데이터 수</a:t>
            </a:r>
            <a:endParaRPr dirty="0"/>
          </a:p>
        </p:txBody>
      </p:sp>
      <p:sp>
        <p:nvSpPr>
          <p:cNvPr id="6" name="Google Shape;402;p17"/>
          <p:cNvSpPr txBox="1"/>
          <p:nvPr/>
        </p:nvSpPr>
        <p:spPr>
          <a:xfrm>
            <a:off x="3745524" y="5815687"/>
            <a:ext cx="967154" cy="2654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i="0" u="none" strike="noStrike" cap="none" smtClean="0">
                <a:solidFill>
                  <a:srgbClr val="131A19"/>
                </a:solidFill>
                <a:latin typeface="Malgun Gothic"/>
                <a:ea typeface="Malgun Gothic"/>
                <a:cs typeface="Malgun Gothic"/>
                <a:sym typeface="Malgun Gothic"/>
              </a:rPr>
              <a:t>200개</a:t>
            </a:r>
            <a:endParaRPr sz="300" dirty="0"/>
          </a:p>
        </p:txBody>
      </p:sp>
      <p:sp>
        <p:nvSpPr>
          <p:cNvPr id="7" name="Google Shape;402;p17"/>
          <p:cNvSpPr txBox="1"/>
          <p:nvPr/>
        </p:nvSpPr>
        <p:spPr>
          <a:xfrm>
            <a:off x="5788270" y="5815687"/>
            <a:ext cx="967154" cy="265417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i="0" u="none" strike="noStrike" cap="none" dirty="0" smtClean="0">
                <a:solidFill>
                  <a:srgbClr val="131A19"/>
                </a:solidFill>
                <a:latin typeface="Malgun Gothic"/>
                <a:ea typeface="Malgun Gothic"/>
                <a:cs typeface="Malgun Gothic"/>
                <a:sym typeface="Malgun Gothic"/>
              </a:rPr>
              <a:t>1000개</a:t>
            </a:r>
            <a:endParaRPr sz="300" dirty="0"/>
          </a:p>
        </p:txBody>
      </p:sp>
      <p:sp>
        <p:nvSpPr>
          <p:cNvPr id="8" name="Google Shape;402;p17"/>
          <p:cNvSpPr txBox="1"/>
          <p:nvPr/>
        </p:nvSpPr>
        <p:spPr>
          <a:xfrm>
            <a:off x="8305802" y="5815687"/>
            <a:ext cx="1280746" cy="265417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00" b="1" i="0" u="none" strike="noStrike" cap="none" dirty="0" smtClean="0">
                <a:solidFill>
                  <a:srgbClr val="131A19"/>
                </a:solidFill>
                <a:latin typeface="Malgun Gothic"/>
                <a:ea typeface="Malgun Gothic"/>
                <a:cs typeface="Malgun Gothic"/>
                <a:sym typeface="Malgun Gothic"/>
              </a:rPr>
              <a:t>전체 (약8000개)</a:t>
            </a:r>
            <a:endParaRPr sz="300" dirty="0"/>
          </a:p>
        </p:txBody>
      </p:sp>
      <p:sp>
        <p:nvSpPr>
          <p:cNvPr id="9" name="Google Shape;402;p17"/>
          <p:cNvSpPr txBox="1"/>
          <p:nvPr/>
        </p:nvSpPr>
        <p:spPr>
          <a:xfrm>
            <a:off x="838201" y="1462159"/>
            <a:ext cx="9900137" cy="630902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lnSpc>
                <a:spcPct val="125000"/>
              </a:lnSpc>
            </a:pPr>
            <a:r>
              <a:rPr lang="en-US" altLang="ko-KR" b="1" dirty="0">
                <a:solidFill/>
              </a:rPr>
              <a:t>"self-supervised 방법은 라벨 없이 강한 augmentation을 자유롭게 반복 적용할 수 있어서, </a:t>
            </a:r>
            <a:endParaRPr lang="en-US" altLang="ko-KR" b="1" dirty="0" smtClean="0"/>
          </a:p>
          <a:p>
            <a:pPr lvl="0">
              <a:lnSpc>
                <a:spcPct val="125000"/>
              </a:lnSpc>
            </a:pPr>
            <a:r>
              <a:rPr lang="ko-KR" altLang="en-US" b="1" dirty="0" smtClean="0">
                <a:solidFill/>
              </a:rPr>
              <a:t>이미지 개수 자체보다 총 학습 노출량(epoch × 반복)이 성능에 더 크게 기여하는 것으로 보인다"</a:t>
            </a:r>
            <a:endParaRPr sz="300" dirty="0"/>
          </a:p>
        </p:txBody>
      </p:sp>
    </p:spTree>
    <p:extLst>
      <p:ext uri="{BB962C8B-B14F-4D97-AF65-F5344CB8AC3E}">
        <p14:creationId xmlns:p14="http://schemas.microsoft.com/office/powerpoint/2010/main" val="2103772904"/>
      </p:ext>
    </p:extLst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결과 분석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시도별 결과 — 어떤 노이즈에 약한가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시도 ②~⑤ 를 같은 조건에서 나란히 재고, σ 가 커질 때의 변화를 본다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y3_weakn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58816"/>
            <a:ext cx="7498079" cy="2437647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092440" y="2011680"/>
            <a:ext cx="3584448" cy="393192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11896" y="2157984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맑은 고딕"/>
              </a:rPr>
              <a:t>읽는 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11896" y="2432304"/>
            <a:ext cx="3154680" cy="3383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22000"/>
              </a:lnSpc>
              <a:spcBef>
                <a:spcPts val="200"/>
              </a:spcBef>
            </a:pPr>
            <a:r>
              <a:rPr sz="950" b="1">
                <a:solidFill>
                  <a:srgbClr val="0B6E5E"/>
                </a:solidFill>
                <a:latin typeface="맑은 고딕"/>
              </a:rPr>
              <a:t>왼쪽 — 시도가 쌓일수록 올라간다</a:t>
            </a:r>
          </a:p>
          <a:p>
            <a:pPr>
              <a:lnSpc>
                <a:spcPct val="122000"/>
              </a:lnSpc>
              <a:spcBef>
                <a:spcPts val="200"/>
              </a:spcBef>
            </a:pPr>
            <a:r>
              <a:rPr sz="950" b="0">
                <a:solidFill>
                  <a:srgbClr val="66756F"/>
                </a:solidFill>
                <a:latin typeface="맑은 고딕"/>
              </a:rPr>
              <a:t>네 종류 모두 같은 순서다. 특정 노이즈에 맞춘 게 아니다</a:t>
            </a:r>
          </a:p>
          <a:p>
            <a:pPr>
              <a:lnSpc>
                <a:spcPct val="122000"/>
              </a:lnSpc>
              <a:spcBef>
                <a:spcPts val="0"/>
              </a:spcBef>
            </a:pPr>
            <a:r>
              <a:rPr sz="600"/>
              <a:t/>
            </a:r>
          </a:p>
          <a:p>
            <a:pPr>
              <a:lnSpc>
                <a:spcPct val="122000"/>
              </a:lnSpc>
              <a:spcBef>
                <a:spcPts val="200"/>
              </a:spcBef>
            </a:pPr>
            <a:r>
              <a:rPr sz="950" b="1">
                <a:solidFill>
                  <a:srgbClr val="3C4947"/>
                </a:solidFill>
                <a:latin typeface="맑은 고딕"/>
              </a:rPr>
              <a:t>DC-Net 은 Wiener 단독보다도 낮다</a:t>
            </a:r>
          </a:p>
          <a:p>
            <a:pPr>
              <a:lnSpc>
                <a:spcPct val="122000"/>
              </a:lnSpc>
              <a:spcBef>
                <a:spcPts val="200"/>
              </a:spcBef>
            </a:pPr>
            <a:r>
              <a:rPr sz="950" b="0">
                <a:solidFill>
                  <a:srgbClr val="66756F"/>
                </a:solidFill>
                <a:latin typeface="맑은 고딕"/>
              </a:rPr>
              <a:t>|D|&gt;τ 를 G/D 로 못박는데 그게 증폭된 노이즈를 못박는 것이었다</a:t>
            </a:r>
          </a:p>
          <a:p>
            <a:pPr>
              <a:lnSpc>
                <a:spcPct val="122000"/>
              </a:lnSpc>
              <a:spcBef>
                <a:spcPts val="0"/>
              </a:spcBef>
            </a:pPr>
            <a:r>
              <a:rPr sz="600"/>
              <a:t/>
            </a:r>
          </a:p>
          <a:p>
            <a:pPr>
              <a:lnSpc>
                <a:spcPct val="122000"/>
              </a:lnSpc>
              <a:spcBef>
                <a:spcPts val="200"/>
              </a:spcBef>
            </a:pPr>
            <a:r>
              <a:rPr sz="950" b="1">
                <a:solidFill>
                  <a:srgbClr val="3C4947"/>
                </a:solidFill>
                <a:latin typeface="맑은 고딕"/>
              </a:rPr>
              <a:t>end-to-end → 전개형 → σ 조건화 → 융합</a:t>
            </a:r>
            <a:r>
              <a:rPr sz="950" b="0">
                <a:solidFill>
                  <a:srgbClr val="3C4947"/>
                </a:solidFill>
                <a:latin typeface="맑은 고딕"/>
              </a:rPr>
              <a:t> 순으로 올라간다</a:t>
            </a:r>
          </a:p>
          <a:p>
            <a:pPr>
              <a:lnSpc>
                <a:spcPct val="122000"/>
              </a:lnSpc>
              <a:spcBef>
                <a:spcPts val="200"/>
              </a:spcBef>
            </a:pPr>
            <a:r>
              <a:rPr sz="950" b="0">
                <a:solidFill>
                  <a:srgbClr val="66756F"/>
                </a:solidFill>
                <a:latin typeface="맑은 고딕"/>
              </a:rPr>
              <a:t>물리를 층으로 넣고, σ 를 알려주고, 마지막에 섞은 것이 각각 이만큼이다</a:t>
            </a:r>
          </a:p>
          <a:p>
            <a:pPr>
              <a:lnSpc>
                <a:spcPct val="122000"/>
              </a:lnSpc>
              <a:spcBef>
                <a:spcPts val="0"/>
              </a:spcBef>
            </a:pPr>
            <a:r>
              <a:rPr sz="600"/>
              <a:t/>
            </a:r>
          </a:p>
          <a:p>
            <a:pPr>
              <a:lnSpc>
                <a:spcPct val="122000"/>
              </a:lnSpc>
              <a:spcBef>
                <a:spcPts val="200"/>
              </a:spcBef>
            </a:pPr>
            <a:r>
              <a:rPr sz="950" b="1">
                <a:solidFill>
                  <a:srgbClr val="3C4947"/>
                </a:solidFill>
                <a:latin typeface="맑은 고딕"/>
              </a:rPr>
              <a:t>Rician 만 유독 낮다</a:t>
            </a:r>
            <a:r>
              <a:rPr sz="950" b="0">
                <a:solidFill>
                  <a:srgbClr val="3C4947"/>
                </a:solidFill>
                <a:latin typeface="맑은 고딕"/>
              </a:rPr>
              <a:t>. 어느 시도에서도 그렇다</a:t>
            </a:r>
          </a:p>
          <a:p>
            <a:pPr>
              <a:lnSpc>
                <a:spcPct val="122000"/>
              </a:lnSpc>
              <a:spcBef>
                <a:spcPts val="200"/>
              </a:spcBef>
            </a:pPr>
            <a:r>
              <a:rPr sz="950" b="0">
                <a:solidFill>
                  <a:srgbClr val="66756F"/>
                </a:solidFill>
                <a:latin typeface="맑은 고딕"/>
              </a:rPr>
              <a:t>구조 문제가 아니라 노이즈의 평균이 0 이 아니라서다</a:t>
            </a:r>
          </a:p>
          <a:p>
            <a:pPr>
              <a:lnSpc>
                <a:spcPct val="122000"/>
              </a:lnSpc>
              <a:spcBef>
                <a:spcPts val="0"/>
              </a:spcBef>
            </a:pPr>
            <a:r>
              <a:rPr sz="600"/>
              <a:t/>
            </a:r>
          </a:p>
          <a:p>
            <a:pPr>
              <a:lnSpc>
                <a:spcPct val="122000"/>
              </a:lnSpc>
              <a:spcBef>
                <a:spcPts val="200"/>
              </a:spcBef>
            </a:pPr>
            <a:r>
              <a:rPr sz="950" b="1">
                <a:solidFill>
                  <a:srgbClr val="0B6E5E"/>
                </a:solidFill>
                <a:latin typeface="맑은 고딕"/>
              </a:rPr>
              <a:t>오른쪽 — σ 가 커질수록 떨어진다</a:t>
            </a:r>
          </a:p>
          <a:p>
            <a:pPr>
              <a:lnSpc>
                <a:spcPct val="122000"/>
              </a:lnSpc>
              <a:spcBef>
                <a:spcPts val="200"/>
              </a:spcBef>
            </a:pPr>
            <a:r>
              <a:rPr sz="950" b="0">
                <a:solidFill>
                  <a:srgbClr val="3C4947"/>
                </a:solidFill>
                <a:latin typeface="맑은 고딕"/>
              </a:rPr>
              <a:t>중요한 건 </a:t>
            </a:r>
            <a:r>
              <a:rPr sz="950" b="1">
                <a:solidFill>
                  <a:srgbClr val="3C4947"/>
                </a:solidFill>
                <a:latin typeface="맑은 고딕"/>
              </a:rPr>
              <a:t>색이 섞이지 않고 층을 이룬다</a:t>
            </a:r>
            <a:r>
              <a:rPr sz="950" b="0">
                <a:solidFill>
                  <a:srgbClr val="3C4947"/>
                </a:solidFill>
                <a:latin typeface="맑은 고딕"/>
              </a:rPr>
              <a:t>는 점이다</a:t>
            </a:r>
          </a:p>
          <a:p>
            <a:pPr>
              <a:lnSpc>
                <a:spcPct val="122000"/>
              </a:lnSpc>
              <a:spcBef>
                <a:spcPts val="200"/>
              </a:spcBef>
            </a:pPr>
            <a:r>
              <a:rPr sz="950" b="0">
                <a:solidFill>
                  <a:srgbClr val="66756F"/>
                </a:solidFill>
                <a:latin typeface="맑은 고딕"/>
              </a:rPr>
              <a:t>같은 σ 에서도 Rician(주황)은 아래, Salt &amp; Pepper(빨강)는 위다. 세기만이 아니라 종류가 따로 영향을 준다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test_deconv_noise 100장 전부 · 시도끼리 비교하려고 self-ensemble 없이 쟀다. 최종 제출은 여기에 16× self-ensemble 을 얹은 30.44 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103</TotalTime>
  <Words>2618</Words>
  <Application>Microsoft Office PowerPoint</Application>
  <PresentationFormat>와이드스크린</PresentationFormat>
  <Paragraphs>527</Paragraphs>
  <Slides>25</Slides>
  <Notes>15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25</vt:i4>
      </vt:variant>
    </vt:vector>
  </HeadingPairs>
  <TitlesOfParts>
    <vt:vector size="31" baseType="lpstr">
      <vt:lpstr>Malgun Gothic</vt:lpstr>
      <vt:lpstr>Malgun Gothic</vt:lpstr>
      <vt:lpstr>Arial</vt:lpstr>
      <vt:lpstr>Calibri</vt:lpstr>
      <vt:lpstr>Consolas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cp:lastModifiedBy>삼성</cp:lastModifiedBy>
  <cp:revision>12</cp:revision>
  <dcterms:created xsi:type="dcterms:W3CDTF">2013-01-27T09:14:16Z</dcterms:created>
  <dcterms:modified xsi:type="dcterms:W3CDTF">2026-09-03T02:56:02Z</dcterms:modified>
</cp:coreProperties>
</file>