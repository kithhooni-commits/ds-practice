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0B6E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37160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0B6E5E"/>
                </a:solidFill>
                <a:latin typeface="Consolas"/>
              </a:rPr>
              <a:t>삼성 DS2 · Image Restoration Challenge · Day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100584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4000" b="1">
                <a:solidFill>
                  <a:srgbClr val="131A19"/>
                </a:solidFill>
                <a:latin typeface="맑은 고딕"/>
              </a:rPr>
              <a:t>1일차 + 2일차 = 3일차 가 아니다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651760"/>
            <a:ext cx="100584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4000" b="1">
                <a:solidFill>
                  <a:srgbClr val="0B6E5E"/>
                </a:solidFill>
                <a:latin typeface="맑은 고딕"/>
              </a:rPr>
              <a:t>선형 역산이 포기한 곳을 메우는 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657600"/>
            <a:ext cx="9144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66756F"/>
                </a:solidFill>
                <a:latin typeface="맑은 고딕"/>
              </a:rPr>
              <a:t>g = dipole(f) + n   ·   test_deconv_noise 100장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14400" y="4389120"/>
            <a:ext cx="4023360" cy="1371600"/>
          </a:xfrm>
          <a:prstGeom prst="roundRect">
            <a:avLst>
              <a:gd name="adj" fmla="val 4000"/>
            </a:avLst>
          </a:prstGeom>
          <a:solidFill>
            <a:srgbClr val="DCEDE8"/>
          </a:solidFill>
          <a:ln w="9525">
            <a:solidFill>
              <a:srgbClr val="0B6E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4572000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0B6E5E"/>
                </a:solidFill>
                <a:latin typeface="Consolas"/>
              </a:rPr>
              <a:t>제출값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4892040"/>
            <a:ext cx="36576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800" b="1">
                <a:solidFill>
                  <a:srgbClr val="131A19"/>
                </a:solidFill>
                <a:latin typeface="맑은 고딕"/>
              </a:rPr>
              <a:t>30.37 dB / 0.8900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212080" y="4389120"/>
            <a:ext cx="4023360" cy="1371600"/>
          </a:xfrm>
          <a:prstGeom prst="roundRect">
            <a:avLst>
              <a:gd name="adj" fmla="val 4000"/>
            </a:avLst>
          </a:prstGeom>
          <a:solidFill>
            <a:srgbClr val="F3F6F5"/>
          </a:solidFill>
          <a:ln w="9525">
            <a:solidFill>
              <a:srgbClr val="DCE3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40680" y="4572000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66756F"/>
                </a:solidFill>
                <a:latin typeface="Consolas"/>
              </a:rPr>
              <a:t>배포 baseline 대비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40680" y="4892040"/>
            <a:ext cx="36576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800" b="1">
                <a:solidFill>
                  <a:srgbClr val="0B6E5E"/>
                </a:solidFill>
                <a:latin typeface="맑은 고딕"/>
              </a:rPr>
              <a:t>+5.35 dB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20624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0B6E5E"/>
                </a:solidFill>
                <a:latin typeface="Consolas"/>
              </a:rPr>
              <a:t>Contents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13232"/>
            <a:ext cx="10972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>
                <a:solidFill>
                  <a:srgbClr val="131A19"/>
                </a:solidFill>
                <a:latin typeface="맑은 고딕"/>
              </a:rPr>
              <a:t>목차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417320"/>
            <a:ext cx="10908792" cy="15240"/>
          </a:xfrm>
          <a:prstGeom prst="rect">
            <a:avLst/>
          </a:prstGeom>
          <a:solidFill>
            <a:srgbClr val="DCE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822960" y="1481328"/>
            <a:ext cx="10515600" cy="402336"/>
          </a:xfrm>
          <a:prstGeom prst="roundRect">
            <a:avLst>
              <a:gd name="adj" fmla="val 4000"/>
            </a:avLst>
          </a:prstGeom>
          <a:solidFill>
            <a:srgbClr val="F3F6F5"/>
          </a:solidFill>
          <a:ln w="9525">
            <a:solidFill>
              <a:srgbClr val="DCE3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1536192"/>
            <a:ext cx="164592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>
                <a:solidFill>
                  <a:srgbClr val="0B6E5E"/>
                </a:solidFill>
                <a:latin typeface="맑은 고딕"/>
              </a:rPr>
              <a:t>여정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834640" y="1554480"/>
            <a:ext cx="69494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3C4947"/>
                </a:solidFill>
                <a:latin typeface="맑은 고딕"/>
              </a:rPr>
              <a:t>무엇을 바꿔 몇 dB 올랐나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0" y="1554480"/>
            <a:ext cx="10972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>
                <a:solidFill>
                  <a:srgbClr val="66756F"/>
                </a:solidFill>
                <a:latin typeface="Consolas"/>
              </a:rPr>
              <a:t>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1929384"/>
            <a:ext cx="10515600" cy="402336"/>
          </a:xfrm>
          <a:prstGeom prst="roundRect">
            <a:avLst>
              <a:gd name="adj" fmla="val 4000"/>
            </a:avLst>
          </a:prstGeom>
          <a:solidFill>
            <a:srgbClr val="F3F6F5"/>
          </a:solidFill>
          <a:ln w="9525">
            <a:solidFill>
              <a:srgbClr val="DCE3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1984248"/>
            <a:ext cx="164592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>
                <a:solidFill>
                  <a:srgbClr val="0B6E5E"/>
                </a:solidFill>
                <a:latin typeface="맑은 고딕"/>
              </a:rPr>
              <a:t>문제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834640" y="2002536"/>
            <a:ext cx="69494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3C4947"/>
                </a:solidFill>
                <a:latin typeface="맑은 고딕"/>
              </a:rPr>
              <a:t>흐림과 노이즈가 겹쳤다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0" y="2002536"/>
            <a:ext cx="10972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>
                <a:solidFill>
                  <a:srgbClr val="66756F"/>
                </a:solidFill>
                <a:latin typeface="Consolas"/>
              </a:rPr>
              <a:t>4–5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2960" y="2377440"/>
            <a:ext cx="10515600" cy="402336"/>
          </a:xfrm>
          <a:prstGeom prst="roundRect">
            <a:avLst>
              <a:gd name="adj" fmla="val 4000"/>
            </a:avLst>
          </a:prstGeom>
          <a:solidFill>
            <a:srgbClr val="F3F6F5"/>
          </a:solidFill>
          <a:ln w="9525">
            <a:solidFill>
              <a:srgbClr val="DCE3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51560" y="2432304"/>
            <a:ext cx="164592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>
                <a:solidFill>
                  <a:srgbClr val="0B6E5E"/>
                </a:solidFill>
                <a:latin typeface="맑은 고딕"/>
              </a:rPr>
              <a:t>시도 ①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834640" y="2450592"/>
            <a:ext cx="69494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3C4947"/>
                </a:solidFill>
                <a:latin typeface="맑은 고딕"/>
              </a:rPr>
              <a:t>1일차 + 2일차 조합 — 왜 지는가 · 선형의 천장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58400" y="2450592"/>
            <a:ext cx="10972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>
                <a:solidFill>
                  <a:srgbClr val="66756F"/>
                </a:solidFill>
                <a:latin typeface="Consolas"/>
              </a:rPr>
              <a:t>6–7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22960" y="2825496"/>
            <a:ext cx="10515600" cy="402336"/>
          </a:xfrm>
          <a:prstGeom prst="roundRect">
            <a:avLst>
              <a:gd name="adj" fmla="val 4000"/>
            </a:avLst>
          </a:prstGeom>
          <a:solidFill>
            <a:srgbClr val="F3F6F5"/>
          </a:solidFill>
          <a:ln w="9525">
            <a:solidFill>
              <a:srgbClr val="DCE3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51560" y="2880360"/>
            <a:ext cx="164592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>
                <a:solidFill>
                  <a:srgbClr val="0B6E5E"/>
                </a:solidFill>
                <a:latin typeface="맑은 고딕"/>
              </a:rPr>
              <a:t>시도 ②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834640" y="2898648"/>
            <a:ext cx="69494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3C4947"/>
                </a:solidFill>
                <a:latin typeface="맑은 고딕"/>
              </a:rPr>
              <a:t>DC-Net — 2일차 최고 구조가 죽은 이유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058400" y="2898648"/>
            <a:ext cx="10972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>
                <a:solidFill>
                  <a:srgbClr val="66756F"/>
                </a:solidFill>
                <a:latin typeface="Consolas"/>
              </a:rPr>
              <a:t>8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22960" y="3273552"/>
            <a:ext cx="10515600" cy="402336"/>
          </a:xfrm>
          <a:prstGeom prst="roundRect">
            <a:avLst>
              <a:gd name="adj" fmla="val 4000"/>
            </a:avLst>
          </a:prstGeom>
          <a:solidFill>
            <a:srgbClr val="F3F6F5"/>
          </a:solidFill>
          <a:ln w="9525">
            <a:solidFill>
              <a:srgbClr val="DCE3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51560" y="3328416"/>
            <a:ext cx="164592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>
                <a:solidFill>
                  <a:srgbClr val="0B6E5E"/>
                </a:solidFill>
                <a:latin typeface="맑은 고딕"/>
              </a:rPr>
              <a:t>시도 ③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834640" y="3346704"/>
            <a:ext cx="69494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3C4947"/>
                </a:solidFill>
                <a:latin typeface="맑은 고딕"/>
              </a:rPr>
              <a:t>2단 분해 — 전달 곡선과 실패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058400" y="3346704"/>
            <a:ext cx="10972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>
                <a:solidFill>
                  <a:srgbClr val="66756F"/>
                </a:solidFill>
                <a:latin typeface="Consolas"/>
              </a:rPr>
              <a:t>9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22960" y="3721608"/>
            <a:ext cx="10515600" cy="402336"/>
          </a:xfrm>
          <a:prstGeom prst="roundRect">
            <a:avLst>
              <a:gd name="adj" fmla="val 4000"/>
            </a:avLst>
          </a:prstGeom>
          <a:solidFill>
            <a:srgbClr val="F3F6F5"/>
          </a:solidFill>
          <a:ln w="9525">
            <a:solidFill>
              <a:srgbClr val="DCE3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51560" y="3776472"/>
            <a:ext cx="164592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>
                <a:solidFill>
                  <a:srgbClr val="0B6E5E"/>
                </a:solidFill>
                <a:latin typeface="맑은 고딕"/>
              </a:rPr>
              <a:t>우리 방법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834640" y="3794760"/>
            <a:ext cx="69494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3C4947"/>
                </a:solidFill>
                <a:latin typeface="맑은 고딕"/>
              </a:rPr>
              <a:t>전개형 파이프라인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058400" y="3794760"/>
            <a:ext cx="10972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>
                <a:solidFill>
                  <a:srgbClr val="66756F"/>
                </a:solidFill>
                <a:latin typeface="Consolas"/>
              </a:rPr>
              <a:t>10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22960" y="4169664"/>
            <a:ext cx="10515600" cy="402336"/>
          </a:xfrm>
          <a:prstGeom prst="roundRect">
            <a:avLst>
              <a:gd name="adj" fmla="val 4000"/>
            </a:avLst>
          </a:prstGeom>
          <a:solidFill>
            <a:srgbClr val="F3F6F5"/>
          </a:solidFill>
          <a:ln w="9525">
            <a:solidFill>
              <a:srgbClr val="DCE3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51560" y="4224528"/>
            <a:ext cx="164592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>
                <a:solidFill>
                  <a:srgbClr val="0B6E5E"/>
                </a:solidFill>
                <a:latin typeface="맑은 고딕"/>
              </a:rPr>
              <a:t>시도 ④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834640" y="4242816"/>
            <a:ext cx="69494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3C4947"/>
                </a:solidFill>
                <a:latin typeface="맑은 고딕"/>
              </a:rPr>
              <a:t>σ 조건화 — 성능의 절반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058400" y="4242816"/>
            <a:ext cx="10972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>
                <a:solidFill>
                  <a:srgbClr val="66756F"/>
                </a:solidFill>
                <a:latin typeface="Consolas"/>
              </a:rPr>
              <a:t>11–12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822960" y="4617720"/>
            <a:ext cx="10515600" cy="402336"/>
          </a:xfrm>
          <a:prstGeom prst="roundRect">
            <a:avLst>
              <a:gd name="adj" fmla="val 4000"/>
            </a:avLst>
          </a:prstGeom>
          <a:solidFill>
            <a:srgbClr val="F3F6F5"/>
          </a:solidFill>
          <a:ln w="9525">
            <a:solidFill>
              <a:srgbClr val="DCE3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51560" y="4672584"/>
            <a:ext cx="164592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>
                <a:solidFill>
                  <a:srgbClr val="0B6E5E"/>
                </a:solidFill>
                <a:latin typeface="맑은 고딕"/>
              </a:rPr>
              <a:t>시도 ⑤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834640" y="4690872"/>
            <a:ext cx="69494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3C4947"/>
                </a:solidFill>
                <a:latin typeface="맑은 고딕"/>
              </a:rPr>
              <a:t>안 통한 것들, 그리고 고쳐서 통한 것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058400" y="4690872"/>
            <a:ext cx="10972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>
                <a:solidFill>
                  <a:srgbClr val="66756F"/>
                </a:solidFill>
                <a:latin typeface="Consolas"/>
              </a:rPr>
              <a:t>13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822960" y="5065776"/>
            <a:ext cx="10515600" cy="402336"/>
          </a:xfrm>
          <a:prstGeom prst="roundRect">
            <a:avLst>
              <a:gd name="adj" fmla="val 4000"/>
            </a:avLst>
          </a:prstGeom>
          <a:solidFill>
            <a:srgbClr val="F3F6F5"/>
          </a:solidFill>
          <a:ln w="9525">
            <a:solidFill>
              <a:srgbClr val="DCE3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051560" y="5120640"/>
            <a:ext cx="164592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>
                <a:solidFill>
                  <a:srgbClr val="0B6E5E"/>
                </a:solidFill>
                <a:latin typeface="맑은 고딕"/>
              </a:rPr>
              <a:t>결과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834640" y="5138928"/>
            <a:ext cx="69494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3C4947"/>
                </a:solidFill>
                <a:latin typeface="맑은 고딕"/>
              </a:rPr>
              <a:t>최종 점수 · 복원 이미지 · 취약점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058400" y="5138928"/>
            <a:ext cx="10972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>
                <a:solidFill>
                  <a:srgbClr val="66756F"/>
                </a:solidFill>
                <a:latin typeface="Consolas"/>
              </a:rPr>
              <a:t>14–17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822960" y="5513832"/>
            <a:ext cx="10515600" cy="402336"/>
          </a:xfrm>
          <a:prstGeom prst="roundRect">
            <a:avLst>
              <a:gd name="adj" fmla="val 4000"/>
            </a:avLst>
          </a:prstGeom>
          <a:solidFill>
            <a:srgbClr val="F3F6F5"/>
          </a:solidFill>
          <a:ln w="9525">
            <a:solidFill>
              <a:srgbClr val="DCE3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051560" y="5568696"/>
            <a:ext cx="164592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>
                <a:solidFill>
                  <a:srgbClr val="0B6E5E"/>
                </a:solidFill>
                <a:latin typeface="맑은 고딕"/>
              </a:rPr>
              <a:t>보너스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834640" y="5586984"/>
            <a:ext cx="69494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3C4947"/>
                </a:solidFill>
                <a:latin typeface="맑은 고딕"/>
              </a:rPr>
              <a:t>label-free — 정답을 한 장도 쓰지 않고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058400" y="5586984"/>
            <a:ext cx="10972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>
                <a:solidFill>
                  <a:srgbClr val="66756F"/>
                </a:solidFill>
                <a:latin typeface="Consolas"/>
              </a:rPr>
              <a:t>18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822960" y="5961888"/>
            <a:ext cx="10515600" cy="402336"/>
          </a:xfrm>
          <a:prstGeom prst="roundRect">
            <a:avLst>
              <a:gd name="adj" fmla="val 4000"/>
            </a:avLst>
          </a:prstGeom>
          <a:solidFill>
            <a:srgbClr val="F3F6F5"/>
          </a:solidFill>
          <a:ln w="9525">
            <a:solidFill>
              <a:srgbClr val="DCE3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051560" y="6016752"/>
            <a:ext cx="164592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>
                <a:solidFill>
                  <a:srgbClr val="0B6E5E"/>
                </a:solidFill>
                <a:latin typeface="맑은 고딕"/>
              </a:rPr>
              <a:t>규칙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834640" y="6035040"/>
            <a:ext cx="69494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3C4947"/>
                </a:solidFill>
                <a:latin typeface="맑은 고딕"/>
              </a:rPr>
              <a:t>test 는 채점에만 썼다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058400" y="6035040"/>
            <a:ext cx="10972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>
                <a:solidFill>
                  <a:srgbClr val="66756F"/>
                </a:solidFill>
                <a:latin typeface="Consolas"/>
              </a:rPr>
              <a:t>19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20624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0B6E5E"/>
                </a:solidFill>
                <a:latin typeface="Consolas"/>
              </a:rPr>
              <a:t>한눈에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13232"/>
            <a:ext cx="10972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>
                <a:solidFill>
                  <a:srgbClr val="131A19"/>
                </a:solidFill>
                <a:latin typeface="맑은 고딕"/>
              </a:rPr>
              <a:t>여정 — 무엇을 바꿔 무엇이 늘었나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66756F"/>
                </a:solidFill>
                <a:latin typeface="맑은 고딕"/>
              </a:rPr>
              <a:t>각 칸이 뒤에서 한 장씩 펼쳐진다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874520"/>
            <a:ext cx="10908792" cy="15240"/>
          </a:xfrm>
          <a:prstGeom prst="rect">
            <a:avLst/>
          </a:prstGeom>
          <a:solidFill>
            <a:srgbClr val="DCE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02920" y="1691640"/>
            <a:ext cx="1572768" cy="1600200"/>
          </a:xfrm>
          <a:prstGeom prst="roundRect">
            <a:avLst>
              <a:gd name="adj" fmla="val 4000"/>
            </a:avLst>
          </a:prstGeom>
          <a:solidFill>
            <a:srgbClr val="F3F6F5"/>
          </a:solidFill>
          <a:ln w="9525">
            <a:solidFill>
              <a:srgbClr val="DCE3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57784" y="1792224"/>
            <a:ext cx="14630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1">
                <a:solidFill>
                  <a:srgbClr val="0B6E5E"/>
                </a:solidFill>
                <a:latin typeface="Consolas"/>
              </a:rPr>
              <a:t>출발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57784" y="2066543"/>
            <a:ext cx="146304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1">
                <a:solidFill>
                  <a:srgbClr val="131A19"/>
                </a:solidFill>
                <a:latin typeface="맑은 고딕"/>
              </a:rPr>
              <a:t>Wiener
단독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57784" y="2761488"/>
            <a:ext cx="1463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350" b="1">
                <a:solidFill>
                  <a:srgbClr val="3C4947"/>
                </a:solidFill>
                <a:latin typeface="Consolas"/>
              </a:rPr>
              <a:t>13.79 dB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2103120" y="2395728"/>
            <a:ext cx="182880" cy="219456"/>
          </a:xfrm>
          <a:prstGeom prst="rightArrow">
            <a:avLst/>
          </a:prstGeom>
          <a:solidFill>
            <a:srgbClr val="0B6E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2350008" y="1691640"/>
            <a:ext cx="1572768" cy="1600200"/>
          </a:xfrm>
          <a:prstGeom prst="roundRect">
            <a:avLst>
              <a:gd name="adj" fmla="val 4000"/>
            </a:avLst>
          </a:prstGeom>
          <a:solidFill>
            <a:srgbClr val="F3F6F5"/>
          </a:solidFill>
          <a:ln w="9525">
            <a:solidFill>
              <a:srgbClr val="DCE3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404872" y="1792224"/>
            <a:ext cx="14630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1">
                <a:solidFill>
                  <a:srgbClr val="0B6E5E"/>
                </a:solidFill>
                <a:latin typeface="Consolas"/>
              </a:rPr>
              <a:t>① 조합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404872" y="2066543"/>
            <a:ext cx="146304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1">
                <a:solidFill>
                  <a:srgbClr val="131A19"/>
                </a:solidFill>
                <a:latin typeface="맑은 고딕"/>
              </a:rPr>
              <a:t>1일차 디노이저
→ Wiener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404872" y="2761488"/>
            <a:ext cx="1463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350" b="1">
                <a:solidFill>
                  <a:srgbClr val="3C4947"/>
                </a:solidFill>
                <a:latin typeface="Consolas"/>
              </a:rPr>
              <a:t>21.06 dB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3950208" y="2395728"/>
            <a:ext cx="182880" cy="219456"/>
          </a:xfrm>
          <a:prstGeom prst="rightArrow">
            <a:avLst/>
          </a:prstGeom>
          <a:solidFill>
            <a:srgbClr val="0B6E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4197096" y="1691640"/>
            <a:ext cx="1572768" cy="1600200"/>
          </a:xfrm>
          <a:prstGeom prst="roundRect">
            <a:avLst>
              <a:gd name="adj" fmla="val 4000"/>
            </a:avLst>
          </a:prstGeom>
          <a:solidFill>
            <a:srgbClr val="F3F6F5"/>
          </a:solidFill>
          <a:ln w="9525">
            <a:solidFill>
              <a:srgbClr val="DCE3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251960" y="1792224"/>
            <a:ext cx="14630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1">
                <a:solidFill>
                  <a:srgbClr val="0B6E5E"/>
                </a:solidFill>
                <a:latin typeface="Consolas"/>
              </a:rPr>
              <a:t>② 구조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251960" y="2066543"/>
            <a:ext cx="146304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1">
                <a:solidFill>
                  <a:srgbClr val="131A19"/>
                </a:solidFill>
                <a:latin typeface="맑은 고딕"/>
              </a:rPr>
              <a:t>전개형
(물리+학습)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251960" y="2761488"/>
            <a:ext cx="1463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350" b="1">
                <a:solidFill>
                  <a:srgbClr val="3C4947"/>
                </a:solidFill>
                <a:latin typeface="Consolas"/>
              </a:rPr>
              <a:t>25.91 dB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5797296" y="2395728"/>
            <a:ext cx="182880" cy="219456"/>
          </a:xfrm>
          <a:prstGeom prst="rightArrow">
            <a:avLst/>
          </a:prstGeom>
          <a:solidFill>
            <a:srgbClr val="0B6E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6044184" y="1691640"/>
            <a:ext cx="1572768" cy="1600200"/>
          </a:xfrm>
          <a:prstGeom prst="roundRect">
            <a:avLst>
              <a:gd name="adj" fmla="val 4000"/>
            </a:avLst>
          </a:prstGeom>
          <a:solidFill>
            <a:srgbClr val="F3F6F5"/>
          </a:solidFill>
          <a:ln w="9525">
            <a:solidFill>
              <a:srgbClr val="DCE3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099048" y="1792224"/>
            <a:ext cx="14630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1">
                <a:solidFill>
                  <a:srgbClr val="0B6E5E"/>
                </a:solidFill>
                <a:latin typeface="Consolas"/>
              </a:rPr>
              <a:t>③ 조건화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099048" y="2066543"/>
            <a:ext cx="146304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1">
                <a:solidFill>
                  <a:srgbClr val="131A19"/>
                </a:solidFill>
                <a:latin typeface="맑은 고딕"/>
              </a:rPr>
              <a:t>σ 를 측정치
에서 읽는다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99048" y="2761488"/>
            <a:ext cx="1463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350" b="1">
                <a:solidFill>
                  <a:srgbClr val="3C4947"/>
                </a:solidFill>
                <a:latin typeface="Consolas"/>
              </a:rPr>
              <a:t>29.25 dB</a:t>
            </a:r>
          </a:p>
        </p:txBody>
      </p:sp>
      <p:sp>
        <p:nvSpPr>
          <p:cNvPr id="25" name="Right Arrow 24"/>
          <p:cNvSpPr/>
          <p:nvPr/>
        </p:nvSpPr>
        <p:spPr>
          <a:xfrm>
            <a:off x="7644384" y="2395728"/>
            <a:ext cx="182880" cy="219456"/>
          </a:xfrm>
          <a:prstGeom prst="rightArrow">
            <a:avLst/>
          </a:prstGeom>
          <a:solidFill>
            <a:srgbClr val="0B6E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7891272" y="1691640"/>
            <a:ext cx="1572768" cy="1600200"/>
          </a:xfrm>
          <a:prstGeom prst="roundRect">
            <a:avLst>
              <a:gd name="adj" fmla="val 4000"/>
            </a:avLst>
          </a:prstGeom>
          <a:solidFill>
            <a:srgbClr val="F3F6F5"/>
          </a:solidFill>
          <a:ln w="9525">
            <a:solidFill>
              <a:srgbClr val="DCE3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946136" y="1792224"/>
            <a:ext cx="14630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1">
                <a:solidFill>
                  <a:srgbClr val="0B6E5E"/>
                </a:solidFill>
                <a:latin typeface="Consolas"/>
              </a:rPr>
              <a:t>④ 수렴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946136" y="2066543"/>
            <a:ext cx="146304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1">
                <a:solidFill>
                  <a:srgbClr val="131A19"/>
                </a:solidFill>
                <a:latin typeface="맑은 고딕"/>
              </a:rPr>
              <a:t>끝까지
더 학습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946136" y="2761488"/>
            <a:ext cx="1463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350" b="1">
                <a:solidFill>
                  <a:srgbClr val="3C4947"/>
                </a:solidFill>
                <a:latin typeface="Consolas"/>
              </a:rPr>
              <a:t>30.32 dB</a:t>
            </a:r>
          </a:p>
        </p:txBody>
      </p:sp>
      <p:sp>
        <p:nvSpPr>
          <p:cNvPr id="30" name="Right Arrow 29"/>
          <p:cNvSpPr/>
          <p:nvPr/>
        </p:nvSpPr>
        <p:spPr>
          <a:xfrm>
            <a:off x="9491472" y="2395728"/>
            <a:ext cx="182880" cy="219456"/>
          </a:xfrm>
          <a:prstGeom prst="rightArrow">
            <a:avLst/>
          </a:prstGeom>
          <a:solidFill>
            <a:srgbClr val="0B6E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9738360" y="1691640"/>
            <a:ext cx="1572768" cy="1600200"/>
          </a:xfrm>
          <a:prstGeom prst="roundRect">
            <a:avLst>
              <a:gd name="adj" fmla="val 4000"/>
            </a:avLst>
          </a:prstGeom>
          <a:solidFill>
            <a:srgbClr val="DCEDE8"/>
          </a:solidFill>
          <a:ln w="9525">
            <a:solidFill>
              <a:srgbClr val="0B6E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793224" y="1792224"/>
            <a:ext cx="14630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1">
                <a:solidFill>
                  <a:srgbClr val="0B6E5E"/>
                </a:solidFill>
                <a:latin typeface="Consolas"/>
              </a:rPr>
              <a:t>⑤ 융합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793224" y="2066543"/>
            <a:ext cx="146304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1">
                <a:solidFill>
                  <a:srgbClr val="131A19"/>
                </a:solidFill>
                <a:latin typeface="맑은 고딕"/>
              </a:rPr>
              <a:t>다른 구조
둘을 평균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793224" y="2761488"/>
            <a:ext cx="1463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350" b="1">
                <a:solidFill>
                  <a:srgbClr val="0B6E5E"/>
                </a:solidFill>
                <a:latin typeface="Consolas"/>
              </a:rPr>
              <a:t>30.37 dB</a:t>
            </a:r>
          </a:p>
        </p:txBody>
      </p:sp>
      <p:graphicFrame>
        <p:nvGraphicFramePr>
          <p:cNvPr id="35" name="Table 34"/>
          <p:cNvGraphicFramePr>
            <a:graphicFrameLocks noGrp="1"/>
          </p:cNvGraphicFramePr>
          <p:nvPr/>
        </p:nvGraphicFramePr>
        <p:xfrm>
          <a:off x="640080" y="3611880"/>
          <a:ext cx="10881358" cy="1645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19307"/>
                <a:gridCol w="2838615"/>
                <a:gridCol w="5677231"/>
                <a:gridCol w="946205"/>
              </a:tblGrid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131A19"/>
                          </a:solidFill>
                          <a:latin typeface="맑은 고딕"/>
                        </a:rPr>
                        <a:t>단계</a:t>
                      </a:r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131A19"/>
                          </a:solidFill>
                          <a:latin typeface="Consolas"/>
                        </a:rPr>
                        <a:t>무엇을 바꿨나</a:t>
                      </a:r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131A19"/>
                          </a:solidFill>
                          <a:latin typeface="Consolas"/>
                        </a:rPr>
                        <a:t>왜 올랐나</a:t>
                      </a:r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131A19"/>
                          </a:solidFill>
                          <a:latin typeface="Consolas"/>
                        </a:rPr>
                        <a:t>이득</a:t>
                      </a:r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4947"/>
                          </a:solidFill>
                          <a:latin typeface="맑은 고딕"/>
                        </a:rPr>
                        <a:t>① 조합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3C4947"/>
                          </a:solidFill>
                          <a:latin typeface="Consolas"/>
                        </a:rPr>
                        <a:t>역산 전에 노이즈를 먼저 지운다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3C4947"/>
                          </a:solidFill>
                          <a:latin typeface="Consolas"/>
                        </a:rPr>
                        <a:t>노이즈가 흐림 뒤에 붙어 측정치 위에서는 백색이다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3C4947"/>
                          </a:solidFill>
                          <a:latin typeface="Consolas"/>
                        </a:rPr>
                        <a:t>+7.3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4947"/>
                          </a:solidFill>
                          <a:latin typeface="맑은 고딕"/>
                        </a:rPr>
                        <a:t>② 구조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3C4947"/>
                          </a:solidFill>
                          <a:latin typeface="Consolas"/>
                        </a:rPr>
                        <a:t>물리 제약과 학습을 번갈아 4번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3C4947"/>
                          </a:solidFill>
                          <a:latin typeface="Consolas"/>
                        </a:rPr>
                        <a:t>역산은 닫힌 해로 끝내고 네트워크는 모르는 주파수만 채운다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3C4947"/>
                          </a:solidFill>
                          <a:latin typeface="Consolas"/>
                        </a:rPr>
                        <a:t>+4.9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4947"/>
                          </a:solidFill>
                          <a:latin typeface="맑은 고딕"/>
                        </a:rPr>
                        <a:t>③ 조건화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3C4947"/>
                          </a:solidFill>
                          <a:latin typeface="Consolas"/>
                        </a:rPr>
                        <a:t>σ 를 널 원뿔에서 읽어 넣는다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3C4947"/>
                          </a:solidFill>
                          <a:latin typeface="Consolas"/>
                        </a:rPr>
                        <a:t>σ 가 장마다 200배 차이난다. 하나로 뭉뚱그리면 평균에 타협한다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3C4947"/>
                          </a:solidFill>
                          <a:latin typeface="Consolas"/>
                        </a:rPr>
                        <a:t>+3.3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4947"/>
                          </a:solidFill>
                          <a:latin typeface="맑은 고딕"/>
                        </a:rPr>
                        <a:t>④ 수렴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3C4947"/>
                          </a:solidFill>
                          <a:latin typeface="Consolas"/>
                        </a:rPr>
                        <a:t>세 번에 걸쳐 230 에폭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3C4947"/>
                          </a:solidFill>
                          <a:latin typeface="Consolas"/>
                        </a:rPr>
                        <a:t>늘릴 때마다 마지막 에폭이 best 였다. 세 번 다 수렴 전이었다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3C4947"/>
                          </a:solidFill>
                          <a:latin typeface="Consolas"/>
                        </a:rPr>
                        <a:t>+1.07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131A19"/>
                          </a:solidFill>
                          <a:latin typeface="맑은 고딕"/>
                        </a:rPr>
                        <a:t>⑤ 융합</a:t>
                      </a:r>
                    </a:p>
                  </a:txBody>
                  <a:tcPr marL="82296" marR="82296" marT="27432" marB="27432" anchor="ctr">
                    <a:solidFill>
                      <a:srgbClr val="ECF5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131A19"/>
                          </a:solidFill>
                          <a:latin typeface="Consolas"/>
                        </a:rPr>
                        <a:t>4단계 · 6단계 모델을 평균</a:t>
                      </a:r>
                    </a:p>
                  </a:txBody>
                  <a:tcPr marL="82296" marR="82296" marT="27432" marB="27432" anchor="ctr">
                    <a:solidFill>
                      <a:srgbClr val="ECF5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131A19"/>
                          </a:solidFill>
                          <a:latin typeface="Consolas"/>
                        </a:rPr>
                        <a:t>구조가 다르니 틀리는 방식도 달라 오차가 상쇄된다 (무게는 val 에서)</a:t>
                      </a:r>
                    </a:p>
                  </a:txBody>
                  <a:tcPr marL="82296" marR="82296" marT="27432" marB="27432" anchor="ctr">
                    <a:solidFill>
                      <a:srgbClr val="ECF5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131A19"/>
                          </a:solidFill>
                          <a:latin typeface="Consolas"/>
                        </a:rPr>
                        <a:t>+0.05</a:t>
                      </a:r>
                    </a:p>
                  </a:txBody>
                  <a:tcPr marL="82296" marR="82296" marT="27432" marB="27432" anchor="ctr">
                    <a:solidFill>
                      <a:srgbClr val="ECF5F2"/>
                    </a:solidFill>
                  </a:tcPr>
                </a:tc>
              </a:tr>
            </a:tbl>
          </a:graphicData>
        </a:graphic>
      </p:graphicFrame>
      <p:sp>
        <p:nvSpPr>
          <p:cNvPr id="36" name="TextBox 35"/>
          <p:cNvSpPr txBox="1"/>
          <p:nvPr/>
        </p:nvSpPr>
        <p:spPr>
          <a:xfrm>
            <a:off x="640080" y="6355080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66756F"/>
                </a:solidFill>
                <a:latin typeface="Consolas"/>
              </a:rPr>
              <a:t>출발 13.79 → 최종 30.37   ·   통과 기준 26 / 0.83   ·   배포 baseline 25.02 / 0.815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20624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0B6E5E"/>
                </a:solidFill>
                <a:latin typeface="Consolas"/>
              </a:rPr>
              <a:t>Day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13232"/>
            <a:ext cx="10972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>
                <a:solidFill>
                  <a:srgbClr val="131A19"/>
                </a:solidFill>
                <a:latin typeface="맑은 고딕"/>
              </a:rPr>
              <a:t>문제 — 두 열화가 겹쳤다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66756F"/>
                </a:solidFill>
                <a:latin typeface="맑은 고딕"/>
              </a:rPr>
              <a:t>g = h * f + n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874520"/>
            <a:ext cx="10908792" cy="15240"/>
          </a:xfrm>
          <a:prstGeom prst="rect">
            <a:avLst/>
          </a:prstGeom>
          <a:solidFill>
            <a:srgbClr val="DCE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822960" y="1645920"/>
          <a:ext cx="5760720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22960"/>
                <a:gridCol w="3108960"/>
                <a:gridCol w="1828800"/>
              </a:tblGrid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31A19"/>
                          </a:solidFill>
                          <a:latin typeface="맑은 고딕"/>
                        </a:rPr>
                        <a:t>기호</a:t>
                      </a:r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131A19"/>
                          </a:solidFill>
                          <a:latin typeface="Consolas"/>
                        </a:rPr>
                        <a:t>뜻</a:t>
                      </a:r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131A19"/>
                          </a:solidFill>
                          <a:latin typeface="Consolas"/>
                        </a:rPr>
                        <a:t>아는가</a:t>
                      </a:r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C4947"/>
                          </a:solidFill>
                          <a:latin typeface="맑은 고딕"/>
                        </a:rPr>
                        <a:t>f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원본 이미지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모름 — 찾는 것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C4947"/>
                          </a:solidFill>
                          <a:latin typeface="맑은 고딕"/>
                        </a:rPr>
                        <a:t>h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dipole 커널 (한 점이 퍼지는 모양)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앎 — 조교 지침 4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C4947"/>
                          </a:solidFill>
                          <a:latin typeface="맑은 고딕"/>
                        </a:rPr>
                        <a:t>n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노이즈 (4종, σ 가 장마다 다름)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모름 — 조교 지침 4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C4947"/>
                          </a:solidFill>
                          <a:latin typeface="맑은 고딕"/>
                        </a:rPr>
                        <a:t>g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측정치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앎 — 주어진 것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6949440" y="1645920"/>
            <a:ext cx="4389120" cy="1554480"/>
          </a:xfrm>
          <a:prstGeom prst="roundRect">
            <a:avLst>
              <a:gd name="adj" fmla="val 4000"/>
            </a:avLst>
          </a:prstGeom>
          <a:solidFill>
            <a:srgbClr val="DCEDE8"/>
          </a:solidFill>
          <a:ln w="9525">
            <a:solidFill>
              <a:srgbClr val="0B6E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178040" y="1828800"/>
            <a:ext cx="393192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>
                <a:solidFill>
                  <a:srgbClr val="131A19"/>
                </a:solidFill>
                <a:latin typeface="맑은 고딕"/>
              </a:rPr>
              <a:t>h 를 안다는 것이 핵심 자산이다.</a:t>
            </a:r>
          </a:p>
          <a:p>
            <a:pPr algn="l">
              <a:lnSpc>
                <a:spcPct val="125000"/>
              </a:lnSpc>
            </a:pPr>
            <a:r>
              <a:rPr sz="1250" b="0">
                <a:solidFill>
                  <a:srgbClr val="3C4947"/>
                </a:solidFill>
                <a:latin typeface="맑은 고딕"/>
              </a:rPr>
              <a:t>역필터를 해석적으로 만들 수 있고,</a:t>
            </a:r>
          </a:p>
          <a:p>
            <a:pPr algn="l">
              <a:lnSpc>
                <a:spcPct val="125000"/>
              </a:lnSpc>
            </a:pPr>
            <a:r>
              <a:rPr sz="1250" b="0">
                <a:solidFill>
                  <a:srgbClr val="3C4947"/>
                </a:solidFill>
                <a:latin typeface="맑은 고딕"/>
              </a:rPr>
              <a:t>σ 를 공짜로 잴 수 있다.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822960" y="3383280"/>
          <a:ext cx="10515598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52599"/>
                <a:gridCol w="2503714"/>
                <a:gridCol w="3254828"/>
                <a:gridCol w="3004457"/>
              </a:tblGrid>
              <a:tr h="274320">
                <a:tc>
                  <a:txBody>
                    <a:bodyPr/>
                    <a:lstStyle/>
                    <a:p>
                      <a:pPr algn="l"/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131A19"/>
                          </a:solidFill>
                          <a:latin typeface="Consolas"/>
                        </a:rPr>
                        <a:t>1일차</a:t>
                      </a:r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131A19"/>
                          </a:solidFill>
                          <a:latin typeface="Consolas"/>
                        </a:rPr>
                        <a:t>2일차</a:t>
                      </a:r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131A19"/>
                          </a:solidFill>
                          <a:latin typeface="Consolas"/>
                        </a:rPr>
                        <a:t>3일차</a:t>
                      </a:r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C4947"/>
                          </a:solidFill>
                          <a:latin typeface="맑은 고딕"/>
                        </a:rPr>
                        <a:t>문제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g = f + n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g = h * f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131A19"/>
                          </a:solidFill>
                          <a:latin typeface="Consolas"/>
                        </a:rPr>
                        <a:t>g = h * f + n</a:t>
                      </a:r>
                    </a:p>
                  </a:txBody>
                  <a:tcPr marL="82296" marR="82296" marT="27432" marB="27432" anchor="ctr">
                    <a:solidFill>
                      <a:srgbClr val="ECF5F2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C4947"/>
                          </a:solidFill>
                          <a:latin typeface="맑은 고딕"/>
                        </a:rPr>
                        <a:t>답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DRUNet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Wiener K→0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131A19"/>
                          </a:solidFill>
                          <a:latin typeface="Consolas"/>
                        </a:rPr>
                        <a:t>?</a:t>
                      </a:r>
                    </a:p>
                  </a:txBody>
                  <a:tcPr marL="82296" marR="82296" marT="27432" marB="27432" anchor="ctr">
                    <a:solidFill>
                      <a:srgbClr val="ECF5F2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C4947"/>
                          </a:solidFill>
                          <a:latin typeface="맑은 고딕"/>
                        </a:rPr>
                        <a:t>점수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37.42 dB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109.86 dB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131A19"/>
                          </a:solidFill>
                          <a:latin typeface="Consolas"/>
                        </a:rPr>
                        <a:t>—</a:t>
                      </a:r>
                    </a:p>
                  </a:txBody>
                  <a:tcPr marL="82296" marR="82296" marT="27432" marB="27432" anchor="ctr">
                    <a:solidFill>
                      <a:srgbClr val="ECF5F2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C4947"/>
                          </a:solidFill>
                          <a:latin typeface="맑은 고딕"/>
                        </a:rPr>
                        <a:t>입력 SNR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+8.6 dB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무한대 (노이즈 없음)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131A19"/>
                          </a:solidFill>
                          <a:latin typeface="Consolas"/>
                        </a:rPr>
                        <a:t>+0.9 dB</a:t>
                      </a:r>
                    </a:p>
                  </a:txBody>
                  <a:tcPr marL="82296" marR="82296" marT="27432" marB="27432" anchor="ctr">
                    <a:solidFill>
                      <a:srgbClr val="ECF5F2"/>
                    </a:solidFill>
                  </a:tcPr>
                </a:tc>
              </a:tr>
            </a:tbl>
          </a:graphicData>
        </a:graphic>
      </p:graphicFrame>
      <p:sp>
        <p:nvSpPr>
          <p:cNvPr id="10" name="Rounded Rectangle 9"/>
          <p:cNvSpPr/>
          <p:nvPr/>
        </p:nvSpPr>
        <p:spPr>
          <a:xfrm>
            <a:off x="822960" y="5166360"/>
            <a:ext cx="10515600" cy="777240"/>
          </a:xfrm>
          <a:prstGeom prst="roundRect">
            <a:avLst>
              <a:gd name="adj" fmla="val 4000"/>
            </a:avLst>
          </a:prstGeom>
          <a:solidFill>
            <a:srgbClr val="DCEDE8"/>
          </a:solidFill>
          <a:ln w="9525">
            <a:solidFill>
              <a:srgbClr val="0B6E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51560" y="5321808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131A19"/>
                </a:solidFill>
                <a:latin typeface="맑은 고딕"/>
              </a:rPr>
              <a:t>3일차 측정치는 신호와 노이즈가 거의 같은 크기다 (SNR +0.9 dB). 흐림이 대비를 0.41배로 죽였기 때문이다.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20624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0B6E5E"/>
                </a:solidFill>
                <a:latin typeface="Consolas"/>
              </a:rPr>
              <a:t>문제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13232"/>
            <a:ext cx="10972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>
                <a:solidFill>
                  <a:srgbClr val="131A19"/>
                </a:solidFill>
                <a:latin typeface="맑은 고딕"/>
              </a:rPr>
              <a:t>문제가 어떻게 만들어지는가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66756F"/>
                </a:solidFill>
                <a:latin typeface="맑은 고딕"/>
              </a:rPr>
              <a:t>clean → dipole blur → + noise. 학습 쌍도 같은 방식으로 만든다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874520"/>
            <a:ext cx="10908792" cy="15240"/>
          </a:xfrm>
          <a:prstGeom prst="rect">
            <a:avLst/>
          </a:prstGeom>
          <a:solidFill>
            <a:srgbClr val="DCE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day3_forward_cha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920240"/>
            <a:ext cx="10698480" cy="299919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6355080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66756F"/>
                </a:solidFill>
                <a:latin typeface="Consolas"/>
              </a:rPr>
              <a:t>노이즈가 흐림 **뒤에** 붙는다 — 오른쪽 끝이 노이즈만 뽑아낸 것이다. 그래서 측정치 위에서는 백색이고, 역산 전에 지워야 한다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20624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0B6E5E"/>
                </a:solidFill>
                <a:latin typeface="Consolas"/>
              </a:rPr>
              <a:t>시도 ①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13232"/>
            <a:ext cx="10972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>
                <a:solidFill>
                  <a:srgbClr val="131A19"/>
                </a:solidFill>
                <a:latin typeface="맑은 고딕"/>
              </a:rPr>
              <a:t>시도 ① — 1일차 + 2일차를 이어 붙인다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66756F"/>
                </a:solidFill>
                <a:latin typeface="맑은 고딕"/>
              </a:rPr>
              <a:t>각자 최고인 도구인데 합치면 진다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874520"/>
            <a:ext cx="10908792" cy="15240"/>
          </a:xfrm>
          <a:prstGeom prst="rect">
            <a:avLst/>
          </a:prstGeom>
          <a:solidFill>
            <a:srgbClr val="DCE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822960" y="1600200"/>
          <a:ext cx="5852159" cy="1645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920"/>
                <a:gridCol w="2926080"/>
                <a:gridCol w="1280159"/>
              </a:tblGrid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31A19"/>
                          </a:solidFill>
                          <a:latin typeface="맑은 고딕"/>
                        </a:rPr>
                        <a:t>순서</a:t>
                      </a:r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131A19"/>
                          </a:solidFill>
                          <a:latin typeface="Consolas"/>
                        </a:rPr>
                        <a:t>방법</a:t>
                      </a:r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131A19"/>
                          </a:solidFill>
                          <a:latin typeface="Consolas"/>
                        </a:rPr>
                        <a:t>PSNR</a:t>
                      </a:r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31A19"/>
                          </a:solidFill>
                          <a:latin typeface="맑은 고딕"/>
                        </a:rPr>
                        <a:t>디노이징 먼저</a:t>
                      </a:r>
                    </a:p>
                  </a:txBody>
                  <a:tcPr marL="82296" marR="82296" marT="27432" marB="27432" anchor="ctr">
                    <a:solidFill>
                      <a:srgbClr val="ECF5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131A19"/>
                          </a:solidFill>
                          <a:latin typeface="Consolas"/>
                        </a:rPr>
                        <a:t>1일차 디노이저 → Wiener</a:t>
                      </a:r>
                    </a:p>
                  </a:txBody>
                  <a:tcPr marL="82296" marR="82296" marT="27432" marB="27432" anchor="ctr">
                    <a:solidFill>
                      <a:srgbClr val="ECF5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131A19"/>
                          </a:solidFill>
                          <a:latin typeface="Consolas"/>
                        </a:rPr>
                        <a:t>21.06</a:t>
                      </a:r>
                    </a:p>
                  </a:txBody>
                  <a:tcPr marL="82296" marR="82296" marT="27432" marB="27432" anchor="ctr">
                    <a:solidFill>
                      <a:srgbClr val="ECF5F2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median 3×3 → Wiener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19.20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C4947"/>
                          </a:solidFill>
                          <a:latin typeface="맑은 고딕"/>
                        </a:rPr>
                        <a:t>디컨볼루션 먼저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Wiener → 1일차 디노이저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16.88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C4947"/>
                          </a:solidFill>
                          <a:latin typeface="맑은 고딕"/>
                        </a:rPr>
                        <a:t>번갈아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plug-and-play (디노이저 고정)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16.02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C4947"/>
                          </a:solidFill>
                          <a:latin typeface="맑은 고딕"/>
                        </a:rPr>
                        <a:t>참고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Wiener 단독 · 2일차 답(K→0)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13.79 · −24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7040880" y="1600200"/>
            <a:ext cx="4297680" cy="1920240"/>
          </a:xfrm>
          <a:prstGeom prst="roundRect">
            <a:avLst>
              <a:gd name="adj" fmla="val 4000"/>
            </a:avLst>
          </a:prstGeom>
          <a:solidFill>
            <a:srgbClr val="DCEDE8"/>
          </a:solidFill>
          <a:ln w="9525">
            <a:solidFill>
              <a:srgbClr val="0B6E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269480" y="1783080"/>
            <a:ext cx="3840480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131A19"/>
                </a:solidFill>
                <a:latin typeface="맑은 고딕"/>
              </a:rPr>
              <a:t>순서가 4.2 dB 를 가른다.</a:t>
            </a:r>
          </a:p>
          <a:p>
            <a:pPr algn="l">
              <a:lnSpc>
                <a:spcPct val="125000"/>
              </a:lnSpc>
            </a:pPr>
            <a:r>
              <a:rPr sz="1200" b="0">
                <a:solidFill>
                  <a:srgbClr val="3C4947"/>
                </a:solidFill>
                <a:latin typeface="맑은 고딕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200" b="0">
                <a:solidFill>
                  <a:srgbClr val="3C4947"/>
                </a:solidFill>
                <a:latin typeface="맑은 고딕"/>
              </a:rPr>
              <a:t>Wiener 를 먼저 걸면 노이즈가 1/D 로 증폭되고 X자로 상관돼, 디노이저가 본 적 없는 종류가 된다.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3749039"/>
            <a:ext cx="10515600" cy="713232"/>
          </a:xfrm>
          <a:prstGeom prst="roundRect">
            <a:avLst>
              <a:gd name="adj" fmla="val 4000"/>
            </a:avLst>
          </a:prstGeom>
          <a:solidFill>
            <a:srgbClr val="F3F6F5"/>
          </a:solidFill>
          <a:ln w="9525">
            <a:solidFill>
              <a:srgbClr val="DCE3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3813047"/>
            <a:ext cx="694944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131A19"/>
                </a:solidFill>
                <a:latin typeface="맑은 고딕"/>
              </a:rPr>
              <a:t>2일차 답은 노이즈가 0이라서 통했다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" y="4096511"/>
            <a:ext cx="69494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66756F"/>
                </a:solidFill>
                <a:latin typeface="맑은 고딕"/>
              </a:rPr>
              <a:t>1/D 로 역산하면 노이즈 에너지가 폭발한다. n=0 이면 무한대 × 0 = 0 이었다.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21040" y="3858767"/>
            <a:ext cx="28346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300" b="1">
                <a:solidFill>
                  <a:srgbClr val="0B6E5E"/>
                </a:solidFill>
                <a:latin typeface="Consolas"/>
              </a:rPr>
              <a:t>+51.5 dB
노이즈 증폭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2960" y="4553711"/>
            <a:ext cx="10515600" cy="713232"/>
          </a:xfrm>
          <a:prstGeom prst="roundRect">
            <a:avLst>
              <a:gd name="adj" fmla="val 4000"/>
            </a:avLst>
          </a:prstGeom>
          <a:solidFill>
            <a:srgbClr val="F3F6F5"/>
          </a:solidFill>
          <a:ln w="9525">
            <a:solidFill>
              <a:srgbClr val="DCE3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51560" y="4617719"/>
            <a:ext cx="694944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131A19"/>
                </a:solidFill>
                <a:latin typeface="맑은 고딕"/>
              </a:rPr>
              <a:t>흐림이 대비를 죽여 같은 σ 가 훨씬 어려워진다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1560" y="4901183"/>
            <a:ext cx="69494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66756F"/>
                </a:solidFill>
                <a:latin typeface="맑은 고딕"/>
              </a:rPr>
              <a:t>std(f)=0.222 → std(h*f)=0.092. 노이즈는 1일차와 똑같은데 신호만 줄었다.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21040" y="4663439"/>
            <a:ext cx="28346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300" b="1">
                <a:solidFill>
                  <a:srgbClr val="0B6E5E"/>
                </a:solidFill>
                <a:latin typeface="Consolas"/>
              </a:rPr>
              <a:t>SNR +8.6
→ +0.9 dB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22960" y="5358383"/>
            <a:ext cx="10515600" cy="713232"/>
          </a:xfrm>
          <a:prstGeom prst="roundRect">
            <a:avLst>
              <a:gd name="adj" fmla="val 4000"/>
            </a:avLst>
          </a:prstGeom>
          <a:solidFill>
            <a:srgbClr val="F3F6F5"/>
          </a:solidFill>
          <a:ln w="9525">
            <a:solidFill>
              <a:srgbClr val="DCE3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51560" y="5422391"/>
            <a:ext cx="694944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131A19"/>
                </a:solidFill>
                <a:latin typeface="맑은 고딕"/>
              </a:rPr>
              <a:t>주파수의 16% 는 진짜로 복원 불가다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51560" y="5705855"/>
            <a:ext cx="69494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66756F"/>
                </a:solidFill>
                <a:latin typeface="맑은 고딕"/>
              </a:rPr>
              <a:t>|D|&lt;0.1 은 역산 후 SNR 이 −20 dB 이하. 2일차엔 이것도 되살렸다 (노이즈가 0이라).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21040" y="5468111"/>
            <a:ext cx="28346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300" b="1">
                <a:solidFill>
                  <a:srgbClr val="0B6E5E"/>
                </a:solidFill>
                <a:latin typeface="Consolas"/>
              </a:rPr>
              <a:t>16%
버려진다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20624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0B6E5E"/>
                </a:solidFill>
                <a:latin typeface="Consolas"/>
              </a:rPr>
              <a:t>한계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13232"/>
            <a:ext cx="10972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>
                <a:solidFill>
                  <a:srgbClr val="131A19"/>
                </a:solidFill>
                <a:latin typeface="맑은 고딕"/>
              </a:rPr>
              <a:t>시도 ① 의 한계 — 선형은 21.95 dB 에서 끝난다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66756F"/>
                </a:solidFill>
                <a:latin typeface="맑은 고딕"/>
              </a:rPr>
              <a:t>정답의 파워 스펙트럼을 알려줘도 그렇다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874520"/>
            <a:ext cx="10908792" cy="15240"/>
          </a:xfrm>
          <a:prstGeom prst="rect">
            <a:avLst/>
          </a:prstGeom>
          <a:solidFill>
            <a:srgbClr val="DCE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822960" y="1645920"/>
          <a:ext cx="6035038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50144"/>
                <a:gridCol w="993107"/>
                <a:gridCol w="2291787"/>
              </a:tblGrid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31A19"/>
                          </a:solidFill>
                          <a:latin typeface="맑은 고딕"/>
                        </a:rPr>
                        <a:t>필터 / 방법</a:t>
                      </a:r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131A19"/>
                          </a:solidFill>
                          <a:latin typeface="Consolas"/>
                        </a:rPr>
                        <a:t>PSNR</a:t>
                      </a:r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131A19"/>
                          </a:solidFill>
                          <a:latin typeface="Consolas"/>
                        </a:rPr>
                        <a:t>성격</a:t>
                      </a:r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C4947"/>
                          </a:solidFill>
                          <a:latin typeface="맑은 고딕"/>
                        </a:rPr>
                        <a:t>Wiener 상수 K (val 에서 고름)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13.72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실제로 쓸 수 있는 것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C4947"/>
                          </a:solidFill>
                          <a:latin typeface="맑은 고딕"/>
                        </a:rPr>
                        <a:t>1일차 디노이저 → Wiener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21.06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학습 없는 조합 중 최고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C4947"/>
                          </a:solidFill>
                          <a:latin typeface="맑은 고딕"/>
                        </a:rPr>
                        <a:t>오라클 위너 (장마다 참 스펙트럼)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21.95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선형의 천장. 만들 수 없다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C4947"/>
                          </a:solidFill>
                          <a:latin typeface="맑은 고딕"/>
                        </a:rPr>
                        <a:t>원뿔을 포기하는 방법의 상한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25.08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비선형이어도 넘을 수 없다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C4947"/>
                          </a:solidFill>
                          <a:latin typeface="맑은 고딕"/>
                        </a:rPr>
                        <a:t>배포 baseline (End2End U-Net)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25.02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그 상한에 붙어 있다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31A19"/>
                          </a:solidFill>
                          <a:latin typeface="맑은 고딕"/>
                        </a:rPr>
                        <a:t>우리 최종</a:t>
                      </a:r>
                    </a:p>
                  </a:txBody>
                  <a:tcPr marL="82296" marR="82296" marT="27432" marB="27432" anchor="ctr">
                    <a:solidFill>
                      <a:srgbClr val="ECF5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131A19"/>
                          </a:solidFill>
                          <a:latin typeface="Consolas"/>
                        </a:rPr>
                        <a:t>30.37</a:t>
                      </a:r>
                    </a:p>
                  </a:txBody>
                  <a:tcPr marL="82296" marR="82296" marT="27432" marB="27432" anchor="ctr">
                    <a:solidFill>
                      <a:srgbClr val="ECF5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131A19"/>
                          </a:solidFill>
                          <a:latin typeface="Consolas"/>
                        </a:rPr>
                        <a:t>원뿔을 실제로 메우고 있다</a:t>
                      </a:r>
                    </a:p>
                  </a:txBody>
                  <a:tcPr marL="82296" marR="82296" marT="27432" marB="27432" anchor="ctr">
                    <a:solidFill>
                      <a:srgbClr val="ECF5F2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7223760" y="1645920"/>
            <a:ext cx="4114800" cy="2194560"/>
          </a:xfrm>
          <a:prstGeom prst="roundRect">
            <a:avLst>
              <a:gd name="adj" fmla="val 4000"/>
            </a:avLst>
          </a:prstGeom>
          <a:solidFill>
            <a:srgbClr val="DCEDE8"/>
          </a:solidFill>
          <a:ln w="9525">
            <a:solidFill>
              <a:srgbClr val="0B6E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52360" y="1828800"/>
            <a:ext cx="3657600" cy="1920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131A19"/>
                </a:solidFill>
                <a:latin typeface="맑은 고딕"/>
              </a:rPr>
              <a:t>천장이 두 개다.</a:t>
            </a:r>
          </a:p>
          <a:p>
            <a:pPr algn="l">
              <a:lnSpc>
                <a:spcPct val="125000"/>
              </a:lnSpc>
            </a:pPr>
            <a:r>
              <a:rPr sz="1200" b="0">
                <a:solidFill>
                  <a:srgbClr val="3C4947"/>
                </a:solidFill>
                <a:latin typeface="맑은 고딕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200" b="0">
                <a:solidFill>
                  <a:srgbClr val="3C4947"/>
                </a:solidFill>
                <a:latin typeface="맑은 고딕"/>
              </a:rPr>
              <a:t>선형은 21.95 에서 끝난다.</a:t>
            </a:r>
          </a:p>
          <a:p>
            <a:pPr algn="l">
              <a:lnSpc>
                <a:spcPct val="125000"/>
              </a:lnSpc>
            </a:pPr>
            <a:r>
              <a:rPr sz="1200" b="0">
                <a:solidFill>
                  <a:srgbClr val="3C4947"/>
                </a:solidFill>
                <a:latin typeface="맑은 고딕"/>
              </a:rPr>
              <a:t>원뿔을 포기하면 비선형이라도</a:t>
            </a:r>
          </a:p>
          <a:p>
            <a:pPr algn="l">
              <a:lnSpc>
                <a:spcPct val="125000"/>
              </a:lnSpc>
            </a:pPr>
            <a:r>
              <a:rPr sz="1200" b="1">
                <a:solidFill>
                  <a:srgbClr val="131A19"/>
                </a:solidFill>
                <a:latin typeface="맑은 고딕"/>
              </a:rPr>
              <a:t>25.08 이 한계다 —</a:t>
            </a:r>
          </a:p>
          <a:p>
            <a:pPr algn="l">
              <a:lnSpc>
                <a:spcPct val="125000"/>
              </a:lnSpc>
            </a:pPr>
            <a:r>
              <a:rPr sz="1200" b="0">
                <a:solidFill>
                  <a:srgbClr val="3C4947"/>
                </a:solidFill>
                <a:latin typeface="맑은 고딕"/>
              </a:rPr>
              <a:t>우리 오차(정답의 0.77%)가</a:t>
            </a:r>
          </a:p>
          <a:p>
            <a:pPr algn="l">
              <a:lnSpc>
                <a:spcPct val="125000"/>
              </a:lnSpc>
            </a:pPr>
            <a:r>
              <a:rPr sz="1200" b="0">
                <a:solidFill>
                  <a:srgbClr val="3C4947"/>
                </a:solidFill>
                <a:latin typeface="맑은 고딕"/>
              </a:rPr>
              <a:t>원뿔에 든 정답(2.24%)보다 작다.</a:t>
            </a:r>
          </a:p>
          <a:p>
            <a:pPr algn="l">
              <a:lnSpc>
                <a:spcPct val="125000"/>
              </a:lnSpc>
            </a:pPr>
            <a:r>
              <a:rPr sz="1200" b="0">
                <a:solidFill>
                  <a:srgbClr val="3C4947"/>
                </a:solidFill>
                <a:latin typeface="맑은 고딕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200" b="1">
                <a:solidFill>
                  <a:srgbClr val="131A19"/>
                </a:solidFill>
                <a:latin typeface="맑은 고딕"/>
              </a:rPr>
              <a:t>30.37 는 원뿔의 최소 65% 를</a:t>
            </a:r>
          </a:p>
          <a:p>
            <a:pPr algn="l">
              <a:lnSpc>
                <a:spcPct val="125000"/>
              </a:lnSpc>
            </a:pPr>
            <a:r>
              <a:rPr sz="1200" b="1">
                <a:solidFill>
                  <a:srgbClr val="131A19"/>
                </a:solidFill>
                <a:latin typeface="맑은 고딕"/>
              </a:rPr>
              <a:t>메우고 있다는 뜻이다.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406908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0B6E5E"/>
                </a:solidFill>
                <a:latin typeface="맑은 고딕"/>
              </a:rPr>
              <a:t>왜 정답을 봐도 완벽하지 못한가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822960" y="4480560"/>
          <a:ext cx="10515600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8138160"/>
              </a:tblGrid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131A19"/>
                          </a:solidFill>
                          <a:latin typeface="맑은 고딕"/>
                        </a:rPr>
                        <a:t>이유</a:t>
                      </a:r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>
                          <a:solidFill>
                            <a:srgbClr val="131A19"/>
                          </a:solidFill>
                          <a:latin typeface="Consolas"/>
                        </a:rPr>
                        <a:t>설명</a:t>
                      </a:r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3C4947"/>
                          </a:solidFill>
                          <a:latin typeface="맑은 고딕"/>
                        </a:rPr>
                        <a:t>위상은 모른다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>
                          <a:solidFill>
                            <a:srgbClr val="3C4947"/>
                          </a:solidFill>
                          <a:latin typeface="Consolas"/>
                        </a:rPr>
                        <a:t>파워 스펙트럼은 '어느 굵기 무늬가 얼마나' 만 안다. '어디에 있는지' 는 위상이 담고 있다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3C4947"/>
                          </a:solidFill>
                          <a:latin typeface="맑은 고딕"/>
                        </a:rPr>
                        <a:t>곱하기밖에 못 한다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>
                          <a:solidFill>
                            <a:srgbClr val="3C4947"/>
                          </a:solidFill>
                          <a:latin typeface="Consolas"/>
                        </a:rPr>
                        <a:t>F̂(k) = W(k)·G(k). 측정치에 없는 것은 어떤 수를 곱해도 안 나온다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3C4947"/>
                          </a:solidFill>
                          <a:latin typeface="맑은 고딕"/>
                        </a:rPr>
                        <a:t>오차의 32% 는 버린 주파수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>
                          <a:solidFill>
                            <a:srgbClr val="3C4947"/>
                          </a:solidFill>
                          <a:latin typeface="Consolas"/>
                        </a:rPr>
                        <a:t>주파수의 89.2% 가 노이즈가 더 세다. 거기선 포기가 최선이고 버린 만큼이 오차로 남는다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3C4947"/>
                          </a:solidFill>
                          <a:latin typeface="맑은 고딕"/>
                        </a:rPr>
                        <a:t>오차의 68% 는 새어든 노이즈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>
                          <a:solidFill>
                            <a:srgbClr val="3C4947"/>
                          </a:solidFill>
                          <a:latin typeface="Consolas"/>
                        </a:rPr>
                        <a:t>살린 주파수에서는 신호를 완벽히 살리는 것과 노이즈를 완전히 막는 것을 동시에 못 한다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20624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0B6E5E"/>
                </a:solidFill>
                <a:latin typeface="Consolas"/>
              </a:rPr>
              <a:t>시도 ②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13232"/>
            <a:ext cx="10972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>
                <a:solidFill>
                  <a:srgbClr val="131A19"/>
                </a:solidFill>
                <a:latin typeface="맑은 고딕"/>
              </a:rPr>
              <a:t>시도 ② — DC-Net. 2일차 최고 구조를 그대로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66756F"/>
                </a:solidFill>
                <a:latin typeface="맑은 고딕"/>
              </a:rPr>
              <a:t>2일차 42.93 dB → 3일차 14.80 dB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874520"/>
            <a:ext cx="10908792" cy="15240"/>
          </a:xfrm>
          <a:prstGeom prst="rect">
            <a:avLst/>
          </a:prstGeom>
          <a:solidFill>
            <a:srgbClr val="DCE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60020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0">
                <a:solidFill>
                  <a:srgbClr val="3C4947"/>
                </a:solidFill>
                <a:latin typeface="맑은 고딕"/>
              </a:rPr>
              <a:t>hard DC 는 |D|&gt;τ 인 주파수를 G/D 로 못박는다. 그런데 G = D·F + N 이므로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377440" y="2057400"/>
            <a:ext cx="7406640" cy="640080"/>
          </a:xfrm>
          <a:prstGeom prst="roundRect">
            <a:avLst>
              <a:gd name="adj" fmla="val 4000"/>
            </a:avLst>
          </a:prstGeom>
          <a:solidFill>
            <a:srgbClr val="DCEDE8"/>
          </a:solidFill>
          <a:ln w="9525">
            <a:solidFill>
              <a:srgbClr val="0B6E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468880" y="2194560"/>
            <a:ext cx="72237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131A19"/>
                </a:solidFill>
                <a:latin typeface="Consolas"/>
              </a:rPr>
              <a:t>G/D  =  F  +  N/D        ← 증폭된 노이즈를 못박는다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788920"/>
            <a:ext cx="10515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66756F"/>
                </a:solidFill>
                <a:latin typeface="맑은 고딕"/>
              </a:rPr>
              <a:t>네트워크는 그 주파수를 고칠 권한이 없다. 2일차엔 N=0 이라 완벽했다.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822960" y="3291840"/>
          <a:ext cx="10515600" cy="1097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08960"/>
                <a:gridCol w="2194560"/>
                <a:gridCol w="2743200"/>
                <a:gridCol w="2468880"/>
              </a:tblGrid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31A19"/>
                          </a:solidFill>
                          <a:latin typeface="맑은 고딕"/>
                        </a:rPr>
                        <a:t>τ</a:t>
                      </a:r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131A19"/>
                          </a:solidFill>
                          <a:latin typeface="Consolas"/>
                        </a:rPr>
                        <a:t>못박는 주파수</a:t>
                      </a:r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131A19"/>
                          </a:solidFill>
                          <a:latin typeface="Consolas"/>
                        </a:rPr>
                        <a:t>경계 노이즈 증폭 1/τ</a:t>
                      </a:r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131A19"/>
                          </a:solidFill>
                          <a:latin typeface="Consolas"/>
                        </a:rPr>
                        <a:t>결과</a:t>
                      </a:r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C4947"/>
                          </a:solidFill>
                          <a:latin typeface="맑은 고딕"/>
                        </a:rPr>
                        <a:t>0.005 (2일차 최적 방향)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99.2%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200배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폭발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C4947"/>
                          </a:solidFill>
                          <a:latin typeface="맑은 고딕"/>
                        </a:rPr>
                        <a:t>0.05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92.0%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20배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14.80 dB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C4947"/>
                          </a:solidFill>
                          <a:latin typeface="맑은 고딕"/>
                        </a:rPr>
                        <a:t>0.2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66.4%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5배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DC 가 무의미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Rounded Rectangle 10"/>
          <p:cNvSpPr/>
          <p:nvPr/>
        </p:nvSpPr>
        <p:spPr>
          <a:xfrm>
            <a:off x="822960" y="4800600"/>
            <a:ext cx="10515600" cy="1097280"/>
          </a:xfrm>
          <a:prstGeom prst="roundRect">
            <a:avLst>
              <a:gd name="adj" fmla="val 4000"/>
            </a:avLst>
          </a:prstGeom>
          <a:solidFill>
            <a:srgbClr val="DCEDE8"/>
          </a:solidFill>
          <a:ln w="9525">
            <a:solidFill>
              <a:srgbClr val="0B6E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51560" y="4983480"/>
            <a:ext cx="100584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131A19"/>
                </a:solidFill>
                <a:latin typeface="맑은 고딕"/>
              </a:rPr>
              <a:t>τ 를 키우면 DC 가 무의미해지고 줄이면 폭발한다 — 3일차엔 좋은 τ 가 없다.</a:t>
            </a:r>
          </a:p>
          <a:p>
            <a:pPr algn="l">
              <a:lnSpc>
                <a:spcPct val="125000"/>
              </a:lnSpc>
            </a:pPr>
            <a:r>
              <a:rPr sz="1300" b="0">
                <a:solidFill>
                  <a:srgbClr val="3C4947"/>
                </a:solidFill>
                <a:latin typeface="맑은 고딕"/>
              </a:rPr>
              <a:t>고칠 방법은 못박지 말고 무게를 두는 것. 그것이 soft DC 이고,</a:t>
            </a:r>
          </a:p>
          <a:p>
            <a:pPr algn="l">
              <a:lnSpc>
                <a:spcPct val="125000"/>
              </a:lnSpc>
            </a:pPr>
            <a:r>
              <a:rPr sz="1300" b="0">
                <a:solidFill>
                  <a:srgbClr val="3C4947"/>
                </a:solidFill>
                <a:latin typeface="맑은 고딕"/>
              </a:rPr>
              <a:t>전개형이 곧 DC-Net 의 노이즈 대응 일반형이다 (λ→0 이면 DC-Net).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20624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0B6E5E"/>
                </a:solidFill>
                <a:latin typeface="Consolas"/>
              </a:rPr>
              <a:t>시도 ③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13232"/>
            <a:ext cx="10972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>
                <a:solidFill>
                  <a:srgbClr val="131A19"/>
                </a:solidFill>
                <a:latin typeface="맑은 고딕"/>
              </a:rPr>
              <a:t>시도 ③ — 2단 분해. 1일차 문제로 환원하기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66756F"/>
                </a:solidFill>
                <a:latin typeface="맑은 고딕"/>
              </a:rPr>
              <a:t>노이즈가 흐림 뒤에 붙으니 측정치 위에서는 1일차 문제다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874520"/>
            <a:ext cx="10908792" cy="15240"/>
          </a:xfrm>
          <a:prstGeom prst="rect">
            <a:avLst/>
          </a:prstGeom>
          <a:solidFill>
            <a:srgbClr val="DCE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463040" y="1645920"/>
            <a:ext cx="2011680" cy="1188720"/>
          </a:xfrm>
          <a:prstGeom prst="roundRect">
            <a:avLst>
              <a:gd name="adj" fmla="val 4000"/>
            </a:avLst>
          </a:prstGeom>
          <a:solidFill>
            <a:srgbClr val="F3F6F5"/>
          </a:solidFill>
          <a:ln w="9525">
            <a:solidFill>
              <a:srgbClr val="DCE3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554480" y="1755648"/>
            <a:ext cx="18288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50" b="1">
                <a:solidFill>
                  <a:srgbClr val="131A19"/>
                </a:solidFill>
                <a:latin typeface="맑은 고딕"/>
              </a:rPr>
              <a:t>측정치 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54480" y="2103120"/>
            <a:ext cx="1828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0">
                <a:solidFill>
                  <a:srgbClr val="66756F"/>
                </a:solidFill>
                <a:latin typeface="Consolas"/>
              </a:rPr>
              <a:t>h*f + 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749040" y="1645920"/>
            <a:ext cx="2011680" cy="1188720"/>
          </a:xfrm>
          <a:prstGeom prst="roundRect">
            <a:avLst>
              <a:gd name="adj" fmla="val 4000"/>
            </a:avLst>
          </a:prstGeom>
          <a:solidFill>
            <a:srgbClr val="F3F6F5"/>
          </a:solidFill>
          <a:ln w="9525">
            <a:solidFill>
              <a:srgbClr val="DCE3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840480" y="1755648"/>
            <a:ext cx="18288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50" b="1">
                <a:solidFill>
                  <a:srgbClr val="131A19"/>
                </a:solidFill>
                <a:latin typeface="맑은 고딕"/>
              </a:rPr>
              <a:t>디노이저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40480" y="2103120"/>
            <a:ext cx="1828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0">
                <a:solidFill>
                  <a:srgbClr val="66756F"/>
                </a:solidFill>
                <a:latin typeface="Consolas"/>
              </a:rPr>
              <a:t>z ≈ h*f
1일차 문제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035040" y="1645920"/>
            <a:ext cx="2011680" cy="1188720"/>
          </a:xfrm>
          <a:prstGeom prst="roundRect">
            <a:avLst>
              <a:gd name="adj" fmla="val 4000"/>
            </a:avLst>
          </a:prstGeom>
          <a:solidFill>
            <a:srgbClr val="F3F6F5"/>
          </a:solidFill>
          <a:ln w="9525">
            <a:solidFill>
              <a:srgbClr val="DCE3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26480" y="1755648"/>
            <a:ext cx="18288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50" b="1">
                <a:solidFill>
                  <a:srgbClr val="131A19"/>
                </a:solidFill>
                <a:latin typeface="맑은 고딕"/>
              </a:rPr>
              <a:t>역필터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26480" y="2103120"/>
            <a:ext cx="1828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0">
                <a:solidFill>
                  <a:srgbClr val="66756F"/>
                </a:solidFill>
                <a:latin typeface="Consolas"/>
              </a:rPr>
              <a:t>x = D·Z/(D²+λ)
2일차 답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321040" y="1645920"/>
            <a:ext cx="2011680" cy="1188720"/>
          </a:xfrm>
          <a:prstGeom prst="roundRect">
            <a:avLst>
              <a:gd name="adj" fmla="val 4000"/>
            </a:avLst>
          </a:prstGeom>
          <a:solidFill>
            <a:srgbClr val="F3F6F5"/>
          </a:solidFill>
          <a:ln w="9525">
            <a:solidFill>
              <a:srgbClr val="DCE3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412480" y="1755648"/>
            <a:ext cx="18288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50" b="1">
                <a:solidFill>
                  <a:srgbClr val="131A19"/>
                </a:solidFill>
                <a:latin typeface="맑은 고딕"/>
              </a:rPr>
              <a:t>복원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12480" y="2103120"/>
            <a:ext cx="1828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0">
                <a:solidFill>
                  <a:srgbClr val="66756F"/>
                </a:solidFill>
                <a:latin typeface="Consolas"/>
              </a:rPr>
              <a:t>15.6 dB
실패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822960" y="3063240"/>
          <a:ext cx="5852159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14749"/>
                <a:gridCol w="1418705"/>
                <a:gridCol w="1418705"/>
              </a:tblGrid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31A19"/>
                          </a:solidFill>
                          <a:latin typeface="맑은 고딕"/>
                        </a:rPr>
                        <a:t>측정치 영역에서 지운 정도</a:t>
                      </a:r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131A19"/>
                          </a:solidFill>
                          <a:latin typeface="Consolas"/>
                        </a:rPr>
                        <a:t>→ 최종 PSNR</a:t>
                      </a:r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131A19"/>
                          </a:solidFill>
                          <a:latin typeface="Consolas"/>
                        </a:rPr>
                        <a:t>→ 최종 SSIM</a:t>
                      </a:r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C4947"/>
                          </a:solidFill>
                          <a:latin typeface="맑은 고딕"/>
                        </a:rPr>
                        <a:t>25 dB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20.24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0.5572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C4947"/>
                          </a:solidFill>
                          <a:latin typeface="맑은 고딕"/>
                        </a:rPr>
                        <a:t>35 dB  ← 우리가 도달한 곳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26.83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0.7809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C4947"/>
                          </a:solidFill>
                          <a:latin typeface="맑은 고딕"/>
                        </a:rPr>
                        <a:t>40 dB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29.86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0.8626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31A19"/>
                          </a:solidFill>
                          <a:latin typeface="맑은 고딕"/>
                        </a:rPr>
                        <a:t>완벽 (오차 0)</a:t>
                      </a:r>
                    </a:p>
                  </a:txBody>
                  <a:tcPr marL="82296" marR="82296" marT="27432" marB="27432" anchor="ctr">
                    <a:solidFill>
                      <a:srgbClr val="ECF5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131A19"/>
                          </a:solidFill>
                          <a:latin typeface="Consolas"/>
                        </a:rPr>
                        <a:t>71.47</a:t>
                      </a:r>
                    </a:p>
                  </a:txBody>
                  <a:tcPr marL="82296" marR="82296" marT="27432" marB="27432" anchor="ctr">
                    <a:solidFill>
                      <a:srgbClr val="ECF5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131A19"/>
                          </a:solidFill>
                          <a:latin typeface="Consolas"/>
                        </a:rPr>
                        <a:t>0.9999</a:t>
                      </a:r>
                    </a:p>
                  </a:txBody>
                  <a:tcPr marL="82296" marR="82296" marT="27432" marB="27432" anchor="ctr">
                    <a:solidFill>
                      <a:srgbClr val="ECF5F2"/>
                    </a:solidFill>
                  </a:tcPr>
                </a:tc>
              </a:tr>
            </a:tbl>
          </a:graphicData>
        </a:graphic>
      </p:graphicFrame>
      <p:sp>
        <p:nvSpPr>
          <p:cNvPr id="19" name="Rounded Rectangle 18"/>
          <p:cNvSpPr/>
          <p:nvPr/>
        </p:nvSpPr>
        <p:spPr>
          <a:xfrm>
            <a:off x="7040880" y="3063240"/>
            <a:ext cx="4297680" cy="1554480"/>
          </a:xfrm>
          <a:prstGeom prst="roundRect">
            <a:avLst>
              <a:gd name="adj" fmla="val 4000"/>
            </a:avLst>
          </a:prstGeom>
          <a:solidFill>
            <a:srgbClr val="DCEDE8"/>
          </a:solidFill>
          <a:ln w="9525">
            <a:solidFill>
              <a:srgbClr val="0B6E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269480" y="3246120"/>
            <a:ext cx="384048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>
                <a:solidFill>
                  <a:srgbClr val="131A19"/>
                </a:solidFill>
                <a:latin typeface="맑은 고딕"/>
              </a:rPr>
              <a:t>전달 곡선은 맞았다.</a:t>
            </a:r>
          </a:p>
          <a:p>
            <a:pPr algn="l">
              <a:lnSpc>
                <a:spcPct val="125000"/>
              </a:lnSpc>
            </a:pPr>
            <a:r>
              <a:rPr sz="1250" b="0">
                <a:solidFill>
                  <a:srgbClr val="3C4947"/>
                </a:solidFill>
                <a:latin typeface="맑은 고딕"/>
              </a:rPr>
              <a:t>측정치에서 노이즈만 완벽히 지우면</a:t>
            </a:r>
          </a:p>
          <a:p>
            <a:pPr algn="l">
              <a:lnSpc>
                <a:spcPct val="125000"/>
              </a:lnSpc>
            </a:pPr>
            <a:r>
              <a:rPr sz="1250" b="0">
                <a:solidFill>
                  <a:srgbClr val="3C4947"/>
                </a:solidFill>
                <a:latin typeface="맑은 고딕"/>
              </a:rPr>
              <a:t>2일차 답이 71 dB 를 낸다 —</a:t>
            </a:r>
          </a:p>
          <a:p>
            <a:pPr algn="l">
              <a:lnSpc>
                <a:spcPct val="125000"/>
              </a:lnSpc>
            </a:pPr>
            <a:r>
              <a:rPr sz="1250" b="0">
                <a:solidFill>
                  <a:srgbClr val="3C4947"/>
                </a:solidFill>
                <a:latin typeface="맑은 고딕"/>
              </a:rPr>
              <a:t>구조적 한계는 없다.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22960" y="4846320"/>
            <a:ext cx="10515600" cy="1051560"/>
          </a:xfrm>
          <a:prstGeom prst="roundRect">
            <a:avLst>
              <a:gd name="adj" fmla="val 4000"/>
            </a:avLst>
          </a:prstGeom>
          <a:solidFill>
            <a:srgbClr val="DCEDE8"/>
          </a:solidFill>
          <a:ln w="9525">
            <a:solidFill>
              <a:srgbClr val="8C4A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51560" y="5010912"/>
            <a:ext cx="100584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>
                <a:solidFill>
                  <a:srgbClr val="131A19"/>
                </a:solidFill>
                <a:latin typeface="맑은 고딕"/>
              </a:rPr>
              <a:t>그런데 필요한 난이도를 계산하지 않았다. 1일차는 25.95 → 37.42 (+11.5 dB) 였는데 여기서는 13.50 → 40 (+26.5 dB) 를 요구한다.</a:t>
            </a:r>
          </a:p>
          <a:p>
            <a:pPr algn="l">
              <a:lnSpc>
                <a:spcPct val="125000"/>
              </a:lnSpc>
            </a:pPr>
            <a:r>
              <a:rPr sz="1250" b="0">
                <a:solidFill>
                  <a:srgbClr val="3C4947"/>
                </a:solidFill>
                <a:latin typeface="맑은 고딕"/>
              </a:rPr>
              <a:t>역필터가 네트워크의 오차를 1/D 로 증폭하고, 뭉개진 h*f 는 선명한 f 보다 사전지식이 약하다. 1일차보다 훨씬 어려운 1일차 문제였다.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20624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0B6E5E"/>
                </a:solidFill>
                <a:latin typeface="Consolas"/>
              </a:rPr>
              <a:t>방법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13232"/>
            <a:ext cx="10972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>
                <a:solidFill>
                  <a:srgbClr val="131A19"/>
                </a:solidFill>
                <a:latin typeface="맑은 고딕"/>
              </a:rPr>
              <a:t>우리 방법 — 전개형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66756F"/>
                </a:solidFill>
                <a:latin typeface="맑은 고딕"/>
              </a:rPr>
              <a:t>데이터 정합과 사전지식을 번갈아 4번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874520"/>
            <a:ext cx="10908792" cy="15240"/>
          </a:xfrm>
          <a:prstGeom prst="rect">
            <a:avLst/>
          </a:prstGeom>
          <a:solidFill>
            <a:srgbClr val="DCE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85800" y="1828800"/>
            <a:ext cx="1874519" cy="1463040"/>
          </a:xfrm>
          <a:prstGeom prst="roundRect">
            <a:avLst>
              <a:gd name="adj" fmla="val 4000"/>
            </a:avLst>
          </a:prstGeom>
          <a:solidFill>
            <a:srgbClr val="F3F6F5"/>
          </a:solidFill>
          <a:ln w="9525">
            <a:solidFill>
              <a:srgbClr val="DCE3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58952" y="1956816"/>
            <a:ext cx="17373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50" b="1">
                <a:solidFill>
                  <a:srgbClr val="131A19"/>
                </a:solidFill>
                <a:latin typeface="맑은 고딕"/>
              </a:rPr>
              <a:t>측정치 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58952" y="2414016"/>
            <a:ext cx="17373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0">
                <a:solidFill>
                  <a:srgbClr val="66756F"/>
                </a:solidFill>
                <a:latin typeface="Consolas"/>
              </a:rPr>
              <a:t>h*f + n</a:t>
            </a:r>
          </a:p>
        </p:txBody>
      </p:sp>
      <p:sp>
        <p:nvSpPr>
          <p:cNvPr id="9" name="Right Arrow 8"/>
          <p:cNvSpPr/>
          <p:nvPr/>
        </p:nvSpPr>
        <p:spPr>
          <a:xfrm>
            <a:off x="2596896" y="2450592"/>
            <a:ext cx="219456" cy="237744"/>
          </a:xfrm>
          <a:prstGeom prst="rightArrow">
            <a:avLst/>
          </a:prstGeom>
          <a:solidFill>
            <a:srgbClr val="0B6E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2880360" y="1828800"/>
            <a:ext cx="1874519" cy="1463040"/>
          </a:xfrm>
          <a:prstGeom prst="roundRect">
            <a:avLst>
              <a:gd name="adj" fmla="val 4000"/>
            </a:avLst>
          </a:prstGeom>
          <a:solidFill>
            <a:srgbClr val="F3F6F5"/>
          </a:solidFill>
          <a:ln w="9525">
            <a:solidFill>
              <a:srgbClr val="DCE3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953512" y="1956816"/>
            <a:ext cx="17373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50" b="1">
                <a:solidFill>
                  <a:srgbClr val="131A19"/>
                </a:solidFill>
                <a:latin typeface="맑은 고딕"/>
              </a:rPr>
              <a:t>Wiener 초기화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53512" y="2414016"/>
            <a:ext cx="17373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0">
                <a:solidFill>
                  <a:srgbClr val="66756F"/>
                </a:solidFill>
                <a:latin typeface="Consolas"/>
              </a:rPr>
              <a:t>x₀ = D·G
   /(D²+λ₀)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4791456" y="2450592"/>
            <a:ext cx="219456" cy="237744"/>
          </a:xfrm>
          <a:prstGeom prst="rightArrow">
            <a:avLst/>
          </a:prstGeom>
          <a:solidFill>
            <a:srgbClr val="0B6E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074920" y="1828800"/>
            <a:ext cx="1874519" cy="1463040"/>
          </a:xfrm>
          <a:prstGeom prst="roundRect">
            <a:avLst>
              <a:gd name="adj" fmla="val 4000"/>
            </a:avLst>
          </a:prstGeom>
          <a:solidFill>
            <a:srgbClr val="DCEDE8"/>
          </a:solidFill>
          <a:ln w="9525">
            <a:solidFill>
              <a:srgbClr val="0B6E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148072" y="1956816"/>
            <a:ext cx="17373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50" b="1">
                <a:solidFill>
                  <a:srgbClr val="131A19"/>
                </a:solidFill>
                <a:latin typeface="맑은 고딕"/>
              </a:rPr>
              <a:t>사전지식
DRUNet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148072" y="2414016"/>
            <a:ext cx="17373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0">
                <a:solidFill>
                  <a:srgbClr val="66756F"/>
                </a:solidFill>
                <a:latin typeface="Consolas"/>
              </a:rPr>
              <a:t>z = net(x, σ)
σ 는 측정치에서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6986016" y="2450592"/>
            <a:ext cx="219456" cy="237744"/>
          </a:xfrm>
          <a:prstGeom prst="rightArrow">
            <a:avLst/>
          </a:prstGeom>
          <a:solidFill>
            <a:srgbClr val="0B6E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7269480" y="1828800"/>
            <a:ext cx="1874519" cy="1463040"/>
          </a:xfrm>
          <a:prstGeom prst="roundRect">
            <a:avLst>
              <a:gd name="adj" fmla="val 4000"/>
            </a:avLst>
          </a:prstGeom>
          <a:solidFill>
            <a:srgbClr val="F3F6F5"/>
          </a:solidFill>
          <a:ln w="9525">
            <a:solidFill>
              <a:srgbClr val="DCE3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42632" y="1956816"/>
            <a:ext cx="17373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50" b="1">
                <a:solidFill>
                  <a:srgbClr val="131A19"/>
                </a:solidFill>
                <a:latin typeface="맑은 고딕"/>
              </a:rPr>
              <a:t>데이터 정합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42632" y="2414016"/>
            <a:ext cx="17373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0">
                <a:solidFill>
                  <a:srgbClr val="66756F"/>
                </a:solidFill>
                <a:latin typeface="Consolas"/>
              </a:rPr>
              <a:t>x = (D·G+λZ)
     /(D²+λ)</a:t>
            </a:r>
          </a:p>
        </p:txBody>
      </p:sp>
      <p:sp>
        <p:nvSpPr>
          <p:cNvPr id="21" name="Right Arrow 20"/>
          <p:cNvSpPr/>
          <p:nvPr/>
        </p:nvSpPr>
        <p:spPr>
          <a:xfrm>
            <a:off x="9180576" y="2450592"/>
            <a:ext cx="219456" cy="237744"/>
          </a:xfrm>
          <a:prstGeom prst="rightArrow">
            <a:avLst/>
          </a:prstGeom>
          <a:solidFill>
            <a:srgbClr val="0B6E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9464040" y="1828800"/>
            <a:ext cx="1874519" cy="1463040"/>
          </a:xfrm>
          <a:prstGeom prst="roundRect">
            <a:avLst>
              <a:gd name="adj" fmla="val 4000"/>
            </a:avLst>
          </a:prstGeom>
          <a:solidFill>
            <a:srgbClr val="DCEDE8"/>
          </a:solidFill>
          <a:ln w="9525">
            <a:solidFill>
              <a:srgbClr val="0B6E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537192" y="1956816"/>
            <a:ext cx="17373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50" b="1">
                <a:solidFill>
                  <a:srgbClr val="131A19"/>
                </a:solidFill>
                <a:latin typeface="맑은 고딕"/>
              </a:rPr>
              <a:t>복원 f̂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537192" y="2414016"/>
            <a:ext cx="17373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0">
                <a:solidFill>
                  <a:srgbClr val="66756F"/>
                </a:solidFill>
                <a:latin typeface="Consolas"/>
              </a:rPr>
              <a:t>30.37 dB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834640" y="3456432"/>
            <a:ext cx="5943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0B6E5E"/>
                </a:solidFill>
                <a:latin typeface="Consolas"/>
              </a:rPr>
              <a:t>↑____________ 4번 반복 ____________|</a:t>
            </a:r>
          </a:p>
        </p:txBody>
      </p:sp>
      <p:graphicFrame>
        <p:nvGraphicFramePr>
          <p:cNvPr id="26" name="Table 25"/>
          <p:cNvGraphicFramePr>
            <a:graphicFrameLocks noGrp="1"/>
          </p:cNvGraphicFramePr>
          <p:nvPr/>
        </p:nvGraphicFramePr>
        <p:xfrm>
          <a:off x="822960" y="3931920"/>
          <a:ext cx="10515599" cy="1097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1280159"/>
                <a:gridCol w="7040880"/>
              </a:tblGrid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31A19"/>
                          </a:solidFill>
                          <a:latin typeface="맑은 고딕"/>
                        </a:rPr>
                        <a:t>단계</a:t>
                      </a:r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131A19"/>
                          </a:solidFill>
                          <a:latin typeface="Consolas"/>
                        </a:rPr>
                        <a:t>학습되나</a:t>
                      </a:r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131A19"/>
                          </a:solidFill>
                          <a:latin typeface="Consolas"/>
                        </a:rPr>
                        <a:t>하는 일</a:t>
                      </a:r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C4947"/>
                          </a:solidFill>
                          <a:latin typeface="맑은 고딕"/>
                        </a:rPr>
                        <a:t>Wiener 초기화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아니오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닫힌 해. dipole 은 주파수 영역에서 대각 연산자다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C4947"/>
                          </a:solidFill>
                          <a:latin typeface="맑은 고딕"/>
                        </a:rPr>
                        <a:t>DRUNet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예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역산이 포기한 주파수를 이미지 사전지식으로 메운다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C4947"/>
                          </a:solidFill>
                          <a:latin typeface="맑은 고딕"/>
                        </a:rPr>
                        <a:t>데이터 정합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λ 만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매번 측정치로 되돌려 오차가 쌓이지 않게 한다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7" name="Rounded Rectangle 26"/>
          <p:cNvSpPr/>
          <p:nvPr/>
        </p:nvSpPr>
        <p:spPr>
          <a:xfrm>
            <a:off x="822960" y="5440680"/>
            <a:ext cx="10515600" cy="822960"/>
          </a:xfrm>
          <a:prstGeom prst="roundRect">
            <a:avLst>
              <a:gd name="adj" fmla="val 4000"/>
            </a:avLst>
          </a:prstGeom>
          <a:solidFill>
            <a:srgbClr val="DCEDE8"/>
          </a:solidFill>
          <a:ln w="9525">
            <a:solidFill>
              <a:srgbClr val="0B6E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51560" y="5596128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>
                <a:solidFill>
                  <a:srgbClr val="131A19"/>
                </a:solidFill>
                <a:latin typeface="맑은 고딕"/>
              </a:rPr>
              <a:t>네트워크는 '아는 주파수를 다시 맞히는' 일을 배울 필요가 없다. 모르는 주파수를 채우는 데만 용량을 쓴다.</a:t>
            </a:r>
          </a:p>
          <a:p>
            <a:pPr algn="l">
              <a:lnSpc>
                <a:spcPct val="125000"/>
              </a:lnSpc>
            </a:pPr>
            <a:r>
              <a:rPr sz="1250" b="0">
                <a:solidFill>
                  <a:srgbClr val="3C4947"/>
                </a:solidFill>
                <a:latin typeface="맑은 고딕"/>
              </a:rPr>
              <a:t>λ 는 단계마다 따로 학습해 '이번엔 측정치를 얼마나 믿을지' 를 스스로 정한다.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20624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0B6E5E"/>
                </a:solidFill>
                <a:latin typeface="Consolas"/>
              </a:rPr>
              <a:t>시도 ④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13232"/>
            <a:ext cx="10972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>
                <a:solidFill>
                  <a:srgbClr val="131A19"/>
                </a:solidFill>
                <a:latin typeface="맑은 고딕"/>
              </a:rPr>
              <a:t>시도 ④ — σ 를 라벨 없이 읽어 모델에 알려준다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66756F"/>
                </a:solidFill>
                <a:latin typeface="맑은 고딕"/>
              </a:rPr>
              <a:t>3일차 σ 는 장마다 200배 차이난다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874520"/>
            <a:ext cx="10908792" cy="15240"/>
          </a:xfrm>
          <a:prstGeom prst="rect">
            <a:avLst/>
          </a:prstGeom>
          <a:solidFill>
            <a:srgbClr val="DCE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600200"/>
            <a:ext cx="105156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131A19"/>
                </a:solidFill>
                <a:latin typeface="맑은 고딕"/>
              </a:rPr>
              <a:t>|D| &lt; 0.02 인 주파수엔 dipole 이 신호를 보내지 않는다. 거기 있는 것은 전부 노이즈다.</a:t>
            </a:r>
          </a:p>
          <a:p>
            <a:pPr algn="l">
              <a:lnSpc>
                <a:spcPct val="125000"/>
              </a:lnSpc>
            </a:pPr>
            <a:r>
              <a:rPr sz="1300" b="0">
                <a:solidFill>
                  <a:srgbClr val="3C4947"/>
                </a:solidFill>
                <a:latin typeface="맑은 고딕"/>
              </a:rPr>
              <a:t>파세발로 E|G|² = N·σ².  정답도 noise_meta.json 도 쓰지 않는다 — 측정치 하나에서 나온다.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822960" y="2606040"/>
          <a:ext cx="5760720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51760"/>
                <a:gridCol w="3108960"/>
              </a:tblGrid>
              <a:tr h="274320">
                <a:tc>
                  <a:txBody>
                    <a:bodyPr/>
                    <a:lstStyle/>
                    <a:p>
                      <a:pPr algn="l"/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131A19"/>
                          </a:solidFill>
                          <a:latin typeface="Consolas"/>
                        </a:rPr>
                        <a:t>값</a:t>
                      </a:r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C4947"/>
                          </a:solidFill>
                          <a:latin typeface="맑은 고딕"/>
                        </a:rPr>
                        <a:t>σ 범위 (test 100장)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0.0007 ~ 0.1325   (200배)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C4947"/>
                          </a:solidFill>
                          <a:latin typeface="맑은 고딕"/>
                        </a:rPr>
                        <a:t>추정 상대오차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중앙값 1.9%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C4947"/>
                          </a:solidFill>
                          <a:latin typeface="맑은 고딕"/>
                        </a:rPr>
                        <a:t>σ&lt;0.05 구간 성능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23.91 dB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C4947"/>
                          </a:solidFill>
                          <a:latin typeface="맑은 고딕"/>
                        </a:rPr>
                        <a:t>σ≥0.10 구간 성능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17.64 dB   (6.3 dB 차이)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6949440" y="2606040"/>
            <a:ext cx="4389120" cy="1554480"/>
          </a:xfrm>
          <a:prstGeom prst="roundRect">
            <a:avLst>
              <a:gd name="adj" fmla="val 4000"/>
            </a:avLst>
          </a:prstGeom>
          <a:solidFill>
            <a:srgbClr val="DCEDE8"/>
          </a:solidFill>
          <a:ln w="9525">
            <a:solidFill>
              <a:srgbClr val="0B6E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178040" y="2788920"/>
            <a:ext cx="393192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>
                <a:solidFill>
                  <a:srgbClr val="3C4947"/>
                </a:solidFill>
                <a:latin typeface="맑은 고딕"/>
              </a:rPr>
              <a:t>blind 모델 하나로 200배 범위를</a:t>
            </a:r>
          </a:p>
          <a:p>
            <a:pPr algn="l">
              <a:lnSpc>
                <a:spcPct val="125000"/>
              </a:lnSpc>
            </a:pPr>
            <a:r>
              <a:rPr sz="1250" b="1">
                <a:solidFill>
                  <a:srgbClr val="131A19"/>
                </a:solidFill>
                <a:latin typeface="맑은 고딕"/>
              </a:rPr>
              <a:t>덮으려면 평균에 타협해야 한다.</a:t>
            </a:r>
          </a:p>
          <a:p>
            <a:pPr algn="l">
              <a:lnSpc>
                <a:spcPct val="125000"/>
              </a:lnSpc>
            </a:pPr>
            <a:r>
              <a:rPr sz="1250" b="0">
                <a:solidFill>
                  <a:srgbClr val="3C4947"/>
                </a:solidFill>
                <a:latin typeface="맑은 고딕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250" b="0">
                <a:solidFill>
                  <a:srgbClr val="3C4947"/>
                </a:solidFill>
                <a:latin typeface="맑은 고딕"/>
              </a:rPr>
              <a:t>σ 를 알려주면 매 장에 맞는</a:t>
            </a:r>
          </a:p>
          <a:p>
            <a:pPr algn="l">
              <a:lnSpc>
                <a:spcPct val="125000"/>
              </a:lnSpc>
            </a:pPr>
            <a:r>
              <a:rPr sz="1250" b="0">
                <a:solidFill>
                  <a:srgbClr val="3C4947"/>
                </a:solidFill>
                <a:latin typeface="맑은 고딕"/>
              </a:rPr>
              <a:t>세기로 지울 수 있다.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4389120"/>
            <a:ext cx="10515600" cy="1371600"/>
          </a:xfrm>
          <a:prstGeom prst="roundRect">
            <a:avLst>
              <a:gd name="adj" fmla="val 4000"/>
            </a:avLst>
          </a:prstGeom>
          <a:solidFill>
            <a:srgbClr val="DCEDE8"/>
          </a:solidFill>
          <a:ln w="9525">
            <a:solidFill>
              <a:srgbClr val="0B6E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51560" y="4572000"/>
            <a:ext cx="100584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>
                <a:solidFill>
                  <a:srgbClr val="131A19"/>
                </a:solidFill>
                <a:latin typeface="맑은 고딕"/>
              </a:rPr>
              <a:t>커널을 알기에 쓸 수 있는 추정기다.</a:t>
            </a:r>
          </a:p>
          <a:p>
            <a:pPr algn="l">
              <a:lnSpc>
                <a:spcPct val="125000"/>
              </a:lnSpc>
            </a:pPr>
            <a:r>
              <a:rPr sz="1250" b="0">
                <a:solidFill>
                  <a:srgbClr val="3C4947"/>
                </a:solidFill>
                <a:latin typeface="맑은 고딕"/>
              </a:rPr>
              <a:t>MAD 같은 일반 추정기는 이미지의 고주파를 노이즈로 착각한다 — 1일차에 σ 게이트가 실패한 원인이 그것이었다.</a:t>
            </a:r>
          </a:p>
          <a:p>
            <a:pPr algn="l">
              <a:lnSpc>
                <a:spcPct val="125000"/>
              </a:lnSpc>
            </a:pPr>
            <a:r>
              <a:rPr sz="1250" b="0">
                <a:solidFill>
                  <a:srgbClr val="3C4947"/>
                </a:solidFill>
                <a:latin typeface="맑은 고딕"/>
              </a:rPr>
              <a:t>여기서는 '신호가 있을 수 없는 자리' 를 커널이 알려주므로 착각할 여지가 없다.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20624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0B6E5E"/>
                </a:solidFill>
                <a:latin typeface="Consolas"/>
              </a:rPr>
              <a:t>근거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13232"/>
            <a:ext cx="10972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>
                <a:solidFill>
                  <a:srgbClr val="131A19"/>
                </a:solidFill>
                <a:latin typeface="맑은 고딕"/>
              </a:rPr>
              <a:t>시도 ④ 의 근거 — σ 가 성능의 절반을 책임진다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66756F"/>
                </a:solidFill>
                <a:latin typeface="맑은 고딕"/>
              </a:rPr>
              <a:t>가중치는 그대로 두고 σ 입력만 바꾼다. 학습이 필요 없는 ablation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874520"/>
            <a:ext cx="10908792" cy="15240"/>
          </a:xfrm>
          <a:prstGeom prst="rect">
            <a:avLst/>
          </a:prstGeom>
          <a:solidFill>
            <a:srgbClr val="DCE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822960" y="1691640"/>
          <a:ext cx="10515598" cy="1645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779818"/>
                <a:gridCol w="1720734"/>
                <a:gridCol w="1720734"/>
                <a:gridCol w="2294312"/>
              </a:tblGrid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31A19"/>
                          </a:solidFill>
                          <a:latin typeface="맑은 고딕"/>
                        </a:rPr>
                        <a:t>σ 를 어떻게 주는가</a:t>
                      </a:r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131A19"/>
                          </a:solidFill>
                          <a:latin typeface="Consolas"/>
                        </a:rPr>
                        <a:t>PSNR</a:t>
                      </a:r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131A19"/>
                          </a:solidFill>
                          <a:latin typeface="Consolas"/>
                        </a:rPr>
                        <a:t>SSIM</a:t>
                      </a:r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131A19"/>
                          </a:solidFill>
                          <a:latin typeface="Consolas"/>
                        </a:rPr>
                        <a:t>손실</a:t>
                      </a:r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31A19"/>
                          </a:solidFill>
                          <a:latin typeface="맑은 고딕"/>
                        </a:rPr>
                        <a:t>추정 σ (장마다 다르게)</a:t>
                      </a:r>
                    </a:p>
                  </a:txBody>
                  <a:tcPr marL="82296" marR="82296" marT="27432" marB="27432" anchor="ctr">
                    <a:solidFill>
                      <a:srgbClr val="ECF5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131A19"/>
                          </a:solidFill>
                          <a:latin typeface="Consolas"/>
                        </a:rPr>
                        <a:t>29.59</a:t>
                      </a:r>
                    </a:p>
                  </a:txBody>
                  <a:tcPr marL="82296" marR="82296" marT="27432" marB="27432" anchor="ctr">
                    <a:solidFill>
                      <a:srgbClr val="ECF5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131A19"/>
                          </a:solidFill>
                          <a:latin typeface="Consolas"/>
                        </a:rPr>
                        <a:t>0.8817</a:t>
                      </a:r>
                    </a:p>
                  </a:txBody>
                  <a:tcPr marL="82296" marR="82296" marT="27432" marB="27432" anchor="ctr">
                    <a:solidFill>
                      <a:srgbClr val="ECF5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131A19"/>
                          </a:solidFill>
                          <a:latin typeface="Consolas"/>
                        </a:rPr>
                        <a:t>—</a:t>
                      </a:r>
                    </a:p>
                  </a:txBody>
                  <a:tcPr marL="82296" marR="82296" marT="27432" marB="27432" anchor="ctr">
                    <a:solidFill>
                      <a:srgbClr val="ECF5F2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C4947"/>
                          </a:solidFill>
                          <a:latin typeface="맑은 고딕"/>
                        </a:rPr>
                        <a:t>전체 평균 하나로 고정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25.37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0.7751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-4.22 dB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C4947"/>
                          </a:solidFill>
                          <a:latin typeface="맑은 고딕"/>
                        </a:rPr>
                        <a:t>σ 2배 (과대평가)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22.52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0.7890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-7.07 dB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C4947"/>
                          </a:solidFill>
                          <a:latin typeface="맑은 고딕"/>
                        </a:rPr>
                        <a:t>σ 절반 (과소평가)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22.92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0.6484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-6.67 dB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C4947"/>
                          </a:solidFill>
                          <a:latin typeface="맑은 고딕"/>
                        </a:rPr>
                        <a:t>전부 0 (노이즈가 없다고)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15.93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0.4040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-13.66 dB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822960" y="4023360"/>
            <a:ext cx="10515600" cy="1737360"/>
          </a:xfrm>
          <a:prstGeom prst="roundRect">
            <a:avLst>
              <a:gd name="adj" fmla="val 4000"/>
            </a:avLst>
          </a:prstGeom>
          <a:solidFill>
            <a:srgbClr val="DCEDE8"/>
          </a:solidFill>
          <a:ln w="9525">
            <a:solidFill>
              <a:srgbClr val="0B6E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4206240"/>
            <a:ext cx="1005840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131A19"/>
                </a:solidFill>
                <a:latin typeface="맑은 고딕"/>
              </a:rPr>
              <a:t>장마다 다른 σ 를 주는 것이, 하나의 값으로 뭉뚱그리는 것보다 4.22 dB 낫다.</a:t>
            </a:r>
          </a:p>
          <a:p>
            <a:pPr algn="l">
              <a:lnSpc>
                <a:spcPct val="125000"/>
              </a:lnSpc>
            </a:pPr>
            <a:r>
              <a:rPr sz="1300" b="0">
                <a:solidFill>
                  <a:srgbClr val="3C4947"/>
                </a:solidFill>
                <a:latin typeface="맑은 고딕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300" b="0">
                <a:solidFill>
                  <a:srgbClr val="3C4947"/>
                </a:solidFill>
                <a:latin typeface="맑은 고딕"/>
              </a:rPr>
              <a:t>σ 를 0 이라고 알려주면 29.59 에서 15.93 으로 무너진다. 2배·절반으로 틀리게 알려줘도 7 dB 가까이 잃는다.</a:t>
            </a:r>
          </a:p>
          <a:p>
            <a:pPr algn="l">
              <a:lnSpc>
                <a:spcPct val="125000"/>
              </a:lnSpc>
            </a:pPr>
            <a:r>
              <a:rPr sz="1300" b="0">
                <a:solidFill>
                  <a:srgbClr val="3C4947"/>
                </a:solidFill>
                <a:latin typeface="맑은 고딕"/>
              </a:rPr>
              <a:t>모델이 σ 를 실제로 쓰고 있고, 정확히 알려주는 것이 중요하다는 직접적인 증거다.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20624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0B6E5E"/>
                </a:solidFill>
                <a:latin typeface="Consolas"/>
              </a:rPr>
              <a:t>실패 기록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13232"/>
            <a:ext cx="10972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>
                <a:solidFill>
                  <a:srgbClr val="131A19"/>
                </a:solidFill>
                <a:latin typeface="맑은 고딕"/>
              </a:rPr>
              <a:t>시도 ⑤ — 안 통한 것들, 그리고 고쳐서 통한 것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66756F"/>
                </a:solidFill>
                <a:latin typeface="맑은 고딕"/>
              </a:rPr>
              <a:t>왜 안 되는지 알면 고칠 수 있다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874520"/>
            <a:ext cx="10908792" cy="15240"/>
          </a:xfrm>
          <a:prstGeom prst="rect">
            <a:avLst/>
          </a:prstGeom>
          <a:solidFill>
            <a:srgbClr val="DCE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" y="1691640"/>
          <a:ext cx="1088136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1097280"/>
                <a:gridCol w="6858000"/>
              </a:tblGrid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131A19"/>
                          </a:solidFill>
                          <a:latin typeface="맑은 고딕"/>
                        </a:rPr>
                        <a:t>시도</a:t>
                      </a:r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131A19"/>
                          </a:solidFill>
                          <a:latin typeface="Consolas"/>
                        </a:rPr>
                        <a:t>결과</a:t>
                      </a:r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131A19"/>
                          </a:solidFill>
                          <a:latin typeface="Consolas"/>
                        </a:rPr>
                        <a:t>왜 안 됐나</a:t>
                      </a:r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4947"/>
                          </a:solidFill>
                          <a:latin typeface="맑은 고딕"/>
                        </a:rPr>
                        <a:t>SSIM 을 처음부터 손실에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3C4947"/>
                          </a:solidFill>
                          <a:latin typeface="Consolas"/>
                        </a:rPr>
                        <a:t>17.5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3C4947"/>
                          </a:solidFill>
                          <a:latin typeface="Consolas"/>
                        </a:rPr>
                        <a:t>덜 학습된 모델을 '정답과 맞든 아니든 국소 대비를 키우는' 쪽으로 민다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4947"/>
                          </a:solidFill>
                          <a:latin typeface="맑은 고딕"/>
                        </a:rPr>
                        <a:t>언샤프 후처리로 SSIM 보정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3C4947"/>
                          </a:solidFill>
                          <a:latin typeface="Consolas"/>
                        </a:rPr>
                        <a:t>무효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3C4947"/>
                          </a:solidFill>
                          <a:latin typeface="Consolas"/>
                        </a:rPr>
                        <a:t>잔차까지 키워 σx 만 커진다. 잃은 국소 대비는 사후에 만들 수 없다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4947"/>
                          </a:solidFill>
                          <a:latin typeface="맑은 고딕"/>
                        </a:rPr>
                        <a:t>노이즈 통계 조건화 (왜도·첨도)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3C4947"/>
                          </a:solidFill>
                          <a:latin typeface="Consolas"/>
                        </a:rPr>
                        <a:t>29.59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3C4947"/>
                          </a:solidFill>
                          <a:latin typeface="Consolas"/>
                        </a:rPr>
                        <a:t>첨도가 rician 을 가르지만(10.4 vs 2.9~3.8) 모델이 쓰지 않았다 (−0.03 dB)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4947"/>
                          </a:solidFill>
                          <a:latin typeface="맑은 고딕"/>
                        </a:rPr>
                        <a:t>모델 융합 1차 — 형제 셋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3C4947"/>
                          </a:solidFill>
                          <a:latin typeface="Consolas"/>
                        </a:rPr>
                        <a:t>29.66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3C4947"/>
                          </a:solidFill>
                          <a:latin typeface="Consolas"/>
                        </a:rPr>
                        <a:t>실패. 같은 체크포인트에서 이어받은 형제라 틀리는 방식이 같다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4947"/>
                          </a:solidFill>
                          <a:latin typeface="맑은 고딕"/>
                        </a:rPr>
                        <a:t>추론 때 반복 횟수 늘리기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3C4947"/>
                          </a:solidFill>
                          <a:latin typeface="Consolas"/>
                        </a:rPr>
                        <a:t>20.99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3C4947"/>
                          </a:solidFill>
                          <a:latin typeface="Consolas"/>
                        </a:rPr>
                        <a:t>4단계로 학습한 모델은 5단계에서 분포를 벗어난다. val 이 4를 골랐다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4947"/>
                          </a:solidFill>
                          <a:latin typeface="맑은 고딕"/>
                        </a:rPr>
                        <a:t>end-to-end DRUNet (대조군)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3C4947"/>
                          </a:solidFill>
                          <a:latin typeface="Consolas"/>
                        </a:rPr>
                        <a:t>24.6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3C4947"/>
                          </a:solidFill>
                          <a:latin typeface="Consolas"/>
                        </a:rPr>
                        <a:t>전개형보다 5 dB 아래. 물리 구조가 실제로 이득이라는 증거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4947"/>
                          </a:solidFill>
                          <a:latin typeface="맑은 고딕"/>
                        </a:rPr>
                        <a:t>모델 융합 2차 — 4단계 + 6단계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3C4947"/>
                          </a:solidFill>
                          <a:latin typeface="Consolas"/>
                        </a:rPr>
                        <a:t>30.37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3C4947"/>
                          </a:solidFill>
                          <a:latin typeface="Consolas"/>
                        </a:rPr>
                        <a:t>성공. 구조가 다르니 오차 상관이 낮다. 1차 실패의 원인을 고친 것이다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640080" y="4754880"/>
            <a:ext cx="10881360" cy="1051560"/>
          </a:xfrm>
          <a:prstGeom prst="roundRect">
            <a:avLst>
              <a:gd name="adj" fmla="val 4000"/>
            </a:avLst>
          </a:prstGeom>
          <a:solidFill>
            <a:srgbClr val="DCEDE8"/>
          </a:solidFill>
          <a:ln w="9525">
            <a:solidFill>
              <a:srgbClr val="0B6E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4937760"/>
            <a:ext cx="10424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>
                <a:solidFill>
                  <a:srgbClr val="131A19"/>
                </a:solidFill>
                <a:latin typeface="맑은 고딕"/>
              </a:rPr>
              <a:t>점수를 올린 것은 하나뿐이었다 — 수렴할 때까지 더 학습하기.</a:t>
            </a:r>
          </a:p>
          <a:p>
            <a:pPr algn="l">
              <a:lnSpc>
                <a:spcPct val="125000"/>
              </a:lnSpc>
            </a:pPr>
            <a:r>
              <a:rPr sz="1250" b="0">
                <a:solidFill>
                  <a:srgbClr val="3C4947"/>
                </a:solidFill>
                <a:latin typeface="맑은 고딕"/>
              </a:rPr>
              <a:t>60 에폭으로 끝냈는데 매번 마지막 에폭까지 오르고 있었다. 새 구조를 찾기 전에 있는 것을 끝까지 돌리는 편이 나았다.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20624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0B6E5E"/>
                </a:solidFill>
                <a:latin typeface="Consolas"/>
              </a:rPr>
              <a:t>제출값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13232"/>
            <a:ext cx="10972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>
                <a:solidFill>
                  <a:srgbClr val="131A19"/>
                </a:solidFill>
                <a:latin typeface="맑은 고딕"/>
              </a:rPr>
              <a:t>최종 결과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66756F"/>
                </a:solidFill>
                <a:latin typeface="맑은 고딕"/>
              </a:rPr>
              <a:t>test_deconv_noise 100장 · 4× self-ensemble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874520"/>
            <a:ext cx="10908792" cy="15240"/>
          </a:xfrm>
          <a:prstGeom prst="rect">
            <a:avLst/>
          </a:prstGeom>
          <a:solidFill>
            <a:srgbClr val="DCE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822960" y="1645920"/>
          <a:ext cx="10515599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754880"/>
                <a:gridCol w="1828800"/>
                <a:gridCol w="1828800"/>
                <a:gridCol w="2103119"/>
              </a:tblGrid>
              <a:tr h="274320">
                <a:tc>
                  <a:txBody>
                    <a:bodyPr/>
                    <a:lstStyle/>
                    <a:p>
                      <a:pPr algn="l"/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131A19"/>
                          </a:solidFill>
                          <a:latin typeface="Consolas"/>
                        </a:rPr>
                        <a:t>PSNR</a:t>
                      </a:r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131A19"/>
                          </a:solidFill>
                          <a:latin typeface="Consolas"/>
                        </a:rPr>
                        <a:t>SSIM</a:t>
                      </a:r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131A19"/>
                          </a:solidFill>
                          <a:latin typeface="Consolas"/>
                        </a:rPr>
                        <a:t>판정</a:t>
                      </a:r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C4947"/>
                          </a:solidFill>
                          <a:latin typeface="맑은 고딕"/>
                        </a:rPr>
                        <a:t>통과 기준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26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0.83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—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C4947"/>
                          </a:solidFill>
                          <a:latin typeface="맑은 고딕"/>
                        </a:rPr>
                        <a:t>입력 (blur + noise)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8.02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−0.0187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출발점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C4947"/>
                          </a:solidFill>
                          <a:latin typeface="맑은 고딕"/>
                        </a:rPr>
                        <a:t>배포 baseline (End2End U-Net)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25.02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0.815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미달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31A19"/>
                          </a:solidFill>
                          <a:latin typeface="맑은 고딕"/>
                        </a:rPr>
                        <a:t>우리 (전개형 + σ + 4× SE + 융합)</a:t>
                      </a:r>
                    </a:p>
                  </a:txBody>
                  <a:tcPr marL="82296" marR="82296" marT="27432" marB="27432" anchor="ctr">
                    <a:solidFill>
                      <a:srgbClr val="ECF5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131A19"/>
                          </a:solidFill>
                          <a:latin typeface="Consolas"/>
                        </a:rPr>
                        <a:t>30.37</a:t>
                      </a:r>
                    </a:p>
                  </a:txBody>
                  <a:tcPr marL="82296" marR="82296" marT="27432" marB="27432" anchor="ctr">
                    <a:solidFill>
                      <a:srgbClr val="ECF5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131A19"/>
                          </a:solidFill>
                          <a:latin typeface="Consolas"/>
                        </a:rPr>
                        <a:t>0.8900</a:t>
                      </a:r>
                    </a:p>
                  </a:txBody>
                  <a:tcPr marL="82296" marR="82296" marT="27432" marB="27432" anchor="ctr">
                    <a:solidFill>
                      <a:srgbClr val="ECF5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131A19"/>
                          </a:solidFill>
                          <a:latin typeface="Consolas"/>
                        </a:rPr>
                        <a:t>통과</a:t>
                      </a:r>
                    </a:p>
                  </a:txBody>
                  <a:tcPr marL="82296" marR="82296" marT="27432" marB="27432" anchor="ctr">
                    <a:solidFill>
                      <a:srgbClr val="ECF5F2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822960" y="3931920"/>
          <a:ext cx="4937760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60320"/>
                <a:gridCol w="1188720"/>
                <a:gridCol w="1188720"/>
              </a:tblGrid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31A19"/>
                          </a:solidFill>
                          <a:latin typeface="맑은 고딕"/>
                        </a:rPr>
                        <a:t>노이즈</a:t>
                      </a:r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131A19"/>
                          </a:solidFill>
                          <a:latin typeface="Consolas"/>
                        </a:rPr>
                        <a:t>PSNR</a:t>
                      </a:r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131A19"/>
                          </a:solidFill>
                          <a:latin typeface="Consolas"/>
                        </a:rPr>
                        <a:t>SSIM</a:t>
                      </a:r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C4947"/>
                          </a:solidFill>
                          <a:latin typeface="맑은 고딕"/>
                        </a:rPr>
                        <a:t>gaussian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30.45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0.8895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C4947"/>
                          </a:solidFill>
                          <a:latin typeface="맑은 고딕"/>
                        </a:rPr>
                        <a:t>rician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23.39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0.7692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C4947"/>
                          </a:solidFill>
                          <a:latin typeface="맑은 고딕"/>
                        </a:rPr>
                        <a:t>uniform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29.87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0.9150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C4947"/>
                          </a:solidFill>
                          <a:latin typeface="맑은 고딕"/>
                        </a:rPr>
                        <a:t>salt_and_pepper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37.76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0.9863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6126480" y="3931920"/>
            <a:ext cx="5212080" cy="1554480"/>
          </a:xfrm>
          <a:prstGeom prst="roundRect">
            <a:avLst>
              <a:gd name="adj" fmla="val 4000"/>
            </a:avLst>
          </a:prstGeom>
          <a:solidFill>
            <a:srgbClr val="DCEDE8"/>
          </a:solidFill>
          <a:ln w="9525">
            <a:solidFill>
              <a:srgbClr val="0B6E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55080" y="4114800"/>
            <a:ext cx="475488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131A19"/>
                </a:solidFill>
                <a:latin typeface="맑은 고딕"/>
              </a:rPr>
              <a:t>rician 만 23.39 로 7 dB 뒤진다.</a:t>
            </a:r>
          </a:p>
          <a:p>
            <a:pPr algn="l">
              <a:lnSpc>
                <a:spcPct val="125000"/>
              </a:lnSpc>
            </a:pPr>
            <a:r>
              <a:rPr sz="1200" b="0">
                <a:solidFill>
                  <a:srgbClr val="3C4947"/>
                </a:solidFill>
                <a:latin typeface="맑은 고딕"/>
              </a:rPr>
              <a:t>정류가 밝기를 +0.0396 밀어 올리는데</a:t>
            </a:r>
          </a:p>
          <a:p>
            <a:pPr algn="l">
              <a:lnSpc>
                <a:spcPct val="125000"/>
              </a:lnSpc>
            </a:pPr>
            <a:r>
              <a:rPr sz="1200" b="0">
                <a:solidFill>
                  <a:srgbClr val="3C4947"/>
                </a:solidFill>
                <a:latin typeface="맑은 고딕"/>
              </a:rPr>
              <a:t>dipole 은 DC 를 1/3 로 보존하므로</a:t>
            </a:r>
          </a:p>
          <a:p>
            <a:pPr algn="l">
              <a:lnSpc>
                <a:spcPct val="125000"/>
              </a:lnSpc>
            </a:pPr>
            <a:r>
              <a:rPr sz="1200" b="0">
                <a:solidFill>
                  <a:srgbClr val="3C4947"/>
                </a:solidFill>
                <a:latin typeface="맑은 고딕"/>
              </a:rPr>
              <a:t>역산에서 3배가 되어 0.119 로 남는다</a:t>
            </a:r>
          </a:p>
          <a:p>
            <a:pPr algn="l">
              <a:lnSpc>
                <a:spcPct val="125000"/>
              </a:lnSpc>
            </a:pPr>
            <a:r>
              <a:rPr sz="1200" b="0">
                <a:solidFill>
                  <a:srgbClr val="3C4947"/>
                </a:solidFill>
                <a:latin typeface="맑은 고딕"/>
              </a:rPr>
              <a:t>— 이미지 std 가 0.222 인데 그렇다.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6355080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66756F"/>
                </a:solidFill>
                <a:latin typeface="Consolas"/>
              </a:rPr>
              <a:t>배포 baseline 대비 +5.35 dB · +0.0750   ·   통과 기준 대비 +4.37 dB · +0.0600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20624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0B6E5E"/>
                </a:solidFill>
                <a:latin typeface="Consolas"/>
              </a:rPr>
              <a:t>복원 결과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13232"/>
            <a:ext cx="10972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>
                <a:solidFill>
                  <a:srgbClr val="131A19"/>
                </a:solidFill>
                <a:latin typeface="맑은 고딕"/>
              </a:rPr>
              <a:t>복원 결과 — 노이즈 4종 × 방법별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66756F"/>
                </a:solidFill>
                <a:latin typeface="맑은 고딕"/>
              </a:rPr>
              <a:t>각 종류의 σ 중앙값에 가까운 대표 이미지. 잘 나온 것을 고르지 않았다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874520"/>
            <a:ext cx="10908792" cy="15240"/>
          </a:xfrm>
          <a:prstGeom prst="rect">
            <a:avLst/>
          </a:prstGeom>
          <a:solidFill>
            <a:srgbClr val="DCE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day3_methods_gri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45920" y="1417320"/>
            <a:ext cx="5658894" cy="48463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6355080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66756F"/>
                </a:solidFill>
                <a:latin typeface="Consolas"/>
              </a:rPr>
              <a:t>왼쪽에서 오른쪽으로 좋아진다: 정답 · 측정치 8.02 · Wiener 13.79 · median→Wiener 19.20 · 1일차 디노이저→Wiener 21.06 · 우리 모델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20624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0B6E5E"/>
                </a:solidFill>
                <a:latin typeface="Consolas"/>
              </a:rPr>
              <a:t>복원 결과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13232"/>
            <a:ext cx="10972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>
                <a:solidFill>
                  <a:srgbClr val="131A19"/>
                </a:solidFill>
                <a:latin typeface="맑은 고딕"/>
              </a:rPr>
              <a:t>복원 결과 — difference map 과 zoom-in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66756F"/>
                </a:solidFill>
                <a:latin typeface="맑은 고딕"/>
              </a:rPr>
              <a:t>위: 복원 · 가운데: |복원−정답| (열 공통 스케일) · 아래: 72×72 확대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874520"/>
            <a:ext cx="10908792" cy="15240"/>
          </a:xfrm>
          <a:prstGeom prst="rect">
            <a:avLst/>
          </a:prstGeom>
          <a:solidFill>
            <a:srgbClr val="DCE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day3_diff_zoo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45920" y="1417320"/>
            <a:ext cx="6180864" cy="48463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6355080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66756F"/>
                </a:solidFill>
                <a:latin typeface="Consolas"/>
              </a:rPr>
              <a:t>X자 무늬는 매직앵글 영널 원뿔이다. 정보가 애초에 없는 자리라 어떤 방법으로도 남는다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20624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0B6E5E"/>
                </a:solidFill>
                <a:latin typeface="Consolas"/>
              </a:rPr>
              <a:t>결과 분석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13232"/>
            <a:ext cx="10972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>
                <a:solidFill>
                  <a:srgbClr val="131A19"/>
                </a:solidFill>
                <a:latin typeface="맑은 고딕"/>
              </a:rPr>
              <a:t>취약점 분석 — 어떤 노이즈, 어떤 이미지에 약한가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66756F"/>
                </a:solidFill>
                <a:latin typeface="맑은 고딕"/>
              </a:rPr>
              <a:t>노이즈는 meta 가 알려주지만 이미지 종류는 라벨이 없다. 이미지 자체 특징으로 가른다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874520"/>
            <a:ext cx="10908792" cy="15240"/>
          </a:xfrm>
          <a:prstGeom prst="rect">
            <a:avLst/>
          </a:prstGeom>
          <a:solidFill>
            <a:srgbClr val="DCE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day3_image_typ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463040"/>
            <a:ext cx="10881360" cy="2686926"/>
          </a:xfrm>
          <a:prstGeom prst="rect">
            <a:avLst/>
          </a:prstGeom>
        </p:spPr>
      </p:pic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822960" y="4206240"/>
          <a:ext cx="10515600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2011680"/>
                <a:gridCol w="1371600"/>
                <a:gridCol w="5303520"/>
              </a:tblGrid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131A19"/>
                          </a:solidFill>
                          <a:latin typeface="맑은 고딕"/>
                        </a:rPr>
                        <a:t>특징</a:t>
                      </a:r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>
                          <a:solidFill>
                            <a:srgbClr val="131A19"/>
                          </a:solidFill>
                          <a:latin typeface="Consolas"/>
                        </a:rPr>
                        <a:t>하위 1/3 → 상위 1/3</a:t>
                      </a:r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>
                          <a:solidFill>
                            <a:srgbClr val="131A19"/>
                          </a:solidFill>
                          <a:latin typeface="Consolas"/>
                        </a:rPr>
                        <a:t>상관계수</a:t>
                      </a:r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>
                          <a:solidFill>
                            <a:srgbClr val="131A19"/>
                          </a:solidFill>
                          <a:latin typeface="Consolas"/>
                        </a:rPr>
                        <a:t>해석</a:t>
                      </a:r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3C4947"/>
                          </a:solidFill>
                          <a:latin typeface="맑은 고딕"/>
                        </a:rPr>
                        <a:t>에지 밀도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>
                          <a:solidFill>
                            <a:srgbClr val="3C4947"/>
                          </a:solidFill>
                          <a:latin typeface="Consolas"/>
                        </a:rPr>
                        <a:t>−7.63 dB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>
                          <a:solidFill>
                            <a:srgbClr val="3C4947"/>
                          </a:solidFill>
                          <a:latin typeface="Consolas"/>
                        </a:rPr>
                        <a:t>−0.458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>
                          <a:solidFill>
                            <a:srgbClr val="3C4947"/>
                          </a:solidFill>
                          <a:latin typeface="Consolas"/>
                        </a:rPr>
                        <a:t>구조가 복잡할수록 나쁘다. 가장 강한 예측 변수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3C4947"/>
                          </a:solidFill>
                          <a:latin typeface="맑은 고딕"/>
                        </a:rPr>
                        <a:t>대비 (std)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>
                          <a:solidFill>
                            <a:srgbClr val="3C4947"/>
                          </a:solidFill>
                          <a:latin typeface="Consolas"/>
                        </a:rPr>
                        <a:t>−4.33 dB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>
                          <a:solidFill>
                            <a:srgbClr val="3C4947"/>
                          </a:solidFill>
                          <a:latin typeface="Consolas"/>
                        </a:rPr>
                        <a:t>−0.299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>
                          <a:solidFill>
                            <a:srgbClr val="3C4947"/>
                          </a:solidFill>
                          <a:latin typeface="Consolas"/>
                        </a:rPr>
                        <a:t>σ 는 이미지와 무관하게 뽑히므로 대비가 클수록 불리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3C4947"/>
                          </a:solidFill>
                          <a:latin typeface="맑은 고딕"/>
                        </a:rPr>
                        <a:t>동적범위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>
                          <a:solidFill>
                            <a:srgbClr val="3C4947"/>
                          </a:solidFill>
                          <a:latin typeface="Consolas"/>
                        </a:rPr>
                        <a:t>−3.55 dB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>
                          <a:solidFill>
                            <a:srgbClr val="3C4947"/>
                          </a:solidFill>
                          <a:latin typeface="Consolas"/>
                        </a:rPr>
                        <a:t>−0.248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>
                          <a:solidFill>
                            <a:srgbClr val="3C4947"/>
                          </a:solidFill>
                          <a:latin typeface="Consolas"/>
                        </a:rPr>
                        <a:t>위와 같은 이유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3C4947"/>
                          </a:solidFill>
                          <a:latin typeface="맑은 고딕"/>
                        </a:rPr>
                        <a:t>무늬 조밀도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>
                          <a:solidFill>
                            <a:srgbClr val="3C4947"/>
                          </a:solidFill>
                          <a:latin typeface="Consolas"/>
                        </a:rPr>
                        <a:t>−2.77 dB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>
                          <a:solidFill>
                            <a:srgbClr val="3C4947"/>
                          </a:solidFill>
                          <a:latin typeface="Consolas"/>
                        </a:rPr>
                        <a:t>−0.170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>
                          <a:solidFill>
                            <a:srgbClr val="3C4947"/>
                          </a:solidFill>
                          <a:latin typeface="Consolas"/>
                        </a:rPr>
                        <a:t>고주파일수록 |D| 가 작아 역산이 어렵다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0080" y="6355080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66756F"/>
                </a:solidFill>
                <a:latin typeface="Consolas"/>
              </a:rPr>
              <a:t>가장 못 살린 10장 — rician 8 · uniform 2 · gaussian 0 · s&amp;p 0   |   σ 0.128 (전체 0.074) · 에지 0.082 (0.050).  약점은 '강한 rician + 복잡한 구조' 다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20624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0B6E5E"/>
                </a:solidFill>
                <a:latin typeface="Consolas"/>
              </a:rPr>
              <a:t>보너스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13232"/>
            <a:ext cx="10972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>
                <a:solidFill>
                  <a:srgbClr val="131A19"/>
                </a:solidFill>
                <a:latin typeface="맑은 고딕"/>
              </a:rPr>
              <a:t>보너스 — label-free. 정답을 한 장도 쓰지 않고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66756F"/>
                </a:solidFill>
                <a:latin typeface="맑은 고딕"/>
              </a:rPr>
              <a:t>노이즈가 측정치 위에서 백색이므로 Noise2Void 가 그대로 통한다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874520"/>
            <a:ext cx="10908792" cy="15240"/>
          </a:xfrm>
          <a:prstGeom prst="rect">
            <a:avLst/>
          </a:prstGeom>
          <a:solidFill>
            <a:srgbClr val="DCE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554480"/>
            <a:ext cx="1051560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>
                <a:solidFill>
                  <a:srgbClr val="131A19"/>
                </a:solidFill>
                <a:latin typeface="맑은 고딕"/>
              </a:rPr>
              <a:t>g 의 일부 화소를 이웃으로 덮고, 덮은 자리에서 g 를 맞히게 한다.</a:t>
            </a:r>
          </a:p>
          <a:p>
            <a:pPr algn="l">
              <a:lnSpc>
                <a:spcPct val="125000"/>
              </a:lnSpc>
            </a:pPr>
            <a:r>
              <a:rPr sz="1250" b="0">
                <a:solidFill>
                  <a:srgbClr val="3C4947"/>
                </a:solidFill>
                <a:latin typeface="맑은 고딕"/>
              </a:rPr>
              <a:t>가린 화소를 못 보니 이웃에서 신호를 추정할 수밖에 없고, 잡음은 화소마다 독립이라 예측할 수 없으므로 최적해가 곧 노이즈 없는 h*f 다.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2377440"/>
            <a:ext cx="1965960" cy="1280160"/>
          </a:xfrm>
          <a:prstGeom prst="roundRect">
            <a:avLst>
              <a:gd name="adj" fmla="val 4000"/>
            </a:avLst>
          </a:prstGeom>
          <a:solidFill>
            <a:srgbClr val="DCEDE8"/>
          </a:solidFill>
          <a:ln w="9525">
            <a:solidFill>
              <a:srgbClr val="0B6E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2487168"/>
            <a:ext cx="1828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50" b="1">
                <a:solidFill>
                  <a:srgbClr val="131A19"/>
                </a:solidFill>
                <a:latin typeface="맑은 고딕"/>
              </a:rPr>
              <a:t>측정치 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" y="2834640"/>
            <a:ext cx="1828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000" b="0">
                <a:solidFill>
                  <a:srgbClr val="66756F"/>
                </a:solidFill>
                <a:latin typeface="Consolas"/>
              </a:rPr>
              <a:t>가진 것은
이것뿐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971800" y="2377440"/>
            <a:ext cx="1965960" cy="1280160"/>
          </a:xfrm>
          <a:prstGeom prst="roundRect">
            <a:avLst>
              <a:gd name="adj" fmla="val 4000"/>
            </a:avLst>
          </a:prstGeom>
          <a:solidFill>
            <a:srgbClr val="DCEDE8"/>
          </a:solidFill>
          <a:ln w="9525">
            <a:solidFill>
              <a:srgbClr val="0B6E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044952" y="2487168"/>
            <a:ext cx="1828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50" b="1">
                <a:solidFill>
                  <a:srgbClr val="131A19"/>
                </a:solidFill>
                <a:latin typeface="맑은 고딕"/>
              </a:rPr>
              <a:t>N2V 디노이저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044952" y="2834640"/>
            <a:ext cx="1828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000" b="0">
                <a:solidFill>
                  <a:srgbClr val="66756F"/>
                </a:solidFill>
                <a:latin typeface="Consolas"/>
              </a:rPr>
              <a:t>가린 자리에서
g 를 맞힌다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120640" y="2377440"/>
            <a:ext cx="1965960" cy="1280160"/>
          </a:xfrm>
          <a:prstGeom prst="roundRect">
            <a:avLst>
              <a:gd name="adj" fmla="val 4000"/>
            </a:avLst>
          </a:prstGeom>
          <a:solidFill>
            <a:srgbClr val="DCEDE8"/>
          </a:solidFill>
          <a:ln w="9525">
            <a:solidFill>
              <a:srgbClr val="0B6E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193792" y="2487168"/>
            <a:ext cx="1828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50" b="1">
                <a:solidFill>
                  <a:srgbClr val="131A19"/>
                </a:solidFill>
                <a:latin typeface="맑은 고딕"/>
              </a:rPr>
              <a:t>σ 추정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93792" y="2834640"/>
            <a:ext cx="1828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000" b="0">
                <a:solidFill>
                  <a:srgbClr val="66756F"/>
                </a:solidFill>
                <a:latin typeface="Consolas"/>
              </a:rPr>
              <a:t>널 원뿔에서
라벨 불필요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269480" y="2377440"/>
            <a:ext cx="1965960" cy="1280160"/>
          </a:xfrm>
          <a:prstGeom prst="roundRect">
            <a:avLst>
              <a:gd name="adj" fmla="val 4000"/>
            </a:avLst>
          </a:prstGeom>
          <a:solidFill>
            <a:srgbClr val="DCEDE8"/>
          </a:solidFill>
          <a:ln w="9525">
            <a:solidFill>
              <a:srgbClr val="0B6E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42632" y="2487168"/>
            <a:ext cx="1828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50" b="1">
                <a:solidFill>
                  <a:srgbClr val="131A19"/>
                </a:solidFill>
                <a:latin typeface="맑은 고딕"/>
              </a:rPr>
              <a:t>역필터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42632" y="2834640"/>
            <a:ext cx="1828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000" b="0">
                <a:solidFill>
                  <a:srgbClr val="66756F"/>
                </a:solidFill>
                <a:latin typeface="Consolas"/>
              </a:rPr>
              <a:t>λ 도 측정치에서
학습 없음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418320" y="2377440"/>
            <a:ext cx="1965960" cy="1280160"/>
          </a:xfrm>
          <a:prstGeom prst="roundRect">
            <a:avLst>
              <a:gd name="adj" fmla="val 4000"/>
            </a:avLst>
          </a:prstGeom>
          <a:solidFill>
            <a:srgbClr val="DCEDE8"/>
          </a:solidFill>
          <a:ln w="9525">
            <a:solidFill>
              <a:srgbClr val="0B6E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491472" y="2487168"/>
            <a:ext cx="1828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50" b="1">
                <a:solidFill>
                  <a:srgbClr val="131A19"/>
                </a:solidFill>
                <a:latin typeface="맑은 고딕"/>
              </a:rPr>
              <a:t>복원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91472" y="2834640"/>
            <a:ext cx="1828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000" b="0">
                <a:solidFill>
                  <a:srgbClr val="66756F"/>
                </a:solidFill>
                <a:latin typeface="Consolas"/>
              </a:rPr>
              <a:t>19.56 dB</a:t>
            </a:r>
          </a:p>
        </p:txBody>
      </p:sp>
      <p:graphicFrame>
        <p:nvGraphicFramePr>
          <p:cNvPr id="22" name="Table 21"/>
          <p:cNvGraphicFramePr>
            <a:graphicFrameLocks noGrp="1"/>
          </p:cNvGraphicFramePr>
          <p:nvPr/>
        </p:nvGraphicFramePr>
        <p:xfrm>
          <a:off x="822960" y="3931920"/>
          <a:ext cx="5852157" cy="1097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37410"/>
                <a:gridCol w="1241367"/>
                <a:gridCol w="886690"/>
                <a:gridCol w="886690"/>
              </a:tblGrid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31A19"/>
                          </a:solidFill>
                          <a:latin typeface="맑은 고딕"/>
                        </a:rPr>
                        <a:t>방법</a:t>
                      </a:r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131A19"/>
                          </a:solidFill>
                          <a:latin typeface="Consolas"/>
                        </a:rPr>
                        <a:t>정답 사용</a:t>
                      </a:r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131A19"/>
                          </a:solidFill>
                          <a:latin typeface="Consolas"/>
                        </a:rPr>
                        <a:t>PSNR</a:t>
                      </a:r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131A19"/>
                          </a:solidFill>
                          <a:latin typeface="Consolas"/>
                        </a:rPr>
                        <a:t>SSIM</a:t>
                      </a:r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C4947"/>
                          </a:solidFill>
                          <a:latin typeface="맑은 고딕"/>
                        </a:rPr>
                        <a:t>Wiener 단독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없음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13.79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0.4498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31A19"/>
                          </a:solidFill>
                          <a:latin typeface="맑은 고딕"/>
                        </a:rPr>
                        <a:t>label-free (3일차 자기지도)</a:t>
                      </a:r>
                    </a:p>
                  </a:txBody>
                  <a:tcPr marL="82296" marR="82296" marT="27432" marB="27432" anchor="ctr">
                    <a:solidFill>
                      <a:srgbClr val="ECF5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131A19"/>
                          </a:solidFill>
                          <a:latin typeface="Consolas"/>
                        </a:rPr>
                        <a:t>없음</a:t>
                      </a:r>
                    </a:p>
                  </a:txBody>
                  <a:tcPr marL="82296" marR="82296" marT="27432" marB="27432" anchor="ctr">
                    <a:solidFill>
                      <a:srgbClr val="ECF5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131A19"/>
                          </a:solidFill>
                          <a:latin typeface="Consolas"/>
                        </a:rPr>
                        <a:t>19.56</a:t>
                      </a:r>
                    </a:p>
                  </a:txBody>
                  <a:tcPr marL="82296" marR="82296" marT="27432" marB="27432" anchor="ctr">
                    <a:solidFill>
                      <a:srgbClr val="ECF5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131A19"/>
                          </a:solidFill>
                          <a:latin typeface="Consolas"/>
                        </a:rPr>
                        <a:t>0.5793</a:t>
                      </a:r>
                    </a:p>
                  </a:txBody>
                  <a:tcPr marL="82296" marR="82296" marT="27432" marB="27432" anchor="ctr">
                    <a:solidFill>
                      <a:srgbClr val="ECF5F2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C4947"/>
                          </a:solidFill>
                          <a:latin typeface="맑은 고딕"/>
                        </a:rPr>
                        <a:t>우리 최종 (supervised)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학습에 사용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30.37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0.8900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3" name="Rounded Rectangle 22"/>
          <p:cNvSpPr/>
          <p:nvPr/>
        </p:nvSpPr>
        <p:spPr>
          <a:xfrm>
            <a:off x="7040880" y="3931920"/>
            <a:ext cx="4297680" cy="1280160"/>
          </a:xfrm>
          <a:prstGeom prst="roundRect">
            <a:avLst>
              <a:gd name="adj" fmla="val 4000"/>
            </a:avLst>
          </a:prstGeom>
          <a:solidFill>
            <a:srgbClr val="DCEDE8"/>
          </a:solidFill>
          <a:ln w="9525">
            <a:solidFill>
              <a:srgbClr val="0B6E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269480" y="4096512"/>
            <a:ext cx="384048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>
                <a:solidFill>
                  <a:srgbClr val="131A19"/>
                </a:solidFill>
                <a:latin typeface="맑은 고딕"/>
              </a:rPr>
              <a:t>λ 도 라벨 없이 정한다.</a:t>
            </a:r>
          </a:p>
          <a:p>
            <a:pPr algn="l">
              <a:lnSpc>
                <a:spcPct val="125000"/>
              </a:lnSpc>
            </a:pPr>
            <a:r>
              <a:rPr sz="1150" b="0">
                <a:solidFill>
                  <a:srgbClr val="3C4947"/>
                </a:solidFill>
                <a:latin typeface="맑은 고딕"/>
              </a:rPr>
              <a:t>고전 Wiener 의 K = 잡음/신호 를</a:t>
            </a:r>
          </a:p>
          <a:p>
            <a:pPr algn="l">
              <a:lnSpc>
                <a:spcPct val="125000"/>
              </a:lnSpc>
            </a:pPr>
            <a:r>
              <a:rPr sz="1150" b="0">
                <a:solidFill>
                  <a:srgbClr val="3C4947"/>
                </a:solidFill>
                <a:latin typeface="맑은 고딕"/>
              </a:rPr>
              <a:t>측정치에서 계산한다. val 에서 고른</a:t>
            </a:r>
          </a:p>
          <a:p>
            <a:pPr algn="l">
              <a:lnSpc>
                <a:spcPct val="125000"/>
              </a:lnSpc>
            </a:pPr>
            <a:r>
              <a:rPr sz="1150" b="1">
                <a:solidFill>
                  <a:srgbClr val="131A19"/>
                </a:solidFill>
                <a:latin typeface="맑은 고딕"/>
              </a:rPr>
              <a:t>고정 K(17.77)보다 낫다 (17.90).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6355080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66756F"/>
                </a:solidFill>
                <a:latin typeface="Consolas"/>
              </a:rPr>
              <a:t>학습 측정치는 train 의 clean 에서 합성하되 clean 은 손실에 한 번도 들어가지 않는다 · test 는 건드리지 않는다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20624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0B6E5E"/>
                </a:solidFill>
                <a:latin typeface="Consolas"/>
              </a:rPr>
              <a:t>검증 규칙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13232"/>
            <a:ext cx="10972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>
                <a:solidFill>
                  <a:srgbClr val="131A19"/>
                </a:solidFill>
                <a:latin typeface="맑은 고딕"/>
              </a:rPr>
              <a:t>test set 은 채점에만 썼다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66756F"/>
                </a:solidFill>
                <a:latin typeface="맑은 고딕"/>
              </a:rPr>
              <a:t>학습이 아니어도 하이퍼파라미터를 test 로 고르면 test 를 쓴 것이다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874520"/>
            <a:ext cx="10908792" cy="15240"/>
          </a:xfrm>
          <a:prstGeom prst="rect">
            <a:avLst/>
          </a:prstGeom>
          <a:solidFill>
            <a:srgbClr val="DCE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1737360"/>
            <a:ext cx="10515600" cy="804672"/>
          </a:xfrm>
          <a:prstGeom prst="roundRect">
            <a:avLst>
              <a:gd name="adj" fmla="val 4000"/>
            </a:avLst>
          </a:prstGeom>
          <a:solidFill>
            <a:srgbClr val="F3F6F5"/>
          </a:solidFill>
          <a:ln w="9525">
            <a:solidFill>
              <a:srgbClr val="DCE3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1810512"/>
            <a:ext cx="10058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0B6E5E"/>
                </a:solidFill>
                <a:latin typeface="맑은 고딕"/>
              </a:rPr>
              <a:t>튜닝은 val 에서만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2084832"/>
            <a:ext cx="10058400" cy="4023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66756F"/>
                </a:solidFill>
                <a:latin typeface="맑은 고딕"/>
              </a:rPr>
              <a:t>val clean 에 forward + 파일명 seed 노이즈를 걸어 (측정치, 정답) 쌍을 만든다. K · λ · 반복 횟수 · 융합 무게를 전부 여기서 고른다.  day3_common.load_val()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2633472"/>
            <a:ext cx="10515600" cy="804672"/>
          </a:xfrm>
          <a:prstGeom prst="roundRect">
            <a:avLst>
              <a:gd name="adj" fmla="val 4000"/>
            </a:avLst>
          </a:prstGeom>
          <a:solidFill>
            <a:srgbClr val="F3F6F5"/>
          </a:solidFill>
          <a:ln w="9525">
            <a:solidFill>
              <a:srgbClr val="DCE3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2706624"/>
            <a:ext cx="10058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0B6E5E"/>
                </a:solidFill>
                <a:latin typeface="맑은 고딕"/>
              </a:rPr>
              <a:t>test 는 report() 한 번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" y="2980944"/>
            <a:ext cx="10058400" cy="4023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66756F"/>
                </a:solidFill>
                <a:latin typeface="맑은 고딕"/>
              </a:rPr>
              <a:t>배포된 test_deconv_noise 는 최종 점수를 낼 때만 읽는다.  day3_common.load_test()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3529584"/>
            <a:ext cx="10515600" cy="804672"/>
          </a:xfrm>
          <a:prstGeom prst="roundRect">
            <a:avLst>
              <a:gd name="adj" fmla="val 4000"/>
            </a:avLst>
          </a:prstGeom>
          <a:solidFill>
            <a:srgbClr val="F3F6F5"/>
          </a:solidFill>
          <a:ln w="9525">
            <a:solidFill>
              <a:srgbClr val="DCE3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51560" y="3602736"/>
            <a:ext cx="10058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0B6E5E"/>
                </a:solidFill>
                <a:latin typeface="맑은 고딕"/>
              </a:rPr>
              <a:t>noise_meta.json 은 결과 분석에만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" y="3877056"/>
            <a:ext cx="10058400" cy="4023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66756F"/>
                </a:solidFill>
                <a:latin typeface="맑은 고딕"/>
              </a:rPr>
              <a:t>배포 안내 그대로. 표를 노이즈 종류별로 쪼개고 그림의 대표 이미지를 고르는 데만 쓴다. 복원 함수가 받는 것은 측정치와 b0 뿐이다.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2960" y="4425696"/>
            <a:ext cx="10515600" cy="804672"/>
          </a:xfrm>
          <a:prstGeom prst="roundRect">
            <a:avLst>
              <a:gd name="adj" fmla="val 4000"/>
            </a:avLst>
          </a:prstGeom>
          <a:solidFill>
            <a:srgbClr val="F3F6F5"/>
          </a:solidFill>
          <a:ln w="9525">
            <a:solidFill>
              <a:srgbClr val="DCE3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51560" y="4498848"/>
            <a:ext cx="10058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0B6E5E"/>
                </a:solidFill>
                <a:latin typeface="맑은 고딕"/>
              </a:rPr>
              <a:t>metric 은 배포 구현 그대로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51560" y="4773168"/>
            <a:ext cx="10058400" cy="4023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66756F"/>
                </a:solidFill>
                <a:latin typeface="맑은 고딕"/>
              </a:rPr>
              <a:t>src/deconv 에 초기 단계의 skimage 기반 metrics 가 남아 있었다. 이름을 바꿔 가리지 못하게 하고, 다른 구현이 잡히면 즉시 멈추는 가드를 넣었다.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22960" y="5321808"/>
            <a:ext cx="10515600" cy="804672"/>
          </a:xfrm>
          <a:prstGeom prst="roundRect">
            <a:avLst>
              <a:gd name="adj" fmla="val 4000"/>
            </a:avLst>
          </a:prstGeom>
          <a:solidFill>
            <a:srgbClr val="F3F6F5"/>
          </a:solidFill>
          <a:ln w="9525">
            <a:solidFill>
              <a:srgbClr val="DCE3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51560" y="5394960"/>
            <a:ext cx="10058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0B6E5E"/>
                </a:solidFill>
                <a:latin typeface="맑은 고딕"/>
              </a:rPr>
              <a:t>직접 찾아 고친 위반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51560" y="5669280"/>
            <a:ext cx="10058400" cy="4023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66756F"/>
                </a:solidFill>
                <a:latin typeface="맑은 고딕"/>
              </a:rPr>
              <a:t>초기 스크립트가 K 를 test 에서 스윕하고 있었다. combine_day3.py 는 폐기하고 나머지 스윕을 val 로 옮겼다.  check_rules.py 가 지침 4개를 코드로 검증한다.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