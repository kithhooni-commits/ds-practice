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Consolas"/>
              </a:rPr>
              <a:t>삼성 DS2 · Image Restoration Challenge · 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31A19"/>
                </a:solidFill>
                <a:latin typeface="맑은 고딕"/>
              </a:rPr>
              <a:t>1일차 + 2일차 = 3일차 가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0B6E5E"/>
                </a:solidFill>
                <a:latin typeface="맑은 고딕"/>
              </a:rPr>
              <a:t>선형 역산이 포기한 곳을 메우는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6756F"/>
                </a:solidFill>
                <a:latin typeface="맑은 고딕"/>
              </a:rPr>
              <a:t>g = dipole(f) + n   ·   test_deconv_noise 100장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38912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5720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B6E5E"/>
                </a:solidFill>
                <a:latin typeface="Consolas"/>
              </a:rPr>
              <a:t>제출값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89204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31A19"/>
                </a:solidFill>
                <a:latin typeface="맑은 고딕"/>
              </a:rPr>
              <a:t>30.37 dB / 0.8900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438912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45720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6756F"/>
                </a:solidFill>
                <a:latin typeface="Consolas"/>
              </a:rPr>
              <a:t>배포 baseline 대비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489204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0B6E5E"/>
                </a:solidFill>
                <a:latin typeface="맑은 고딕"/>
              </a:rPr>
              <a:t>+5.35 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81328"/>
            <a:ext cx="10515600" cy="402336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36192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B6E5E"/>
                </a:solidFill>
                <a:latin typeface="맑은 고딕"/>
              </a:rPr>
              <a:t>여정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554480"/>
            <a:ext cx="6035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4947"/>
                </a:solidFill>
                <a:latin typeface="맑은 고딕"/>
              </a:rPr>
              <a:t>무엇을 바꿔 몇 dB 올랐나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554480"/>
            <a:ext cx="1097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Consolas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29384"/>
            <a:ext cx="10515600" cy="402336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984248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B6E5E"/>
                </a:solidFill>
                <a:latin typeface="맑은 고딕"/>
              </a:rPr>
              <a:t>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002536"/>
            <a:ext cx="6035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4947"/>
                </a:solidFill>
                <a:latin typeface="맑은 고딕"/>
              </a:rPr>
              <a:t>흐림과 노이즈가 겹쳤다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002536"/>
            <a:ext cx="1097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Consolas"/>
              </a:rPr>
              <a:t>4–5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2002536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0B6E5E"/>
                </a:solidFill>
                <a:latin typeface="Consolas"/>
              </a:rPr>
              <a:t>요구사항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377440"/>
            <a:ext cx="10515600" cy="402336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432304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B6E5E"/>
                </a:solidFill>
                <a:latin typeface="맑은 고딕"/>
              </a:rPr>
              <a:t>시도 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450592"/>
            <a:ext cx="6035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4947"/>
                </a:solidFill>
                <a:latin typeface="맑은 고딕"/>
              </a:rPr>
              <a:t>1일차 + 2일차 조합 — 왜 지는가 · 선형의 천장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450592"/>
            <a:ext cx="1097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Consolas"/>
              </a:rPr>
              <a:t>6–7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2450592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0B6E5E"/>
                </a:solidFill>
                <a:latin typeface="Consolas"/>
              </a:rPr>
              <a:t>요구사항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2825496"/>
            <a:ext cx="10515600" cy="402336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2880360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B6E5E"/>
                </a:solidFill>
                <a:latin typeface="맑은 고딕"/>
              </a:rPr>
              <a:t>시도 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898648"/>
            <a:ext cx="6035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4947"/>
                </a:solidFill>
                <a:latin typeface="맑은 고딕"/>
              </a:rPr>
              <a:t>DC-Net — 2일차 최고 구조가 죽은 이유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898648"/>
            <a:ext cx="1097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Consolas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898648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0B6E5E"/>
                </a:solidFill>
                <a:latin typeface="Consolas"/>
              </a:rPr>
              <a:t>요구사항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273552"/>
            <a:ext cx="10515600" cy="402336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3328416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B6E5E"/>
                </a:solidFill>
                <a:latin typeface="맑은 고딕"/>
              </a:rPr>
              <a:t>시도 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346704"/>
            <a:ext cx="6035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4947"/>
                </a:solidFill>
                <a:latin typeface="맑은 고딕"/>
              </a:rPr>
              <a:t>2단 분해 — 전달 곡선과 실패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346704"/>
            <a:ext cx="1097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Consolas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3346704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0B6E5E"/>
                </a:solidFill>
                <a:latin typeface="Consolas"/>
              </a:rPr>
              <a:t>요구사항 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3721608"/>
            <a:ext cx="10515600" cy="402336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3776472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B6E5E"/>
                </a:solidFill>
                <a:latin typeface="맑은 고딕"/>
              </a:rPr>
              <a:t>우리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3794760"/>
            <a:ext cx="6035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4947"/>
                </a:solidFill>
                <a:latin typeface="맑은 고딕"/>
              </a:rPr>
              <a:t>전개형 파이프라인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3794760"/>
            <a:ext cx="1097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Consolas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3794760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0B6E5E"/>
                </a:solidFill>
                <a:latin typeface="Consolas"/>
              </a:rPr>
              <a:t>요구사항 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169664"/>
            <a:ext cx="10515600" cy="402336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4224528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B6E5E"/>
                </a:solidFill>
                <a:latin typeface="맑은 고딕"/>
              </a:rPr>
              <a:t>시도 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4242816"/>
            <a:ext cx="6035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4947"/>
                </a:solidFill>
                <a:latin typeface="맑은 고딕"/>
              </a:rPr>
              <a:t>σ 조건화 — 성능의 절반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4242816"/>
            <a:ext cx="1097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Consolas"/>
              </a:rPr>
              <a:t>11–12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4242816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0B6E5E"/>
                </a:solidFill>
                <a:latin typeface="Consolas"/>
              </a:rPr>
              <a:t>요구사항 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4617720"/>
            <a:ext cx="10515600" cy="402336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4672584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B6E5E"/>
                </a:solidFill>
                <a:latin typeface="맑은 고딕"/>
              </a:rPr>
              <a:t>시도 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4690872"/>
            <a:ext cx="6035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4947"/>
                </a:solidFill>
                <a:latin typeface="맑은 고딕"/>
              </a:rPr>
              <a:t>안 통한 것 여섯 가지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4690872"/>
            <a:ext cx="1097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Consolas"/>
              </a:rPr>
              <a:t>13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5065776"/>
            <a:ext cx="10515600" cy="402336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" y="5120640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B6E5E"/>
                </a:solidFill>
                <a:latin typeface="맑은 고딕"/>
              </a:rPr>
              <a:t>결과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5138928"/>
            <a:ext cx="6035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4947"/>
                </a:solidFill>
                <a:latin typeface="맑은 고딕"/>
              </a:rPr>
              <a:t>최종 점수 · 복원 이미지 · 취약점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5138928"/>
            <a:ext cx="1097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Consolas"/>
              </a:rPr>
              <a:t>14–17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0" y="5138928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0B6E5E"/>
                </a:solidFill>
                <a:latin typeface="Consolas"/>
              </a:rPr>
              <a:t>요구사항 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" y="5513832"/>
            <a:ext cx="10515600" cy="402336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5568696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B6E5E"/>
                </a:solidFill>
                <a:latin typeface="맑은 고딕"/>
              </a:rPr>
              <a:t>보너스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51760" y="5586984"/>
            <a:ext cx="6035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4947"/>
                </a:solidFill>
                <a:latin typeface="맑은 고딕"/>
              </a:rPr>
              <a:t>label-free — 정답을 한 장도 쓰지 않고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5586984"/>
            <a:ext cx="1097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Consolas"/>
              </a:rPr>
              <a:t>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5586984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0B6E5E"/>
                </a:solidFill>
                <a:latin typeface="Consolas"/>
              </a:rPr>
              <a:t>요구사항 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2960" y="5961888"/>
            <a:ext cx="10515600" cy="402336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1560" y="6016752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B6E5E"/>
                </a:solidFill>
                <a:latin typeface="맑은 고딕"/>
              </a:rPr>
              <a:t>규칙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51760" y="6035040"/>
            <a:ext cx="6035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4947"/>
                </a:solidFill>
                <a:latin typeface="맑은 고딕"/>
              </a:rPr>
              <a:t>test 는 채점에만 썼다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0" y="6035040"/>
            <a:ext cx="1097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Consolas"/>
              </a:rPr>
              <a:t>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한눈에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여정 — 무엇을 바꿔 무엇이 늘었나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각 칸이 뒤에서 한 장씩 펼쳐진다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572768" cy="160020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1792224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0B6E5E"/>
                </a:solidFill>
                <a:latin typeface="Consolas"/>
              </a:rPr>
              <a:t>출발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2066543"/>
            <a:ext cx="1463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131A19"/>
                </a:solidFill>
                <a:latin typeface="맑은 고딕"/>
              </a:rPr>
              <a:t>Wiener
단독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27614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>
                <a:solidFill>
                  <a:srgbClr val="3C4947"/>
                </a:solidFill>
                <a:latin typeface="Consolas"/>
              </a:rPr>
              <a:t>13.79 dB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03120" y="2395728"/>
            <a:ext cx="182880" cy="219456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50008" y="1691640"/>
            <a:ext cx="1572768" cy="160020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1792224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0B6E5E"/>
                </a:solidFill>
                <a:latin typeface="Consolas"/>
              </a:rPr>
              <a:t>① 조합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4872" y="2066543"/>
            <a:ext cx="1463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131A19"/>
                </a:solidFill>
                <a:latin typeface="맑은 고딕"/>
              </a:rPr>
              <a:t>1일차 디노이저
→ Wiener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4872" y="27614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>
                <a:solidFill>
                  <a:srgbClr val="3C4947"/>
                </a:solidFill>
                <a:latin typeface="Consolas"/>
              </a:rPr>
              <a:t>21.06 dB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50208" y="2395728"/>
            <a:ext cx="182880" cy="219456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97096" y="1691640"/>
            <a:ext cx="1572768" cy="160020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1792224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0B6E5E"/>
                </a:solidFill>
                <a:latin typeface="Consolas"/>
              </a:rPr>
              <a:t>② 구조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2066543"/>
            <a:ext cx="1463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131A19"/>
                </a:solidFill>
                <a:latin typeface="맑은 고딕"/>
              </a:rPr>
              <a:t>전개형
(물리+학습)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27614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>
                <a:solidFill>
                  <a:srgbClr val="3C4947"/>
                </a:solidFill>
                <a:latin typeface="Consolas"/>
              </a:rPr>
              <a:t>25.91 dB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797296" y="2395728"/>
            <a:ext cx="182880" cy="219456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44184" y="1691640"/>
            <a:ext cx="1572768" cy="160020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8" y="1792224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0B6E5E"/>
                </a:solidFill>
                <a:latin typeface="Consolas"/>
              </a:rPr>
              <a:t>③ 조건화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2066543"/>
            <a:ext cx="1463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131A19"/>
                </a:solidFill>
                <a:latin typeface="맑은 고딕"/>
              </a:rPr>
              <a:t>σ 를 측정치
에서 읽는다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8" y="27614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>
                <a:solidFill>
                  <a:srgbClr val="3C4947"/>
                </a:solidFill>
                <a:latin typeface="Consolas"/>
              </a:rPr>
              <a:t>29.25 dB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644384" y="2395728"/>
            <a:ext cx="182880" cy="219456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891272" y="1691640"/>
            <a:ext cx="1572768" cy="160020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46136" y="1792224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0B6E5E"/>
                </a:solidFill>
                <a:latin typeface="Consolas"/>
              </a:rPr>
              <a:t>④ 수렴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46136" y="2066543"/>
            <a:ext cx="1463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131A19"/>
                </a:solidFill>
                <a:latin typeface="맑은 고딕"/>
              </a:rPr>
              <a:t>끝까지
더 학습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27614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>
                <a:solidFill>
                  <a:srgbClr val="3C4947"/>
                </a:solidFill>
                <a:latin typeface="Consolas"/>
              </a:rPr>
              <a:t>30.32 dB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491472" y="2395728"/>
            <a:ext cx="182880" cy="219456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38360" y="1691640"/>
            <a:ext cx="1572768" cy="160020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93224" y="1792224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0B6E5E"/>
                </a:solidFill>
                <a:latin typeface="Consolas"/>
              </a:rPr>
              <a:t>⑤ 융합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93224" y="2066543"/>
            <a:ext cx="1463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131A19"/>
                </a:solidFill>
                <a:latin typeface="맑은 고딕"/>
              </a:rPr>
              <a:t>다른 구조
둘을 평균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93224" y="27614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>
                <a:solidFill>
                  <a:srgbClr val="0B6E5E"/>
                </a:solidFill>
                <a:latin typeface="Consolas"/>
              </a:rPr>
              <a:t>30.37 dB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40080" y="3611880"/>
          <a:ext cx="1088135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307"/>
                <a:gridCol w="2838615"/>
                <a:gridCol w="5677231"/>
                <a:gridCol w="946205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31A19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무엇을 바꿨나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왜 올랐나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이득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① 조합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역산 전에 노이즈를 먼저 지운다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노이즈가 흐림 뒤에 붙어 측정치 위에서는 백색이다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+7.3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② 구조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물리 제약과 학습을 번갈아 4번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역산은 닫힌 해로 끝내고 네트워크는 모르는 주파수만 채운다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+4.9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③ 조건화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σ 를 널 원뿔에서 읽어 넣는다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σ 가 장마다 200배 차이난다. 하나로 뭉뚱그리면 평균에 타협한다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+3.3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④ 수렴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세 번에 걸쳐 230 에폭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늘릴 때마다 마지막 에폭이 best 였다. 세 번 다 수렴 전이었다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+1.07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31A19"/>
                          </a:solidFill>
                          <a:latin typeface="맑은 고딕"/>
                        </a:rPr>
                        <a:t>⑤ 융합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4단계 · 6단계 모델을 평균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구조가 다르니 틀리는 방식도 달라 오차가 상쇄된다 (무게는 val 에서)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+0.05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출발 13.79 → 최종 30.37   ·   통과 기준 26 / 0.83   ·   배포 baseline 25.02 / 0.815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Day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문제 — 두 열화가 겹쳤다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g = h * f + 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45920"/>
          <a:ext cx="57607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10896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기호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뜻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아는가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f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원본 이미지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모름 — 찾는 것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h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dipole 커널 (한 점이 퍼지는 모양)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앎 — 조교 지침 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노이즈 (4종, σ 가 장마다 다름)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모름 — 조교 지침 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g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측정치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앎 — 주어진 것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949440" y="1645920"/>
            <a:ext cx="4389120" cy="155448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1828800"/>
            <a:ext cx="3931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h 를 안다는 것이 핵심 자산이다.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역필터를 해석적으로 만들 수 있고,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σ 를 공짜로 잴 수 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3383280"/>
          <a:ext cx="1051559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599"/>
                <a:gridCol w="2503714"/>
                <a:gridCol w="3254828"/>
                <a:gridCol w="3004457"/>
              </a:tblGrid>
              <a:tr h="274320">
                <a:tc>
                  <a:txBody>
                    <a:bodyPr/>
                    <a:lstStyle/>
                    <a:p>
                      <a:pPr algn="l"/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1일차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2일차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3일차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문제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g = f + 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g = h * f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g = h * f + n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답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DRUNet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Wiener K→0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?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점수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37.42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109.86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입력 SNR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+8.6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무한대 (노이즈 없음)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+0.9 dB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22960" y="516636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32180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3일차 측정치는 신호와 노이즈가 거의 같은 크기다 (SNR +0.9 dB). 흐림이 대비를 0.41배로 죽였기 때문이다.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요구사항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문제가 어떻게 만들어지는가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clean → dipole blur → + noise. 학습 쌍도 같은 방식으로 만든다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y3_forward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10698480" cy="29991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노이즈가 흐림 **뒤에** 붙는다 — 오른쪽 끝이 노이즈만 뽑아낸 것이다. 그래서 측정치 위에서는 백색이고, 역산 전에 지워야 한다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요구사항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시도 ① — 1일차 + 2일차를 이어 붙인다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각자 최고인 도구인데 합치면 진다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00200"/>
          <a:ext cx="585215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1280159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순서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방법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디노이징 먼저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1일차 디노이저 → Wiener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21.06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median 3×3 → Wiener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19.20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디컨볼루션 먼저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Wiener → 1일차 디노이저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16.88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번갈아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plug-and-play (디노이저 고정)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16.02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참고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Wiener 단독 · 2일차 답(K→0)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13.79 · −24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040880" y="1600200"/>
            <a:ext cx="4297680" cy="192024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1783080"/>
            <a:ext cx="3840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31A19"/>
                </a:solidFill>
                <a:latin typeface="맑은 고딕"/>
              </a:rPr>
              <a:t>순서가 4.2 dB 를 가른다.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맑은 고딕"/>
              </a:rPr>
              <a:t>Wiener 를 먼저 걸면 노이즈가 1/D 로 증폭되고 X자로 상관돼, 디노이저가 본 적 없는 종류가 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49039"/>
            <a:ext cx="10515600" cy="713232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813047"/>
            <a:ext cx="6949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2일차 답은 노이즈가 0이라서 통했다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096511"/>
            <a:ext cx="6949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맑은 고딕"/>
              </a:rPr>
              <a:t>1/D 로 역산하면 노이즈 에너지가 폭발한다. n=0 이면 무한대 × 0 = 0 이었다.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858767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Consolas"/>
              </a:rPr>
              <a:t>+51.5 dB
노이즈 증폭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553711"/>
            <a:ext cx="10515600" cy="713232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617719"/>
            <a:ext cx="6949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흐림이 대비를 죽여 같은 σ 가 훨씬 어려워진다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901183"/>
            <a:ext cx="6949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맑은 고딕"/>
              </a:rPr>
              <a:t>std(f)=0.222 → std(h*f)=0.092. 노이즈는 1일차와 똑같은데 신호만 줄었다.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663439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Consolas"/>
              </a:rPr>
              <a:t>SNR +8.6
→ +0.9 dB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358383"/>
            <a:ext cx="10515600" cy="713232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422391"/>
            <a:ext cx="6949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주파수의 16% 는 진짜로 복원 불가다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705855"/>
            <a:ext cx="6949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맑은 고딕"/>
              </a:rPr>
              <a:t>|D|&lt;0.1 은 역산 후 SNR 이 −20 dB 이하. 2일차엔 이것도 되살렸다 (노이즈가 0이라).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468111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Consolas"/>
              </a:rPr>
              <a:t>16%
버려진다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요구사항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시도 ① 의 한계 — 선형은 21.95 dB 에서 끝난다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정답의 파워 스펙트럼을 알려줘도 그렇다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45920"/>
          <a:ext cx="603503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144"/>
                <a:gridCol w="993107"/>
                <a:gridCol w="2291787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필터 / 방법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성격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Wiener 상수 K (val 에서 고름)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13.72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실제로 쓸 수 있는 것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1일차 디노이저 → Wiener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21.06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학습 없는 조합 중 최고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오라클 위너 (장마다 참 스펙트럼)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21.95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선형의 천장. 만들 수 없다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원뿔을 포기하는 방법의 상한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25.08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비선형이어도 넘을 수 없다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배포 baseline (End2End U-Net)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25.02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그 상한에 붙어 있다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우리 최종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30.37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원뿔을 실제로 메우고 있다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223760" y="1645920"/>
            <a:ext cx="4114800" cy="219456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828800"/>
            <a:ext cx="3657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31A19"/>
                </a:solidFill>
                <a:latin typeface="맑은 고딕"/>
              </a:rPr>
              <a:t>천장이 두 개다.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맑은 고딕"/>
              </a:rPr>
              <a:t>선형은 21.95 에서 끝난다.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맑은 고딕"/>
              </a:rPr>
              <a:t>원뿔을 포기하면 비선형이라도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31A19"/>
                </a:solidFill>
                <a:latin typeface="맑은 고딕"/>
              </a:rPr>
              <a:t>25.08 이 한계다 —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맑은 고딕"/>
              </a:rPr>
              <a:t>우리 오차(정답의 0.77%)가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맑은 고딕"/>
              </a:rPr>
              <a:t>원뿔에 든 정답(2.24%)보다 작다.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31A19"/>
                </a:solidFill>
                <a:latin typeface="맑은 고딕"/>
              </a:rPr>
              <a:t>30.37 는 원뿔의 최소 65% 를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31A19"/>
                </a:solidFill>
                <a:latin typeface="맑은 고딕"/>
              </a:rPr>
              <a:t>메우고 있다는 뜻이다.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B6E5E"/>
                </a:solidFill>
                <a:latin typeface="맑은 고딕"/>
              </a:rPr>
              <a:t>왜 정답을 봐도 완벽하지 못한가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4480560"/>
          <a:ext cx="10515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13816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31A19"/>
                          </a:solidFill>
                          <a:latin typeface="맑은 고딕"/>
                        </a:rPr>
                        <a:t>이유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31A19"/>
                          </a:solidFill>
                          <a:latin typeface="Consolas"/>
                        </a:rPr>
                        <a:t>설명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C4947"/>
                          </a:solidFill>
                          <a:latin typeface="맑은 고딕"/>
                        </a:rPr>
                        <a:t>위상은 모른다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파워 스펙트럼은 '어느 굵기 무늬가 얼마나' 만 안다. '어디에 있는지' 는 위상이 담고 있다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C4947"/>
                          </a:solidFill>
                          <a:latin typeface="맑은 고딕"/>
                        </a:rPr>
                        <a:t>곱하기밖에 못 한다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F̂(k) = W(k)·G(k). 측정치에 없는 것은 어떤 수를 곱해도 안 나온다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C4947"/>
                          </a:solidFill>
                          <a:latin typeface="맑은 고딕"/>
                        </a:rPr>
                        <a:t>오차의 32% 는 버린 주파수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주파수의 89.2% 가 노이즈가 더 세다. 거기선 포기가 최선이고 버린 만큼이 오차로 남는다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C4947"/>
                          </a:solidFill>
                          <a:latin typeface="맑은 고딕"/>
                        </a:rPr>
                        <a:t>오차의 68% 는 새어든 노이즈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살린 주파수에서는 신호를 완벽히 살리는 것과 노이즈를 완전히 막는 것을 동시에 못 한다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요구사항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시도 ② — DC-Net. 2일차 최고 구조를 그대로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2일차 42.93 dB → 3일차 14.80 dB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3C4947"/>
                </a:solidFill>
                <a:latin typeface="맑은 고딕"/>
              </a:rPr>
              <a:t>hard DC 는 |D|&gt;τ 인 주파수를 G/D 로 못박는다. 그런데 G = D·F + N 이므로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2057400"/>
            <a:ext cx="7406640" cy="64008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2194560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31A19"/>
                </a:solidFill>
                <a:latin typeface="Consolas"/>
              </a:rPr>
              <a:t>G/D  =  F  +  N/D        ← 증폭된 노이즈를 못박는다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6756F"/>
                </a:solidFill>
                <a:latin typeface="맑은 고딕"/>
              </a:rPr>
              <a:t>네트워크는 그 주파수를 고칠 권한이 없다. 2일차엔 N=0 이라 완벽했다.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3291840"/>
          <a:ext cx="10515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194560"/>
                <a:gridCol w="2743200"/>
                <a:gridCol w="246888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못박는 주파수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경계 노이즈 증폭 1/τ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결과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0.005 (2일차 최적 방향)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99.2%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200배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폭발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0.05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92.0%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20배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14.80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0.2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66.4%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5배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DC 가 무의미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22960" y="4800600"/>
            <a:ext cx="10515600" cy="109728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983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τ 를 키우면 DC 가 무의미해지고 줄이면 폭발한다 — 3일차엔 좋은 τ 가 없다.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947"/>
                </a:solidFill>
                <a:latin typeface="맑은 고딕"/>
              </a:rPr>
              <a:t>고칠 방법은 못박지 말고 무게를 두는 것. 그것이 soft DC 이고,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947"/>
                </a:solidFill>
                <a:latin typeface="맑은 고딕"/>
              </a:rPr>
              <a:t>전개형이 곧 DC-Net 의 노이즈 대응 일반형이다 (λ→0 이면 DC-Net).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요구사항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시도 ③ — 2단 분해. 1일차 문제로 환원하기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노이즈가 흐림 뒤에 붙으니 측정치 위에서는 1일차 문제다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63040" y="1645920"/>
            <a:ext cx="2011680" cy="11887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755648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측정치 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6756F"/>
                </a:solidFill>
                <a:latin typeface="Consolas"/>
              </a:rPr>
              <a:t>h*f + 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40" y="1645920"/>
            <a:ext cx="2011680" cy="11887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755648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디노이저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1031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6756F"/>
                </a:solidFill>
                <a:latin typeface="Consolas"/>
              </a:rPr>
              <a:t>z ≈ h*f
1일차 문제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645920"/>
            <a:ext cx="2011680" cy="11887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755648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역필터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1031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6756F"/>
                </a:solidFill>
                <a:latin typeface="Consolas"/>
              </a:rPr>
              <a:t>x = D·Z/(D²+λ)
2일차 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645920"/>
            <a:ext cx="2011680" cy="11887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755648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복원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031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6756F"/>
                </a:solidFill>
                <a:latin typeface="Consolas"/>
              </a:rPr>
              <a:t>15.6 dB
실패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22960" y="3063240"/>
          <a:ext cx="585215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4749"/>
                <a:gridCol w="1418705"/>
                <a:gridCol w="1418705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측정치 영역에서 지운 정도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→ 최종 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→ 최종 SSIM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25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20.24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0.5572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35 dB  ← 우리가 도달한 곳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26.83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0.7809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40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29.86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0.8626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완벽 (오차 0)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71.47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0.9999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7040880" y="3063240"/>
            <a:ext cx="4297680" cy="155448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3246120"/>
            <a:ext cx="3840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전달 곡선은 맞았다.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측정치에서 노이즈만 완벽히 지우면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2일차 답이 71 dB 를 낸다 —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구조적 한계는 없다.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4632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8C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10912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그런데 필요한 난이도를 계산하지 않았다. 1일차는 25.95 → 37.42 (+11.5 dB) 였는데 여기서는 13.50 → 40 (+26.5 dB) 를 요구한다.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역필터가 네트워크의 오차를 1/D 로 증폭하고, 뭉개진 h*f 는 선명한 f 보다 사전지식이 약하다. 1일차보다 훨씬 어려운 1일차 문제였다.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요구사항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우리 방법 — 전개형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데이터 정합과 사전지식을 번갈아 4번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874519" cy="146304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956816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측정치 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414016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6756F"/>
                </a:solidFill>
                <a:latin typeface="Consolas"/>
              </a:rPr>
              <a:t>h*f + 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96896" y="2450592"/>
            <a:ext cx="219456" cy="237744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80360" y="1828800"/>
            <a:ext cx="1874519" cy="146304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3512" y="1956816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Wiener 초기화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2414016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6756F"/>
                </a:solidFill>
                <a:latin typeface="Consolas"/>
              </a:rPr>
              <a:t>x₀ = D·G
   /(D²+λ₀)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791456" y="2450592"/>
            <a:ext cx="219456" cy="237744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74920" y="1828800"/>
            <a:ext cx="1874519" cy="146304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48072" y="1956816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사전지식
DRUNet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72" y="2414016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6756F"/>
                </a:solidFill>
                <a:latin typeface="Consolas"/>
              </a:rPr>
              <a:t>z = net(x, σ)
σ 는 측정치에서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986016" y="2450592"/>
            <a:ext cx="219456" cy="237744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69480" y="1828800"/>
            <a:ext cx="1874519" cy="146304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2632" y="1956816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데이터 정합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632" y="2414016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6756F"/>
                </a:solidFill>
                <a:latin typeface="Consolas"/>
              </a:rPr>
              <a:t>x = (D·G+λZ)
     /(D²+λ)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180576" y="2450592"/>
            <a:ext cx="219456" cy="237744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64040" y="1828800"/>
            <a:ext cx="1874519" cy="146304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37192" y="1956816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복원 f̂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7192" y="2414016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6756F"/>
                </a:solidFill>
                <a:latin typeface="Consolas"/>
              </a:rPr>
              <a:t>30.37 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45643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0B6E5E"/>
                </a:solidFill>
                <a:latin typeface="Consolas"/>
              </a:rPr>
              <a:t>↑____________ 4번 반복 ____________|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822960" y="3931920"/>
          <a:ext cx="1051559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280159"/>
                <a:gridCol w="704088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학습되나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하는 일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Wiener 초기화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아니오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닫힌 해. dipole 은 주파수 영역에서 대각 연산자다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DRUNet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예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역산이 포기한 주파수를 이미지 사전지식으로 메운다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데이터 정합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λ 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매번 측정치로 되돌려 오차가 쌓이지 않게 한다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822960" y="5440680"/>
            <a:ext cx="10515600" cy="82296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59612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네트워크는 '아는 주파수를 다시 맞히는' 일을 배울 필요가 없다. 모르는 주파수를 채우는 데만 용량을 쓴다.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λ 는 단계마다 따로 학습해 '이번엔 측정치를 얼마나 믿을지' 를 스스로 정한다.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요구사항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시도 ④ — σ 를 라벨 없이 읽어 모델에 알려준다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3일차 σ 는 장마다 200배 차이난다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|D| &lt; 0.02 인 주파수엔 dipole 이 신호를 보내지 않는다. 거기 있는 것은 전부 노이즈다.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947"/>
                </a:solidFill>
                <a:latin typeface="맑은 고딕"/>
              </a:rPr>
              <a:t>파세발로 E|G|² = N·σ².  정답도 noise_meta.json 도 쓰지 않는다 — 측정치 하나에서 나온다.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606040"/>
          <a:ext cx="57607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108960"/>
              </a:tblGrid>
              <a:tr h="274320">
                <a:tc>
                  <a:txBody>
                    <a:bodyPr/>
                    <a:lstStyle/>
                    <a:p>
                      <a:pPr algn="l"/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값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σ 범위 (test 100장)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0.0007 ~ 0.1325   (200배)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추정 상대오차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중앙값 1.9%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σ&lt;0.05 구간 성능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23.91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σ≥0.10 구간 성능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17.64 dB   (6.3 dB 차이)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949440" y="2606040"/>
            <a:ext cx="4389120" cy="155448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2788920"/>
            <a:ext cx="3931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blind 모델 하나로 200배 범위를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덮으려면 평균에 타협해야 한다.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σ 를 알려주면 매 장에 맞는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세기로 지울 수 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8912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5720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커널을 알기에 쓸 수 있는 추정기다.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MAD 같은 일반 추정기는 이미지의 고주파를 노이즈로 착각한다 — 1일차에 σ 게이트가 실패한 원인이 그것이었다.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여기서는 '신호가 있을 수 없는 자리' 를 커널이 알려주므로 착각할 여지가 없다.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시도 ④ 의 근거 — σ 가 성능의 절반을 책임진다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가중치는 그대로 두고 σ 입력만 바꾼다. 학습이 필요 없는 ablation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51559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9818"/>
                <a:gridCol w="1720734"/>
                <a:gridCol w="1720734"/>
                <a:gridCol w="2294312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σ 를 어떻게 주는가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SSIM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손실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추정 σ (장마다 다르게)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29.59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0.8817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전체 평균 하나로 고정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25.37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0.7751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-4.22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σ 2배 (과대평가)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22.52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0.7890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-7.07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σ 절반 (과소평가)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22.92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0.6484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-6.67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전부 0 (노이즈가 없다고)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15.93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0.4040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-13.66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023360"/>
            <a:ext cx="10515600" cy="173736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20624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장마다 다른 σ 를 주는 것이, 하나의 값으로 뭉뚱그리는 것보다 4.22 dB 낫다.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947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947"/>
                </a:solidFill>
                <a:latin typeface="맑은 고딕"/>
              </a:rPr>
              <a:t>σ 를 0 이라고 알려주면 29.59 에서 15.93 으로 무너진다. 2배·절반으로 틀리게 알려줘도 7 dB 가까이 잃는다.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947"/>
                </a:solidFill>
                <a:latin typeface="맑은 고딕"/>
              </a:rPr>
              <a:t>모델이 σ 를 실제로 쓰고 있고, 정확히 알려주는 것이 중요하다는 직접적인 증거다.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실패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시도 ⑤ — 안 통한 것들, 그리고 고쳐서 통한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왜 안 되는지 알면 고칠 수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9164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97280"/>
                <a:gridCol w="68580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31A19"/>
                          </a:solidFill>
                          <a:latin typeface="맑은 고딕"/>
                        </a:rPr>
                        <a:t>시도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결과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왜 안 됐나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SSIM 을 처음부터 손실에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17.5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덜 학습된 모델을 '정답과 맞든 아니든 국소 대비를 키우는' 쪽으로 민다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언샤프 후처리로 SSIM 보정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무효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잔차까지 키워 σx 만 커진다. 잃은 국소 대비는 사후에 만들 수 없다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노이즈 통계 조건화 (왜도·첨도)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29.59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첨도가 rician 을 가르지만(10.4 vs 2.9~3.8) 모델이 쓰지 않았다 (−0.03 dB)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모델 융합 1차 — 형제 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29.66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실패. 같은 체크포인트에서 이어받은 형제라 틀리는 방식이 같다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추론 때 반복 횟수 늘리기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20.99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4단계로 학습한 모델은 5단계에서 분포를 벗어난다. val 이 4를 골랐다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end-to-end DRUNet (대조군)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24.6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전개형보다 5 dB 아래. 물리 구조가 실제로 이득이라는 증거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모델 융합 2차 — 4단계 + 6단계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30.37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성공. 구조가 다르니 오차 상관이 낮다. 1차 실패의 원인을 고친 것이다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754880"/>
            <a:ext cx="10881360" cy="105156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93776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점수를 올린 것은 하나뿐이었다 — 수렴할 때까지 더 학습하기.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60 에폭으로 끝냈는데 매번 마지막 에폭까지 오르고 있었다. 새 구조를 찾기 전에 있는 것을 끝까지 돌리는 편이 나았다.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제출값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최종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test_deconv_noise 100장 · 4× self-ensemble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45920"/>
          <a:ext cx="1051559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1828800"/>
                <a:gridCol w="1828800"/>
                <a:gridCol w="2103119"/>
              </a:tblGrid>
              <a:tr h="274320">
                <a:tc>
                  <a:txBody>
                    <a:bodyPr/>
                    <a:lstStyle/>
                    <a:p>
                      <a:pPr algn="l"/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SSIM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판정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통과 기준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0.83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입력 (blur + noise)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8.02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−0.0187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출발점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배포 baseline (End2End U-Net)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25.02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0.815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미달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다른 조 (2-step + 4× SE)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26.73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0.8215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SSIM 미달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우리 (전개형 + σ + 4× SE + 융합)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30.37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0.8900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통과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3931920"/>
          <a:ext cx="49377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188720"/>
                <a:gridCol w="118872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노이즈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SSIM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gaussian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30.45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0.8895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rician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23.39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0.7692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uniform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29.87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0.9150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salt_and_pepper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37.76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0.9863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126480" y="3931920"/>
            <a:ext cx="5212080" cy="155448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4114800"/>
            <a:ext cx="4754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31A19"/>
                </a:solidFill>
                <a:latin typeface="맑은 고딕"/>
              </a:rPr>
              <a:t>rician 만 23.39 로 7 dB 뒤진다.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맑은 고딕"/>
              </a:rPr>
              <a:t>정류가 밝기를 +0.0396 밀어 올리는데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맑은 고딕"/>
              </a:rPr>
              <a:t>dipole 은 DC 를 1/3 로 보존하므로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맑은 고딕"/>
              </a:rPr>
              <a:t>역산에서 3배가 되어 0.119 로 남는다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맑은 고딕"/>
              </a:rPr>
              <a:t>— 이미지 std 가 0.222 인데 그렇다.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배포 baseline 대비 +5.35 dB · +0.0750   ·   다른 조 대비 +3.64 dB · +0.0685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요구사항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복원 결과 — 노이즈 4종 × 방법별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각 종류의 σ 중앙값에 가까운 대표 이미지. 잘 나온 것을 고르지 않았다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y3_methods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417320"/>
            <a:ext cx="5658894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왼쪽에서 오른쪽으로 좋아진다: 정답 · 측정치 8.02 · Wiener 13.79 · median→Wiener 19.20 · 1일차 디노이저→Wiener 21.06 · 우리 모델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요구사항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복원 결과 — difference map 과 zoom-in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위: 복원 · 가운데: |복원−정답| (열 공통 스케일) · 아래: 72×72 확대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y3_diff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417320"/>
            <a:ext cx="6180864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X자 무늬는 매직앵글 영널 원뿔이다. 정보가 애초에 없는 자리라 어떤 방법으로도 남는다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배포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취약점 분석 — 어떤 노이즈, 어떤 이미지에 약한가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노이즈는 meta 가 알려주지만 이미지 종류는 라벨이 없다. 이미지 자체 특징으로 가른다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y3_image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10881360" cy="2686926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4206240"/>
          <a:ext cx="10515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1371600"/>
                <a:gridCol w="530352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31A19"/>
                          </a:solidFill>
                          <a:latin typeface="맑은 고딕"/>
                        </a:rPr>
                        <a:t>특징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31A19"/>
                          </a:solidFill>
                          <a:latin typeface="Consolas"/>
                        </a:rPr>
                        <a:t>하위 1/3 → 상위 1/3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31A19"/>
                          </a:solidFill>
                          <a:latin typeface="Consolas"/>
                        </a:rPr>
                        <a:t>상관계수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31A19"/>
                          </a:solidFill>
                          <a:latin typeface="Consolas"/>
                        </a:rPr>
                        <a:t>해석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C4947"/>
                          </a:solidFill>
                          <a:latin typeface="맑은 고딕"/>
                        </a:rPr>
                        <a:t>에지 밀도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−7.63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−0.458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구조가 복잡할수록 나쁘다. 가장 강한 예측 변수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C4947"/>
                          </a:solidFill>
                          <a:latin typeface="맑은 고딕"/>
                        </a:rPr>
                        <a:t>대비 (std)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−4.33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−0.299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σ 는 이미지와 무관하게 뽑히므로 대비가 클수록 불리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C4947"/>
                          </a:solidFill>
                          <a:latin typeface="맑은 고딕"/>
                        </a:rPr>
                        <a:t>동적범위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−3.55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−0.248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위와 같은 이유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C4947"/>
                          </a:solidFill>
                          <a:latin typeface="맑은 고딕"/>
                        </a:rPr>
                        <a:t>무늬 조밀도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−2.77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−0.170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고주파일수록 |D| 가 작아 역산이 어렵다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가장 못 살린 10장 — rician 8 · uniform 2 · gaussian 0 · s&amp;p 0   |   σ 0.128 (전체 0.074) · 에지 0.082 (0.050).  약점은 '강한 rician + 복잡한 구조' 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요구사항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보너스 — label-free. 정답을 한 장도 쓰지 않고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노이즈가 측정치 위에서 백색이므로 Noise2Void 가 그대로 통한다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g 의 일부 화소를 이웃으로 덮고, 덮은 자리에서 g 를 맞히게 한다.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가린 화소를 못 보니 이웃에서 신호를 추정할 수밖에 없고, 잡음은 화소마다 독립이라 예측할 수 없으므로 최적해가 곧 노이즈 없는 h*f 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1965960" cy="128016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8716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측정치 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가진 것은
이것뿐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377440"/>
            <a:ext cx="1965960" cy="128016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248716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N2V 디노이저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283464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가린 자리에서
g 를 맞힌다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377440"/>
            <a:ext cx="1965960" cy="128016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3792" y="248716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σ 추정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83464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널 원뿔에서
라벨 불필요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2377440"/>
            <a:ext cx="1965960" cy="128016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2632" y="248716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역필터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2632" y="283464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λ 도 측정치에서
학습 없음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2377440"/>
            <a:ext cx="1965960" cy="128016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91472" y="248716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복원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1472" y="283464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19.56 dB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22960" y="3931920"/>
          <a:ext cx="585215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7410"/>
                <a:gridCol w="1241367"/>
                <a:gridCol w="886690"/>
                <a:gridCol w="88669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방법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정답 사용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SSIM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Wiener 단독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없음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13.79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0.4498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label-free (3일차 자기지도)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없음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19.56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0.5793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우리 최종 (supervised)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학습에 사용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30.37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0.8900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7040880" y="3931920"/>
            <a:ext cx="4297680" cy="128016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4096512"/>
            <a:ext cx="3840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131A19"/>
                </a:solidFill>
                <a:latin typeface="맑은 고딕"/>
              </a:rPr>
              <a:t>λ 도 라벨 없이 정한다.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4947"/>
                </a:solidFill>
                <a:latin typeface="맑은 고딕"/>
              </a:rPr>
              <a:t>고전 Wiener 의 K = 잡음/신호 를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4947"/>
                </a:solidFill>
                <a:latin typeface="맑은 고딕"/>
              </a:rPr>
              <a:t>측정치에서 계산한다. val 에서 고른</a:t>
            </a:r>
          </a:p>
          <a:p>
            <a:pPr algn="l">
              <a:lnSpc>
                <a:spcPct val="125000"/>
              </a:lnSpc>
            </a:pPr>
            <a:r>
              <a:rPr sz="1150" b="1">
                <a:solidFill>
                  <a:srgbClr val="131A19"/>
                </a:solidFill>
                <a:latin typeface="맑은 고딕"/>
              </a:rPr>
              <a:t>고정 K(17.77)보다 낫다 (17.90).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학습 측정치는 train 의 clean 에서 합성하되 clean 은 손실에 한 번도 들어가지 않는다 · test 는 건드리지 않는다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검증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test set 은 채점에만 썼다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학습이 아니어도 하이퍼파라미터를 test 로 고르면 test 를 쓴 것이다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10515600" cy="804672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1051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맑은 고딕"/>
              </a:rPr>
              <a:t>튜닝은 val 에서만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8483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맑은 고딕"/>
              </a:rPr>
              <a:t>val clean 에 forward + 파일명 seed 노이즈를 걸어 (측정치, 정답) 쌍을 만든다. K · λ · 반복 횟수 · 융합 무게를 전부 여기서 고른다.  day3_common.load_val()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33472"/>
            <a:ext cx="10515600" cy="804672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0662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맑은 고딕"/>
              </a:rPr>
              <a:t>test 는 report() 한 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80944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맑은 고딕"/>
              </a:rPr>
              <a:t>배포된 test_deconv_noise 는 최종 점수를 낼 때만 읽는다.  day3_common.load_test()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29584"/>
            <a:ext cx="10515600" cy="804672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0273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맑은 고딕"/>
              </a:rPr>
              <a:t>noise_meta.json 은 결과 분석에만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77056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맑은 고딕"/>
              </a:rPr>
              <a:t>배포 안내 그대로. 표를 노이즈 종류별로 쪼개고 그림의 대표 이미지를 고르는 데만 쓴다. 복원 함수가 받는 것은 측정치와 b0 뿐이다.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25696"/>
            <a:ext cx="10515600" cy="804672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49884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맑은 고딕"/>
              </a:rPr>
              <a:t>metric 은 배포 구현 그대로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77316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맑은 고딕"/>
              </a:rPr>
              <a:t>src/deconv 에 초기 단계의 skimage 기반 metrics 가 남아 있었다. 이름을 바꿔 가리지 못하게 하고, 다른 구현이 잡히면 즉시 멈추는 가드를 넣었다.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321808"/>
            <a:ext cx="10515600" cy="804672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9496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맑은 고딕"/>
              </a:rPr>
              <a:t>직접 찾아 고친 위반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669280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맑은 고딕"/>
              </a:rPr>
              <a:t>초기 스크립트가 K 를 test 에서 스윕하고 있었다. combine_day3.py 는 폐기하고 나머지 스윕을 val 로 옮겼다.  check_rules.py 가 지침 4개를 코드로 검증한다.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