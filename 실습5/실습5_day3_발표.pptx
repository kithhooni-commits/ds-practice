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3" r:id="rId4"/>
    <p:sldId id="287" r:id="rId5"/>
    <p:sldId id="290" r:id="rId6"/>
    <p:sldId id="289" r:id="rId7"/>
    <p:sldId id="260" r:id="rId8"/>
    <p:sldId id="259" r:id="rId9"/>
    <p:sldId id="261" r:id="rId10"/>
    <p:sldId id="262" r:id="rId11"/>
    <p:sldId id="263" r:id="rId12"/>
    <p:sldId id="264" r:id="rId13"/>
    <p:sldId id="266" r:id="rId14"/>
    <p:sldId id="267" r:id="rId15"/>
    <p:sldId id="268" r:id="rId16"/>
    <p:sldId id="269" r:id="rId17"/>
    <p:sldId id="270" r:id="rId18"/>
    <p:sldId id="279" r:id="rId19"/>
    <p:sldId id="280" r:id="rId20"/>
    <p:sldId id="281" r:id="rId21"/>
    <p:sldId id="282" r:id="rId22"/>
    <p:sldId id="272" r:id="rId23"/>
    <p:sldId id="288" r:id="rId24"/>
    <p:sldId id="283" r:id="rId25"/>
    <p:sldId id="284" r:id="rId26"/>
    <p:sldId id="285" r:id="rId27"/>
    <p:sldId id="286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iAXayThCpvXnuabH6NxIZnQxxP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DE65E82-E5E6-4290-B14A-9E70F09EAB91}">
  <a:tblStyle styleId="{7DE65E82-E5E6-4290-B14A-9E70F09EAB9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3846" y="7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4037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삼성 DS2 · Image Restoration Challenge · Day 3</a:t>
            </a:r>
            <a:endParaRPr dirty="0"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1일차 + 2일차 = 3일차 가 아니다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선형으로 안 되는 부분을 학습으로 채웠다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g = dipole(f) + n   ·   test_deconv_noise 100장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제출값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1143000" y="4892040"/>
            <a:ext cx="3657600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30.48 </a:t>
            </a:r>
            <a:r>
              <a:rPr lang="en-US" sz="2800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dB / </a:t>
            </a:r>
            <a:r>
              <a:rPr lang="en-US" sz="28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0.8901</a:t>
            </a:r>
            <a:endParaRPr dirty="0"/>
          </a:p>
        </p:txBody>
      </p:sp>
      <p:sp>
        <p:nvSpPr>
          <p:cNvPr id="92" name="Google Shape;92;p1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배포 baseline 대비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+</a:t>
            </a:r>
            <a:r>
              <a:rPr lang="en-US" sz="2800" b="1" i="0" u="none" strike="noStrike" cap="none" dirty="0" smtClean="0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5.46 </a:t>
            </a:r>
            <a:r>
              <a:rPr lang="en-US" sz="2800" b="1" i="0" u="none" strike="noStrike" cap="none" dirty="0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dB</a:t>
            </a:r>
            <a:endParaRPr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640080" y="6355080"/>
            <a:ext cx="10972800" cy="284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smtClean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ko-KR" altLang="en-US" sz="1000" b="0" i="0" u="none" strike="noStrike" cap="none" dirty="0" smtClean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조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Contents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40080" y="1654712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822960" y="1718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051560" y="177358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여정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2834640" y="1791872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 바꿔 몇 dB 올랐나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058400" y="179187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822960" y="2166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051560" y="222164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 dirty="0" err="1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</a:t>
            </a:r>
            <a:endParaRPr dirty="0"/>
          </a:p>
        </p:txBody>
      </p:sp>
      <p:sp>
        <p:nvSpPr>
          <p:cNvPr id="109" name="Google Shape;109;p2"/>
          <p:cNvSpPr txBox="1"/>
          <p:nvPr/>
        </p:nvSpPr>
        <p:spPr>
          <a:xfrm>
            <a:off x="2834640" y="2239928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흐림과 노이즈가 겹쳤다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058400" y="223992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4–5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822960" y="2614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051560" y="2669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2834640" y="2687984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1일차 + 2일차 조합 — 왜 지는가 · 선형의 천장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0058400" y="2687984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6–7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822960" y="3062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051560" y="3117752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②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2834640" y="313604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DC-Net — 2일차 최고 구조가 죽은 이유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10058400" y="313604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822960" y="351094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1051560" y="356580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③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2834640" y="358409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 분해 — 전달 곡선과 실패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10058400" y="358409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822960" y="395900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1051560" y="401386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방법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2834640" y="4032152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전개형 파이프라인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10058400" y="403215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/>
          </a:p>
        </p:txBody>
      </p:sp>
      <p:sp>
        <p:nvSpPr>
          <p:cNvPr id="127" name="Google Shape;127;p2"/>
          <p:cNvSpPr/>
          <p:nvPr/>
        </p:nvSpPr>
        <p:spPr>
          <a:xfrm>
            <a:off x="822960" y="440705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1051560" y="446192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2834640" y="4480208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조건화 — 성능의 절반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10058400" y="4480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11–12</a:t>
            </a: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822960" y="485511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1051560" y="490997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⑤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2834640" y="4928264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 통한 것들, 그리고 고쳐서 통한 것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10058400" y="4928264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822960" y="530316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1051560" y="5358032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2834640" y="537632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점수 · 복원 이미지 · 취약점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10058400" y="537632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14–17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뭘 바꿔서 얼마나 올랐나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64698" y="135636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2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dirty="0" err="1">
                <a:solidFill>
                  <a:srgbClr val="0B6E5E"/>
                </a:solidFill>
                <a:latin typeface="Consolas"/>
              </a:rPr>
              <a:t>출발</a:t>
            </a:r>
            <a:endParaRPr sz="1050" b="1" dirty="0">
              <a:solidFill>
                <a:srgbClr val="0B6E5E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778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350008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04870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197096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51958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044184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9046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91272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46134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441448"/>
            <a:ext cx="1463040" cy="3520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dirty="0" smtClean="0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73836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93222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반복 4번·6번
두 모델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441448"/>
            <a:ext cx="1463040" cy="3520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dirty="0" smtClean="0">
                <a:solidFill>
                  <a:srgbClr val="0B6E5E"/>
                </a:solidFill>
                <a:latin typeface="Consolas"/>
              </a:rPr>
              <a:t>30.4</a:t>
            </a:r>
            <a:r>
              <a:rPr lang="en-US" sz="1350" b="1" dirty="0" smtClean="0">
                <a:solidFill>
                  <a:srgbClr val="0B6E5E"/>
                </a:solidFill>
                <a:latin typeface="Consolas"/>
              </a:rPr>
              <a:t>8</a:t>
            </a:r>
            <a:r>
              <a:rPr sz="1350" b="1" dirty="0" smtClean="0">
                <a:solidFill>
                  <a:srgbClr val="0B6E5E"/>
                </a:solidFill>
                <a:latin typeface="Consolas"/>
              </a:rPr>
              <a:t> </a:t>
            </a:r>
            <a:r>
              <a:rPr sz="1350" b="1" dirty="0">
                <a:solidFill>
                  <a:srgbClr val="0B6E5E"/>
                </a:solidFill>
                <a:latin typeface="Consolas"/>
              </a:rPr>
              <a:t>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2871216"/>
            <a:ext cx="731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66756F"/>
                </a:solidFill>
                <a:latin typeface="맑은 고딕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2926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맑은 고딕"/>
              </a:rPr>
              <a:t>② 자리에서 갈린 세 갈래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2648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버린다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end-to-end — 네트워크
하나가 한 방에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399" y="3273552"/>
            <a:ext cx="886967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8C4A6B"/>
                </a:solidFill>
                <a:latin typeface="Consolas"/>
              </a:rPr>
              <a:t>24.6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78807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88535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쓰되 한 번만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88535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2단 분해 — 측정치 영역에서
지우고 역필터 한 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6" y="3273552"/>
            <a:ext cx="859535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8C4A6B"/>
                </a:solidFill>
                <a:latin typeface="Consolas"/>
              </a:rPr>
              <a:t>15.6 dB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7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54694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64422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물리와 학습을 번갈아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64422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전개형 — 매번 측정치로
되돌리며 4번 반복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33302" y="3273552"/>
            <a:ext cx="987552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0B6E5E"/>
                </a:solidFill>
                <a:latin typeface="Consolas"/>
              </a:rPr>
              <a:t>25.91 dB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4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0B6E5E"/>
                </a:solidFill>
                <a:latin typeface="Consolas"/>
              </a:rPr>
              <a:t>본선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019561"/>
              </p:ext>
            </p:extLst>
          </p:nvPr>
        </p:nvGraphicFramePr>
        <p:xfrm>
          <a:off x="640080" y="4224528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12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4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62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붙어서 측정치에서는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역산은 공식으로 끝내고,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200배씩 차이난다. 하나로 퉁치면 평균에 맞춰버린다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제일 좋았다. 세 번 다 덜 돌린 거였다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②를 4번 도는 모델과 6번 도는 모델, 둘의 출력을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 err="1">
                          <a:solidFill>
                            <a:srgbClr val="131A19"/>
                          </a:solidFill>
                          <a:latin typeface="Consolas"/>
                        </a:rPr>
                        <a:t>반복 횟수가 다르면 틀리는 방식도 달라서 오차가 서로 상쇄된다</a:t>
                      </a:r>
                      <a:endParaRPr sz="1050" b="1" dirty="0">
                        <a:solidFill>
                          <a:srgbClr val="131A19"/>
                        </a:solidFill>
                        <a:latin typeface="Consolas"/>
                      </a:endParaRP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131A19"/>
                          </a:solidFill>
                          <a:latin typeface="Consolas"/>
                        </a:rPr>
                        <a:t>+</a:t>
                      </a:r>
                      <a:r>
                        <a:rPr sz="1050" b="1" dirty="0" smtClean="0">
                          <a:solidFill>
                            <a:srgbClr val="131A19"/>
                          </a:solidFill>
                          <a:latin typeface="Consolas"/>
                        </a:rPr>
                        <a:t>0.0</a:t>
                      </a:r>
                      <a:r>
                        <a:rPr lang="en-US" sz="1050" b="1" dirty="0" smtClean="0">
                          <a:solidFill>
                            <a:srgbClr val="131A19"/>
                          </a:solidFill>
                          <a:latin typeface="Consolas"/>
                        </a:rPr>
                        <a:t>7</a:t>
                      </a:r>
                      <a:endParaRPr sz="1050" b="1" dirty="0">
                        <a:solidFill>
                          <a:srgbClr val="131A19"/>
                        </a:solidFill>
                        <a:latin typeface="Consolas"/>
                      </a:endParaRP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640080" y="6355080"/>
            <a:ext cx="1097280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 err="1">
                <a:solidFill>
                  <a:srgbClr val="66756F"/>
                </a:solidFill>
                <a:latin typeface="Consolas"/>
              </a:rPr>
              <a:t>출발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13.79 →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최종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30.4</a:t>
            </a:r>
            <a:r>
              <a:rPr lang="en-US" sz="1000" b="0" dirty="0" smtClean="0">
                <a:solidFill>
                  <a:srgbClr val="66756F"/>
                </a:solidFill>
                <a:latin typeface="Consolas"/>
              </a:rPr>
              <a:t>8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   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·  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통과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기준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=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배포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baseline 25.02 / 0.815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대비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+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5.4</a:t>
            </a:r>
            <a:r>
              <a:rPr lang="en-US" sz="1000" b="0" dirty="0" smtClean="0">
                <a:solidFill>
                  <a:srgbClr val="66756F"/>
                </a:solidFill>
                <a:latin typeface="Consolas"/>
              </a:rPr>
              <a:t>6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123170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dirty="0" err="1">
                <a:solidFill>
                  <a:srgbClr val="131A19"/>
                </a:solidFill>
                <a:latin typeface="맑은 고딕"/>
              </a:rPr>
              <a:t>구성 — 네트워크 · 학습 방법 · 학습 시간</a:t>
            </a:r>
            <a:endParaRPr sz="3000" b="1" dirty="0">
              <a:solidFill>
                <a:srgbClr val="131A19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714499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1936805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2083109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84277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네트워크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595173"/>
            <a:ext cx="31729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맑은 고딕"/>
              </a:rPr>
              <a:t>Unrolled network — 물리를 층으로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869493"/>
            <a:ext cx="3172968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x₀ = Wiener(g, λ₀)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Consolas"/>
              </a:rPr>
              <a:t>반복</a:t>
            </a:r>
            <a:r>
              <a:rPr sz="950" b="0" dirty="0">
                <a:solidFill>
                  <a:srgbClr val="3C4947"/>
                </a:solidFill>
                <a:latin typeface="Consolas"/>
              </a:rPr>
              <a:t> N:  σ̂ = </a:t>
            </a:r>
            <a:r>
              <a:rPr sz="950" b="0" dirty="0" err="1">
                <a:solidFill>
                  <a:srgbClr val="3C4947"/>
                </a:solidFill>
                <a:latin typeface="Consolas"/>
              </a:rPr>
              <a:t>estimate_sigma</a:t>
            </a:r>
            <a:r>
              <a:rPr sz="950" b="0" dirty="0">
                <a:solidFill>
                  <a:srgbClr val="3C4947"/>
                </a:solidFill>
                <a:latin typeface="Consolas"/>
              </a:rPr>
              <a:t>(g)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             z = </a:t>
            </a:r>
            <a:r>
              <a:rPr sz="950" b="0" dirty="0" err="1">
                <a:solidFill>
                  <a:srgbClr val="3C4947"/>
                </a:solidFill>
                <a:latin typeface="Consolas"/>
              </a:rPr>
              <a:t>DRUNet</a:t>
            </a:r>
            <a:r>
              <a:rPr sz="950" b="0" dirty="0">
                <a:solidFill>
                  <a:srgbClr val="3C4947"/>
                </a:solidFill>
                <a:latin typeface="Consolas"/>
              </a:rPr>
              <a:t>(x, σ̂)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             x = (D·G + </a:t>
            </a:r>
            <a:r>
              <a:rPr sz="950" b="0" dirty="0" err="1">
                <a:solidFill>
                  <a:srgbClr val="3C4947"/>
                </a:solidFill>
                <a:latin typeface="Consolas"/>
              </a:rPr>
              <a:t>λZ</a:t>
            </a:r>
            <a:r>
              <a:rPr sz="950" b="0" dirty="0">
                <a:solidFill>
                  <a:srgbClr val="3C4947"/>
                </a:solidFill>
                <a:latin typeface="Consolas"/>
              </a:rPr>
              <a:t>)/(D² + λ)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3C4947"/>
              </a:solidFill>
              <a:latin typeface="Consolas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백본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DRUNet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(U-Net + residual, σ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조건화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채널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) · features 48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파라미터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18,359,572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—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그중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λ 는 4개뿐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가중치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공유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: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모든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단계가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같은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망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0B6E5E"/>
                </a:solidFill>
                <a:latin typeface="맑은 고딕"/>
              </a:rPr>
              <a:t>pretrained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사용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안 함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ImageNet·공개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DRUNet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같은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외부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가중치를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전혀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안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썼다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초기화는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무작위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,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또는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우리가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직접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학습한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체크포인트에서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이어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학습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3C4947"/>
                </a:solidFill>
                <a:latin typeface="맑은 고딕"/>
              </a:rPr>
              <a:t>제출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= 4단계 + 6단계 두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모델의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0.5:0.5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평균</a:t>
            </a:r>
            <a:endParaRPr sz="950" b="1" dirty="0">
              <a:solidFill>
                <a:srgbClr val="3C4947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61688" y="1936805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2083109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284277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학습 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95173"/>
            <a:ext cx="31729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맑은 고딕"/>
              </a:rPr>
              <a:t>Supervised — 열화 쌍을 직접 만든다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869493"/>
            <a:ext cx="3172968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제공된 train 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7,268장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만 사용. 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test 는 채점에만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맑은 고딕"/>
              </a:rPr>
              <a:t>clean f 에서 매 배치 </a:t>
            </a:r>
            <a:r>
              <a:rPr sz="950" b="0" dirty="0">
                <a:solidFill>
                  <a:srgbClr val="3C4947"/>
                </a:solidFill>
                <a:latin typeface="Consolas"/>
              </a:rPr>
              <a:t>f → dipole → +noise(4종)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로 쌍 생성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Loss  Charbonnier √(e²+ε²)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Consolas"/>
              </a:rPr>
              <a:t>Optim  AdamW · lr 2e-4 · wd 1e-5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Consolas"/>
              </a:rPr>
              <a:t>Sched  warmup 200 step → cosine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AMP   bf16 · grad clip 1.0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Batch  8 · 256² 통째로 (크롭 없음)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3C4947"/>
              </a:solidFill>
              <a:latin typeface="Consolas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augmentation 은 뒤집기만 — 90° 회전 제외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λ 도 함께 학습 (log 로 저장, 단계마다 따로)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모델 선택은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val 100장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의 best epoch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추론에 16× self-ensemble (뒤집기·180°·대각 순환이동)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1936805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083109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284277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학습 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595173"/>
            <a:ext cx="3172968" cy="26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 err="1">
                <a:solidFill>
                  <a:srgbClr val="66756F"/>
                </a:solidFill>
                <a:latin typeface="맑은 고딕"/>
              </a:rPr>
              <a:t>Colab </a:t>
            </a:r>
            <a:r>
              <a:rPr lang="en-US" sz="1000" dirty="0" smtClean="0">
                <a:solidFill>
                  <a:srgbClr val="66756F"/>
                </a:solidFill>
                <a:latin typeface="맑은 고딕"/>
              </a:rPr>
              <a:t>G4</a:t>
            </a:r>
            <a:r>
              <a:rPr sz="1000" b="0" dirty="0" smtClean="0">
                <a:solidFill>
                  <a:srgbClr val="66756F"/>
                </a:solidFill>
                <a:latin typeface="맑은 고딕"/>
              </a:rPr>
              <a:t> 1장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69493"/>
            <a:ext cx="3172968" cy="25728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v1  60 epoch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       6,133 s  (1.7 h)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long  4단계 이어 학습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  약 2.5 h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iter6  6단계 이어 학습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 약 2.5 h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0B6E5E"/>
                </a:solidFill>
                <a:latin typeface="맑은 고딕"/>
              </a:rPr>
              <a:t>제출 모델 합계  약 7 h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1" dirty="0">
              <a:solidFill>
                <a:srgbClr val="0B6E5E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탐색·실패한 시도까지 포함한 3일차 총 GPU 시간</a:t>
            </a: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>
                <a:solidFill>
                  <a:srgbClr val="3C4947"/>
                </a:solidFill>
                <a:latin typeface="맑은 고딕"/>
              </a:rPr>
              <a:t>약 15 h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 (DC-Net · 2단 분해 · label-free 등)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추론 (test 100장)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16× self-ensemble  약 10~20분 · 앙상블 없이 1분 이내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 err="1">
                <a:solidFill>
                  <a:srgbClr val="66756F"/>
                </a:solidFill>
                <a:latin typeface="Consolas"/>
              </a:rPr>
              <a:t>test_deconv_noise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100장 ·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최종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30.4</a:t>
            </a:r>
            <a:r>
              <a:rPr lang="en-US" sz="1000" b="0" dirty="0" smtClean="0">
                <a:solidFill>
                  <a:srgbClr val="66756F"/>
                </a:solidFill>
                <a:latin typeface="Consolas"/>
              </a:rPr>
              <a:t>8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dB / 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0.8</a:t>
            </a:r>
            <a:r>
              <a:rPr lang="en-US" sz="1000" b="0" dirty="0" smtClean="0">
                <a:solidFill>
                  <a:srgbClr val="66756F"/>
                </a:solidFill>
                <a:latin typeface="Consolas"/>
              </a:rPr>
              <a:t>901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(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배포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baseline 25.02 / 0.815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대비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+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5.4</a:t>
            </a:r>
            <a:r>
              <a:rPr lang="en-US" sz="1000" b="0" dirty="0" smtClean="0">
                <a:solidFill>
                  <a:srgbClr val="66756F"/>
                </a:solidFill>
                <a:latin typeface="Consolas"/>
              </a:rPr>
              <a:t>6</a:t>
            </a:r>
            <a:r>
              <a:rPr sz="1000" b="0" dirty="0" smtClean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dB)</a:t>
            </a:r>
          </a:p>
        </p:txBody>
      </p:sp>
    </p:spTree>
    <p:extLst>
      <p:ext uri="{BB962C8B-B14F-4D97-AF65-F5344CB8AC3E}">
        <p14:creationId xmlns:p14="http://schemas.microsoft.com/office/powerpoint/2010/main" val="1370643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 — 어떤 노이즈에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시도 ②~⑤ 를 같은 조건에서 나란히 재고, σ 가 커질 때의 변화를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58816"/>
            <a:ext cx="7498079" cy="24376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2011680"/>
            <a:ext cx="3584448" cy="39319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11896" y="2432304"/>
            <a:ext cx="3300984" cy="29476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0B6E5E"/>
                </a:solidFill>
                <a:latin typeface="맑은 고딕"/>
              </a:rPr>
              <a:t>왼쪽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—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시도가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쌓일수록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올라간다</a:t>
            </a:r>
            <a:endParaRPr sz="950" b="1" dirty="0">
              <a:solidFill>
                <a:srgbClr val="0B6E5E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네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종류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모두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같은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순서다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.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특정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노이즈에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맞춘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게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아니다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>
                <a:solidFill>
                  <a:srgbClr val="3C4947"/>
                </a:solidFill>
                <a:latin typeface="맑은 고딕"/>
              </a:rPr>
              <a:t>DC-Net 은 Wiener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단독보다도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낮다</a:t>
            </a:r>
            <a:endParaRPr sz="950" b="1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|D|&gt;τ 를 G/D 로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못박는데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그게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증폭된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노이즈를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못박는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것이었다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>
                <a:solidFill>
                  <a:srgbClr val="3C4947"/>
                </a:solidFill>
                <a:latin typeface="맑은 고딕"/>
              </a:rPr>
              <a:t>end-to-end →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전개형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→ σ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조건화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→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융합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순으로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올라간다</a:t>
            </a: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물리를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층으로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넣고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, σ 를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알려주고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,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마지막에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섞은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것이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각각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이만큼이다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3C4947"/>
                </a:solidFill>
                <a:latin typeface="맑은 고딕"/>
              </a:rPr>
              <a:t>Rician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만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유독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낮다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.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어느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시도에서도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그렇다</a:t>
            </a: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구조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문제가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아니라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노이즈의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평균이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0 이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아니라서다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193325" y="3122475"/>
            <a:ext cx="1353064" cy="1118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1275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5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복원 결과</a:t>
            </a:r>
            <a:endParaRPr/>
          </a:p>
        </p:txBody>
      </p:sp>
      <p:sp>
        <p:nvSpPr>
          <p:cNvPr id="382" name="Google Shape;382;p1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 결과 — 노이즈 4종 × 방법별</a:t>
            </a:r>
            <a:endParaRPr/>
          </a:p>
        </p:txBody>
      </p:sp>
      <p:sp>
        <p:nvSpPr>
          <p:cNvPr id="384" name="Google Shape;384;p15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5" name="Google Shape;385;p15" descr="day3_methods_gri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82250" y="1280160"/>
            <a:ext cx="7322234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직사각형 1"/>
          <p:cNvSpPr/>
          <p:nvPr/>
        </p:nvSpPr>
        <p:spPr>
          <a:xfrm>
            <a:off x="8569411" y="1513703"/>
            <a:ext cx="935073" cy="47499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68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문제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문제가 어떻게 만들어지는가</a:t>
            </a:r>
            <a:endParaRPr/>
          </a:p>
        </p:txBody>
      </p:sp>
      <p:sp>
        <p:nvSpPr>
          <p:cNvPr id="217" name="Google Shape;217;p5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clean → dipole blur → + noise. 학습 쌍도 같은 방식으로 만든다</a:t>
            </a:r>
            <a:endParaRPr/>
          </a:p>
        </p:txBody>
      </p:sp>
      <p:sp>
        <p:nvSpPr>
          <p:cNvPr id="218" name="Google Shape;218;p5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5" descr="day3_forward_chain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520" y="1920240"/>
            <a:ext cx="10698480" cy="299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"/>
          <p:cNvSpPr txBox="1"/>
          <p:nvPr/>
        </p:nvSpPr>
        <p:spPr>
          <a:xfrm>
            <a:off x="640080" y="6355080"/>
            <a:ext cx="10972800" cy="284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노이즈가 흐림 뒤에 붙는다. 오른쪽 끝이 노이즈만 뽑아낸 것이다. 측정치에서는 백색이라 역산 전에 지워야 한다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Day 3</a:t>
            </a:r>
            <a:endParaRPr/>
          </a:p>
        </p:txBody>
      </p:sp>
      <p:sp>
        <p:nvSpPr>
          <p:cNvPr id="202" name="Google Shape;202;p4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— 두 열화가 겹쳤다</a:t>
            </a:r>
            <a:endParaRPr/>
          </a:p>
        </p:txBody>
      </p:sp>
      <p:sp>
        <p:nvSpPr>
          <p:cNvPr id="203" name="Google Shape;203;p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g = h * f + n</a:t>
            </a:r>
            <a:endParaRPr/>
          </a:p>
        </p:txBody>
      </p:sp>
      <p:sp>
        <p:nvSpPr>
          <p:cNvPr id="204" name="Google Shape;204;p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5" name="Google Shape;205;p4"/>
          <p:cNvGraphicFramePr/>
          <p:nvPr>
            <p:extLst>
              <p:ext uri="{D42A27DB-BD31-4B8C-83A1-F6EECF244321}">
                <p14:modId xmlns:p14="http://schemas.microsoft.com/office/powerpoint/2010/main" val="2682875535"/>
              </p:ext>
            </p:extLst>
          </p:nvPr>
        </p:nvGraphicFramePr>
        <p:xfrm>
          <a:off x="822960" y="1737335"/>
          <a:ext cx="5318348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113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52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뜻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원본 이미지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h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dipole 커널 (한 점이 퍼지는 모양)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노이즈 (4종, σ 가 장마다 다름)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측정치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6" name="Google Shape;206;p4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h 를 안다는 게 제일 크다.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역필터를 공식으로 바로 만들 수 있고,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공짜로 잴 수 있다.</a:t>
            </a:r>
            <a:endParaRPr/>
          </a:p>
        </p:txBody>
      </p:sp>
      <p:graphicFrame>
        <p:nvGraphicFramePr>
          <p:cNvPr id="208" name="Google Shape;208;p4"/>
          <p:cNvGraphicFramePr/>
          <p:nvPr>
            <p:extLst>
              <p:ext uri="{D42A27DB-BD31-4B8C-83A1-F6EECF244321}">
                <p14:modId xmlns:p14="http://schemas.microsoft.com/office/powerpoint/2010/main" val="2918480937"/>
              </p:ext>
            </p:extLst>
          </p:nvPr>
        </p:nvGraphicFramePr>
        <p:xfrm>
          <a:off x="822960" y="3383280"/>
          <a:ext cx="10515600" cy="142647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0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f + n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h * f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h * f + 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답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DRUNet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K→0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전개형 + σ 조건화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37.42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109.86 dB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 smtClean="0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30.48 </a:t>
                      </a:r>
                      <a:r>
                        <a:rPr lang="en-US" sz="1200" b="1" u="none" strike="noStrike" cap="none" dirty="0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dB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+8.6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무한대 (노이즈 없음)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+0.9 dB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9" name="Google Shape;209;p4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3일차는 신호와 노이즈 크기가 거의 같다 (SNR +0.9 dB). 흐림이 대비를 0.41배로 줄여놔서 그렇다.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①</a:t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 — 1일차 + 2일차를 이어 붙인다</a:t>
            </a:r>
            <a:endParaRPr/>
          </a:p>
        </p:txBody>
      </p:sp>
      <p:sp>
        <p:nvSpPr>
          <p:cNvPr id="227" name="Google Shape;227;p6"/>
          <p:cNvSpPr txBox="1"/>
          <p:nvPr/>
        </p:nvSpPr>
        <p:spPr>
          <a:xfrm>
            <a:off x="640080" y="1258823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각각은 제일 좋은 방법인데 합치면 진다</a:t>
            </a:r>
            <a:endParaRPr dirty="0"/>
          </a:p>
        </p:txBody>
      </p:sp>
      <p:sp>
        <p:nvSpPr>
          <p:cNvPr id="228" name="Google Shape;228;p6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9" name="Google Shape;229;p6"/>
          <p:cNvGraphicFramePr/>
          <p:nvPr/>
        </p:nvGraphicFramePr>
        <p:xfrm>
          <a:off x="822960" y="1600200"/>
          <a:ext cx="5852150" cy="170079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방법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 err="1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디노이징</a:t>
                      </a:r>
                      <a:r>
                        <a:rPr lang="en-US" sz="1200" b="1" u="none" strike="noStrike" cap="none" dirty="0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1" u="none" strike="noStrike" cap="none" dirty="0" err="1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먼저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1일차 디노이저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21.06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median 3×3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19.20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디컨볼루션 먼저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→ 1일차 디노이저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16.88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번갈아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plug-and-play (디노이저 고정)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참고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단독 · 2일차 답(K→0)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13.79 · −24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0" name="Google Shape;230;p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순서만 바꿔도 4.2 dB 차이가 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Wiener 를 먼저 걸면 노이즈가 1/D 로 커지고 X자 모양으로 얽힌다. 디노이저가 본 적 없는 노이즈가 되는 것이다.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답은 노이즈가 0이라서 통했다</a:t>
            </a:r>
            <a:endParaRPr/>
          </a:p>
        </p:txBody>
      </p:sp>
      <p:sp>
        <p:nvSpPr>
          <p:cNvPr id="234" name="Google Shape;234;p6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1/D 로 역산하면 노이즈가 폭발한다. 2일차는 n=0 이라 무한대 × 0 = 0 이었다.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+51.5 dB노이즈 증폭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흐림이 대비를 줄여서 같은 σ 라도 훨씬 어렵다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std(f)=0.222 → std(h*f)=0.092. 노이즈는 1일차와 똑같은데 신호만 줄었다.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SNR +8.6→ +0.9 dB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주파수의 16% 는 아예 못 살린다</a:t>
            </a:r>
            <a:endParaRPr/>
          </a:p>
        </p:txBody>
      </p:sp>
      <p:sp>
        <p:nvSpPr>
          <p:cNvPr id="242" name="Google Shape;242;p6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|D|&lt;0.1 은 역산하면 SNR 이 −20 dB 이하다. 2일차엔 이것도 살렸다 (노이즈가 0이라).</a:t>
            </a:r>
            <a:endParaRPr/>
          </a:p>
        </p:txBody>
      </p:sp>
      <p:sp>
        <p:nvSpPr>
          <p:cNvPr id="243" name="Google Shape;243;p6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16%버려진다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7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한계</a:t>
            </a:r>
            <a:endParaRPr/>
          </a:p>
        </p:txBody>
      </p:sp>
      <p:sp>
        <p:nvSpPr>
          <p:cNvPr id="249" name="Google Shape;249;p7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 의 한계 — 선형은 21.95 dB 에서 끝난다</a:t>
            </a:r>
            <a:endParaRPr/>
          </a:p>
        </p:txBody>
      </p:sp>
      <p:sp>
        <p:nvSpPr>
          <p:cNvPr id="250" name="Google Shape;250;p7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정답의 파워 스펙트럼을 알려줘도 그렇다</a:t>
            </a:r>
            <a:endParaRPr dirty="0"/>
          </a:p>
        </p:txBody>
      </p:sp>
      <p:sp>
        <p:nvSpPr>
          <p:cNvPr id="251" name="Google Shape;251;p7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2" name="Google Shape;252;p7"/>
          <p:cNvGraphicFramePr/>
          <p:nvPr>
            <p:extLst>
              <p:ext uri="{D42A27DB-BD31-4B8C-83A1-F6EECF244321}">
                <p14:modId xmlns:p14="http://schemas.microsoft.com/office/powerpoint/2010/main" val="1097969768"/>
              </p:ext>
            </p:extLst>
          </p:nvPr>
        </p:nvGraphicFramePr>
        <p:xfrm>
          <a:off x="822960" y="1645920"/>
          <a:ext cx="6035025" cy="192027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75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필터 / 방법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성격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Wiener 상수 K (val 에서 고름)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13.72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실제로 쓸 수 있는 것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1일차 디노이저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21.06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학습 없는 조합 중 최고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오라클 위너 (장마다 참 스펙트럼)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21.95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선형의 천장. 만들 수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원뿔을 포기하는 방법의 상한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25.08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비선형이어도 넘을 수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배포 baseline (End2End U-Net)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그 상한에 붙어 있다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우리 최종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 smtClean="0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30.48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 err="1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원뿔을 실제로 메우고 있다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3" name="Google Shape;253;p7"/>
          <p:cNvSpPr/>
          <p:nvPr/>
        </p:nvSpPr>
        <p:spPr>
          <a:xfrm>
            <a:off x="7223760" y="1645920"/>
            <a:ext cx="4325112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천장이 두 개 있다.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선형은 21.95 에서 끝난다.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원뿔을 포기하면 비선형이라도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25.08 이 한계다 —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오차(정답의 0.77%)가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원뿔에 든 정답(2.24%)보다 작다.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3C4947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그러니 30.44 는 원뿔의 65% 이상을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메웠다는 얘기다.</a:t>
            </a:r>
            <a:endParaRPr/>
          </a:p>
        </p:txBody>
      </p:sp>
      <p:sp>
        <p:nvSpPr>
          <p:cNvPr id="255" name="Google Shape;255;p7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정답을 봐도 완벽하지 못한가</a:t>
            </a:r>
            <a:endParaRPr/>
          </a:p>
        </p:txBody>
      </p:sp>
      <p:graphicFrame>
        <p:nvGraphicFramePr>
          <p:cNvPr id="256" name="Google Shape;256;p7"/>
          <p:cNvGraphicFramePr/>
          <p:nvPr/>
        </p:nvGraphicFramePr>
        <p:xfrm>
          <a:off x="822960" y="4480560"/>
          <a:ext cx="10515600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377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설명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위상은 모른다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파워 스펙트럼은 '어느 굵기 무늬가 얼마나' 만 안다. '어디에 있는지' 는 위상이 담고 있다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곱하기밖에 못 한다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F̂(k) = W(k)·G(k). 측정치에 없는 것은 어떤 수를 곱해도 안 나온다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오차의 32% 는 버린 주파수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주파수의 89.2% 가 노이즈가 더 세다. 거기선 버리는 게 최선이고, 버린 만큼 오차로 남는다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오차의 68% 는 새어든 노이즈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살린 주파수에서도 신호를 다 살리면서 노이즈를 다 막을 수는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②</a:t>
            </a:r>
            <a:endParaRPr/>
          </a:p>
        </p:txBody>
      </p:sp>
      <p:sp>
        <p:nvSpPr>
          <p:cNvPr id="262" name="Google Shape;262;p8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② — DC-Net. 2일차 최고 구조를 그대로</a:t>
            </a:r>
            <a:endParaRPr dirty="0"/>
          </a:p>
        </p:txBody>
      </p:sp>
      <p:sp>
        <p:nvSpPr>
          <p:cNvPr id="263" name="Google Shape;263;p8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42.93 dB → 3일차 14.80 dB</a:t>
            </a:r>
            <a:endParaRPr/>
          </a:p>
        </p:txBody>
      </p:sp>
      <p:sp>
        <p:nvSpPr>
          <p:cNvPr id="264" name="Google Shape;264;p8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hard DC 는 |D|&gt;τ 인 주파수를 G/D 로 못박는다. 그런데 G = D·F + N 이므로</a:t>
            </a:r>
            <a:endParaRPr dirty="0"/>
          </a:p>
        </p:txBody>
      </p:sp>
      <p:sp>
        <p:nvSpPr>
          <p:cNvPr id="266" name="Google Shape;266;p8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31A19"/>
                </a:solidFill>
                <a:latin typeface="Consolas"/>
                <a:ea typeface="Consolas"/>
                <a:cs typeface="Consolas"/>
                <a:sym typeface="Consolas"/>
              </a:rPr>
              <a:t>G/D  =  F  +  N/D        ← 증폭된 노이즈를 못박는다</a:t>
            </a:r>
            <a:endParaRPr/>
          </a:p>
        </p:txBody>
      </p:sp>
      <p:sp>
        <p:nvSpPr>
          <p:cNvPr id="268" name="Google Shape;268;p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네트워크는 그 주파수를 손댈 수가 없다. 2일차엔 N=0 이라 문제가 없었다.</a:t>
            </a:r>
            <a:endParaRPr/>
          </a:p>
        </p:txBody>
      </p:sp>
      <p:graphicFrame>
        <p:nvGraphicFramePr>
          <p:cNvPr id="269" name="Google Shape;269;p8"/>
          <p:cNvGraphicFramePr/>
          <p:nvPr/>
        </p:nvGraphicFramePr>
        <p:xfrm>
          <a:off x="822960" y="3291840"/>
          <a:ext cx="10515575" cy="10973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310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못박는 주파수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경계 노이즈 증폭 1/τ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결과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0.005 (2일차 최적 방향)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99.2%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200배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폭발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92.0%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14.80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66.4%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DC 가 무의미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0" name="Google Shape;270;p8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τ 를 키우면 DC 가 의미가 없어지고, 줄이면 폭발한다. 3일차엔 쓸만한 τ 가 없다.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못박는 대신 무게를 주면 된다. 그게 soft DC 고,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전개형이 그 형태다 (λ→0 이면 DC-Net 과 같아진다).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9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</a:t>
            </a:r>
            <a:r>
              <a:rPr lang="en-US" sz="1100" b="1" i="0" u="none" strike="noStrike" cap="none" dirty="0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 ③</a:t>
            </a:r>
            <a:endParaRPr dirty="0"/>
          </a:p>
        </p:txBody>
      </p:sp>
      <p:sp>
        <p:nvSpPr>
          <p:cNvPr id="277" name="Google Shape;277;p9"/>
          <p:cNvSpPr txBox="1"/>
          <p:nvPr/>
        </p:nvSpPr>
        <p:spPr>
          <a:xfrm>
            <a:off x="745112" y="1248815"/>
            <a:ext cx="10972800" cy="361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</a:t>
            </a:r>
            <a:r>
              <a:rPr lang="en-US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③-1 </a:t>
            </a:r>
            <a:r>
              <a:rPr lang="en-US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</a:t>
            </a:r>
            <a:r>
              <a:rPr lang="en-US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2Stage</a:t>
            </a:r>
            <a:endParaRPr sz="800" dirty="0"/>
          </a:p>
        </p:txBody>
      </p:sp>
      <p:sp>
        <p:nvSpPr>
          <p:cNvPr id="279" name="Google Shape;279;p9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측정치 g</a:t>
            </a:r>
            <a:endParaRPr/>
          </a:p>
        </p:txBody>
      </p:sp>
      <p:sp>
        <p:nvSpPr>
          <p:cNvPr id="282" name="Google Shape;282;p9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h*f + n</a:t>
            </a:r>
            <a:endParaRPr/>
          </a:p>
        </p:txBody>
      </p:sp>
      <p:sp>
        <p:nvSpPr>
          <p:cNvPr id="283" name="Google Shape;283;p9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디노이저</a:t>
            </a:r>
            <a:endParaRPr/>
          </a:p>
        </p:txBody>
      </p:sp>
      <p:sp>
        <p:nvSpPr>
          <p:cNvPr id="285" name="Google Shape;285;p9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z ≈ h*f1일차 문제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286" name="Google Shape;286;p9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</a:t>
            </a:r>
            <a:endParaRPr/>
          </a:p>
        </p:txBody>
      </p:sp>
      <p:sp>
        <p:nvSpPr>
          <p:cNvPr id="288" name="Google Shape;288;p9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 = D·Z/(D²+λ)2일차 답</a:t>
            </a:r>
            <a:br>
              <a:rPr lang="en-US" sz="105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dirty="0"/>
          </a:p>
        </p:txBody>
      </p:sp>
      <p:sp>
        <p:nvSpPr>
          <p:cNvPr id="289" name="Google Shape;289;p9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</a:t>
            </a:r>
            <a:endParaRPr/>
          </a:p>
        </p:txBody>
      </p:sp>
      <p:sp>
        <p:nvSpPr>
          <p:cNvPr id="291" name="Google Shape;291;p9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15.6 dB실패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23" name="Rounded Rectangle 36"/>
          <p:cNvSpPr/>
          <p:nvPr/>
        </p:nvSpPr>
        <p:spPr>
          <a:xfrm>
            <a:off x="1440798" y="3398108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50526" y="3462116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버린다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0526" y="3718148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end-to-end — 네트워크
하나가 한 방에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8277" y="3471260"/>
            <a:ext cx="886967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8C4A6B"/>
                </a:solidFill>
                <a:latin typeface="Consolas"/>
              </a:rPr>
              <a:t>24.6 dB</a:t>
            </a:r>
          </a:p>
        </p:txBody>
      </p:sp>
      <p:sp>
        <p:nvSpPr>
          <p:cNvPr id="28" name="Google Shape;277;p9"/>
          <p:cNvSpPr txBox="1"/>
          <p:nvPr/>
        </p:nvSpPr>
        <p:spPr>
          <a:xfrm>
            <a:off x="745112" y="3009079"/>
            <a:ext cx="10972800" cy="361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</a:t>
            </a:r>
            <a:r>
              <a:rPr lang="en-US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③-2 </a:t>
            </a:r>
            <a:r>
              <a:rPr lang="en-US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</a:t>
            </a:r>
            <a:r>
              <a:rPr lang="en-US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end-to-end</a:t>
            </a:r>
            <a:endParaRPr sz="800" dirty="0"/>
          </a:p>
        </p:txBody>
      </p:sp>
      <p:sp>
        <p:nvSpPr>
          <p:cNvPr id="29" name="Google Shape;277;p9"/>
          <p:cNvSpPr txBox="1"/>
          <p:nvPr/>
        </p:nvSpPr>
        <p:spPr>
          <a:xfrm>
            <a:off x="745112" y="4650836"/>
            <a:ext cx="10972800" cy="361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</a:t>
            </a:r>
            <a:r>
              <a:rPr lang="en-US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③-3 </a:t>
            </a:r>
            <a:r>
              <a:rPr lang="en-US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</a:t>
            </a:r>
            <a:r>
              <a:rPr lang="ko-KR" altLang="en-US" b="1" dirty="0" err="1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전개형</a:t>
            </a:r>
            <a:endParaRPr sz="800" dirty="0"/>
          </a:p>
        </p:txBody>
      </p:sp>
      <p:grpSp>
        <p:nvGrpSpPr>
          <p:cNvPr id="2" name="그룹 1"/>
          <p:cNvGrpSpPr/>
          <p:nvPr/>
        </p:nvGrpSpPr>
        <p:grpSpPr>
          <a:xfrm>
            <a:off x="1283208" y="5177589"/>
            <a:ext cx="10103543" cy="1528011"/>
            <a:chOff x="640080" y="1828800"/>
            <a:chExt cx="10908792" cy="1993392"/>
          </a:xfrm>
        </p:grpSpPr>
        <p:sp>
          <p:nvSpPr>
            <p:cNvPr id="30" name="Google Shape;304;p10"/>
            <p:cNvSpPr/>
            <p:nvPr/>
          </p:nvSpPr>
          <p:spPr>
            <a:xfrm>
              <a:off x="640080" y="1874520"/>
              <a:ext cx="10908792" cy="15240"/>
            </a:xfrm>
            <a:prstGeom prst="rect">
              <a:avLst/>
            </a:prstGeom>
            <a:solidFill>
              <a:srgbClr val="DCE3E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305;p10"/>
            <p:cNvSpPr/>
            <p:nvPr/>
          </p:nvSpPr>
          <p:spPr>
            <a:xfrm>
              <a:off x="685800" y="1828800"/>
              <a:ext cx="1874519" cy="1463040"/>
            </a:xfrm>
            <a:prstGeom prst="roundRect">
              <a:avLst>
                <a:gd name="adj" fmla="val 4000"/>
              </a:avLst>
            </a:prstGeom>
            <a:solidFill>
              <a:srgbClr val="F3F6F5"/>
            </a:solidFill>
            <a:ln w="9525" cap="flat" cmpd="sng">
              <a:solidFill>
                <a:srgbClr val="DCE3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306;p10"/>
            <p:cNvSpPr txBox="1"/>
            <p:nvPr/>
          </p:nvSpPr>
          <p:spPr>
            <a:xfrm>
              <a:off x="758952" y="1956816"/>
              <a:ext cx="17373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1" i="0" u="none" strike="noStrike" cap="none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측정치 g</a:t>
              </a:r>
              <a:endParaRPr/>
            </a:p>
          </p:txBody>
        </p:sp>
        <p:sp>
          <p:nvSpPr>
            <p:cNvPr id="33" name="Google Shape;307;p10"/>
            <p:cNvSpPr txBox="1"/>
            <p:nvPr/>
          </p:nvSpPr>
          <p:spPr>
            <a:xfrm>
              <a:off x="758952" y="2414016"/>
              <a:ext cx="1737360" cy="7315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u="none" strike="noStrike" cap="none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  <a:t>h*f + n</a:t>
              </a:r>
              <a:endParaRPr/>
            </a:p>
          </p:txBody>
        </p:sp>
        <p:sp>
          <p:nvSpPr>
            <p:cNvPr id="34" name="Google Shape;308;p10"/>
            <p:cNvSpPr/>
            <p:nvPr/>
          </p:nvSpPr>
          <p:spPr>
            <a:xfrm>
              <a:off x="2596896" y="2450592"/>
              <a:ext cx="219456" cy="23774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B6E5E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09;p10"/>
            <p:cNvSpPr/>
            <p:nvPr/>
          </p:nvSpPr>
          <p:spPr>
            <a:xfrm>
              <a:off x="2880360" y="1828800"/>
              <a:ext cx="1874519" cy="1463040"/>
            </a:xfrm>
            <a:prstGeom prst="roundRect">
              <a:avLst>
                <a:gd name="adj" fmla="val 4000"/>
              </a:avLst>
            </a:prstGeom>
            <a:solidFill>
              <a:srgbClr val="F3F6F5"/>
            </a:solidFill>
            <a:ln w="9525" cap="flat" cmpd="sng">
              <a:solidFill>
                <a:srgbClr val="DCE3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10;p10"/>
            <p:cNvSpPr txBox="1"/>
            <p:nvPr/>
          </p:nvSpPr>
          <p:spPr>
            <a:xfrm>
              <a:off x="2953512" y="1956816"/>
              <a:ext cx="17373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1" i="0" u="none" strike="noStrike" cap="none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Wiener 초기화</a:t>
              </a:r>
              <a:endParaRPr/>
            </a:p>
          </p:txBody>
        </p:sp>
        <p:sp>
          <p:nvSpPr>
            <p:cNvPr id="37" name="Google Shape;311;p10"/>
            <p:cNvSpPr txBox="1"/>
            <p:nvPr/>
          </p:nvSpPr>
          <p:spPr>
            <a:xfrm>
              <a:off x="2953512" y="2414016"/>
              <a:ext cx="1737360" cy="7315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u="none" strike="noStrike" cap="none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  <a:t>x₀ = D·G   /(D²+λ₀)</a:t>
              </a:r>
              <a:br>
                <a:rPr lang="en-US" sz="1050" b="0" i="0" u="none" strike="noStrike" cap="none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endParaRPr/>
            </a:p>
          </p:txBody>
        </p:sp>
        <p:sp>
          <p:nvSpPr>
            <p:cNvPr id="38" name="Google Shape;312;p10"/>
            <p:cNvSpPr/>
            <p:nvPr/>
          </p:nvSpPr>
          <p:spPr>
            <a:xfrm>
              <a:off x="4791456" y="2450592"/>
              <a:ext cx="219456" cy="23774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B6E5E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313;p10"/>
            <p:cNvSpPr/>
            <p:nvPr/>
          </p:nvSpPr>
          <p:spPr>
            <a:xfrm>
              <a:off x="5074920" y="1828800"/>
              <a:ext cx="1874519" cy="1463040"/>
            </a:xfrm>
            <a:prstGeom prst="roundRect">
              <a:avLst>
                <a:gd name="adj" fmla="val 4000"/>
              </a:avLst>
            </a:prstGeom>
            <a:solidFill>
              <a:srgbClr val="DCEDE8"/>
            </a:solidFill>
            <a:ln w="9525" cap="flat" cmpd="sng">
              <a:solidFill>
                <a:srgbClr val="0B6E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314;p10"/>
            <p:cNvSpPr txBox="1"/>
            <p:nvPr/>
          </p:nvSpPr>
          <p:spPr>
            <a:xfrm>
              <a:off x="5148072" y="1956816"/>
              <a:ext cx="17373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1" i="0" u="none" strike="noStrike" cap="none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사전지식DRUNet</a:t>
              </a:r>
              <a:br>
                <a:rPr lang="en-US" sz="1250" b="1" i="0" u="none" strike="noStrike" cap="none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endParaRPr/>
            </a:p>
          </p:txBody>
        </p:sp>
        <p:sp>
          <p:nvSpPr>
            <p:cNvPr id="41" name="Google Shape;315;p10"/>
            <p:cNvSpPr txBox="1"/>
            <p:nvPr/>
          </p:nvSpPr>
          <p:spPr>
            <a:xfrm>
              <a:off x="5148072" y="2414016"/>
              <a:ext cx="1737360" cy="7315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u="none" strike="noStrike" cap="none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  <a:t>z = net(x, σ)σ 는 측정치에서</a:t>
              </a:r>
              <a:br>
                <a:rPr lang="en-US" sz="1050" b="0" i="0" u="none" strike="noStrike" cap="none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endParaRPr/>
            </a:p>
          </p:txBody>
        </p:sp>
        <p:sp>
          <p:nvSpPr>
            <p:cNvPr id="42" name="Google Shape;316;p10"/>
            <p:cNvSpPr/>
            <p:nvPr/>
          </p:nvSpPr>
          <p:spPr>
            <a:xfrm>
              <a:off x="6986016" y="2450592"/>
              <a:ext cx="219456" cy="23774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B6E5E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317;p10"/>
            <p:cNvSpPr/>
            <p:nvPr/>
          </p:nvSpPr>
          <p:spPr>
            <a:xfrm>
              <a:off x="7269480" y="1828800"/>
              <a:ext cx="1874519" cy="1463040"/>
            </a:xfrm>
            <a:prstGeom prst="roundRect">
              <a:avLst>
                <a:gd name="adj" fmla="val 4000"/>
              </a:avLst>
            </a:prstGeom>
            <a:solidFill>
              <a:srgbClr val="F3F6F5"/>
            </a:solidFill>
            <a:ln w="9525" cap="flat" cmpd="sng">
              <a:solidFill>
                <a:srgbClr val="DCE3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318;p10"/>
            <p:cNvSpPr txBox="1"/>
            <p:nvPr/>
          </p:nvSpPr>
          <p:spPr>
            <a:xfrm>
              <a:off x="7342632" y="1956816"/>
              <a:ext cx="17373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1" i="0" u="none" strike="noStrike" cap="none" dirty="0" err="1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데이터</a:t>
              </a:r>
              <a:r>
                <a:rPr lang="en-US" sz="1250" b="1" i="0" u="none" strike="noStrike" cap="none" dirty="0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</a:t>
              </a:r>
              <a:r>
                <a:rPr lang="en-US" sz="1250" b="1" i="0" u="none" strike="noStrike" cap="none" dirty="0" err="1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정합</a:t>
              </a:r>
              <a:endParaRPr dirty="0"/>
            </a:p>
          </p:txBody>
        </p:sp>
        <p:sp>
          <p:nvSpPr>
            <p:cNvPr id="45" name="Google Shape;319;p10"/>
            <p:cNvSpPr txBox="1"/>
            <p:nvPr/>
          </p:nvSpPr>
          <p:spPr>
            <a:xfrm>
              <a:off x="7342632" y="2414016"/>
              <a:ext cx="1737360" cy="7315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0" i="0" u="none" strike="noStrike" cap="none" dirty="0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  <a:t>x = (</a:t>
              </a:r>
              <a:r>
                <a:rPr lang="en-US" sz="1050" b="0" i="0" u="none" strike="noStrike" cap="none" dirty="0" err="1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  <a:t>D·G+λZ</a:t>
              </a:r>
              <a:r>
                <a:rPr lang="en-US" sz="1050" b="0" i="0" u="none" strike="noStrike" cap="none" dirty="0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  <a:t>)     /(D²+λ)</a:t>
              </a:r>
              <a:br>
                <a:rPr lang="en-US" sz="1050" b="0" i="0" u="none" strike="noStrike" cap="none" dirty="0">
                  <a:solidFill>
                    <a:srgbClr val="66756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endParaRPr dirty="0"/>
            </a:p>
          </p:txBody>
        </p:sp>
        <p:sp>
          <p:nvSpPr>
            <p:cNvPr id="46" name="Google Shape;320;p10"/>
            <p:cNvSpPr/>
            <p:nvPr/>
          </p:nvSpPr>
          <p:spPr>
            <a:xfrm>
              <a:off x="9180576" y="2450592"/>
              <a:ext cx="219456" cy="23774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B6E5E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321;p10"/>
            <p:cNvSpPr/>
            <p:nvPr/>
          </p:nvSpPr>
          <p:spPr>
            <a:xfrm>
              <a:off x="9464040" y="1828800"/>
              <a:ext cx="1874519" cy="1463040"/>
            </a:xfrm>
            <a:prstGeom prst="roundRect">
              <a:avLst>
                <a:gd name="adj" fmla="val 4000"/>
              </a:avLst>
            </a:prstGeom>
            <a:solidFill>
              <a:srgbClr val="DCEDE8"/>
            </a:solidFill>
            <a:ln w="9525" cap="flat" cmpd="sng">
              <a:solidFill>
                <a:srgbClr val="0B6E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322;p10"/>
            <p:cNvSpPr txBox="1"/>
            <p:nvPr/>
          </p:nvSpPr>
          <p:spPr>
            <a:xfrm>
              <a:off x="9537192" y="1956816"/>
              <a:ext cx="17373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 b="1" i="0" u="none" strike="noStrike" cap="none" dirty="0" err="1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복원</a:t>
              </a:r>
              <a:r>
                <a:rPr lang="en-US" sz="1250" b="1" i="0" u="none" strike="noStrike" cap="none" dirty="0">
                  <a:solidFill>
                    <a:srgbClr val="131A19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 f̂</a:t>
              </a:r>
              <a:endParaRPr dirty="0"/>
            </a:p>
          </p:txBody>
        </p:sp>
        <p:sp>
          <p:nvSpPr>
            <p:cNvPr id="49" name="Google Shape;323;p10"/>
            <p:cNvSpPr txBox="1"/>
            <p:nvPr/>
          </p:nvSpPr>
          <p:spPr>
            <a:xfrm>
              <a:off x="9537192" y="2414015"/>
              <a:ext cx="1737360" cy="3838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1" i="0" u="none" strike="noStrike" cap="none" dirty="0" smtClean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25.91 </a:t>
              </a:r>
              <a:r>
                <a:rPr lang="en-US" sz="1050" b="1" i="0" u="none" strike="noStrike" cap="none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dB</a:t>
              </a:r>
              <a:endParaRPr b="1" dirty="0">
                <a:solidFill>
                  <a:srgbClr val="FF0000"/>
                </a:solidFill>
              </a:endParaRPr>
            </a:p>
          </p:txBody>
        </p:sp>
        <p:sp>
          <p:nvSpPr>
            <p:cNvPr id="50" name="Google Shape;324;p10"/>
            <p:cNvSpPr txBox="1"/>
            <p:nvPr/>
          </p:nvSpPr>
          <p:spPr>
            <a:xfrm>
              <a:off x="2834640" y="3456432"/>
              <a:ext cx="59436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>
                  <a:solidFill>
                    <a:srgbClr val="0B6E5E"/>
                  </a:solidFill>
                  <a:latin typeface="Consolas"/>
                  <a:ea typeface="Consolas"/>
                  <a:cs typeface="Consolas"/>
                  <a:sym typeface="Consolas"/>
                </a:rPr>
                <a:t>↑____________ 4번 반복 ____________|</a:t>
              </a:r>
              <a:endParaRPr/>
            </a:p>
          </p:txBody>
        </p:sp>
      </p:grpSp>
      <p:sp>
        <p:nvSpPr>
          <p:cNvPr id="5" name="직사각형 4"/>
          <p:cNvSpPr/>
          <p:nvPr/>
        </p:nvSpPr>
        <p:spPr>
          <a:xfrm>
            <a:off x="657772" y="694944"/>
            <a:ext cx="91440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25000"/>
              </a:lnSpc>
            </a:pPr>
            <a:r>
              <a:rPr lang="ko-KR" altLang="en-US" sz="3000" b="1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</a:t>
            </a:r>
            <a:r>
              <a:rPr lang="en-US" altLang="ko-KR" sz="3200" b="1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r>
              <a:rPr lang="ko-KR" altLang="en-US" sz="3000" b="1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3000" b="1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</a:t>
            </a:r>
            <a:r>
              <a:rPr lang="en-US" altLang="ko-KR" sz="3000" b="1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3-way Split</a:t>
            </a:r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④</a:t>
            </a:r>
            <a:endParaRPr/>
          </a:p>
        </p:txBody>
      </p:sp>
      <p:sp>
        <p:nvSpPr>
          <p:cNvPr id="333" name="Google Shape;333;p11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 — σ 를 라벨 없이 읽어 모델에 알려준다</a:t>
            </a:r>
            <a:endParaRPr/>
          </a:p>
        </p:txBody>
      </p:sp>
      <p:sp>
        <p:nvSpPr>
          <p:cNvPr id="334" name="Google Shape;334;p11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3일차 σ 는 장마다 200배 차이난다</a:t>
            </a: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|D| &lt; 0.02 인 주파수엔 dipole 이 신호를 보내지 않는다. 거기 있는 것은 전부 노이즈다.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파세발로 E|G|² = N·σ².  정답도 noise_meta.json 도 쓰지 않는다 — 측정치 하나에서 나온다.</a:t>
            </a:r>
            <a:endParaRPr/>
          </a:p>
        </p:txBody>
      </p:sp>
      <p:graphicFrame>
        <p:nvGraphicFramePr>
          <p:cNvPr id="337" name="Google Shape;337;p11"/>
          <p:cNvGraphicFramePr/>
          <p:nvPr/>
        </p:nvGraphicFramePr>
        <p:xfrm>
          <a:off x="822960" y="2606040"/>
          <a:ext cx="5760700" cy="142647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65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값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범위 (test 100장)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0.0007 ~ 0.1325   (200배)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추정 상대오차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중앙값 1.9%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σ&lt;0.05 구간 성능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23.91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σ≥0.10 구간 성능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17.64 dB   (6.3 dB 차이)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8" name="Google Shape;338;p11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 하나로 200배 범위를 다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덮으려면 평균에 맞출 수밖에 없다.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5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알려주면 매 장에 맞는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세기로 지울 수 있다.</a:t>
            </a:r>
            <a:endParaRPr/>
          </a:p>
        </p:txBody>
      </p:sp>
      <p:sp>
        <p:nvSpPr>
          <p:cNvPr id="340" name="Google Shape;340;p11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커널을 아니까 쓸 수 있는 방법이다.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MAD 같은 일반 추정기는 이미지 고주파를 노이즈로 착각한다. 1일차에 σ 게이트가 실패한 게 그 이유였다.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여기선 신호가 있을 수 없는 자리를 커널이 알려주니 착각할 일이 없다.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2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근거</a:t>
            </a:r>
            <a:endParaRPr/>
          </a:p>
        </p:txBody>
      </p:sp>
      <p:sp>
        <p:nvSpPr>
          <p:cNvPr id="347" name="Google Shape;347;p1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 의 근거 — σ 가 성능의 절반을 책임진다</a:t>
            </a:r>
            <a:endParaRPr/>
          </a:p>
        </p:txBody>
      </p:sp>
      <p:sp>
        <p:nvSpPr>
          <p:cNvPr id="348" name="Google Shape;348;p12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가중치는 그대로 두고 σ 입력만 바꾼다. 학습이 필요 없는 ablation</a:t>
            </a:r>
            <a:endParaRPr/>
          </a:p>
        </p:txBody>
      </p:sp>
      <p:sp>
        <p:nvSpPr>
          <p:cNvPr id="349" name="Google Shape;349;p12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0" name="Google Shape;350;p12"/>
          <p:cNvGraphicFramePr/>
          <p:nvPr/>
        </p:nvGraphicFramePr>
        <p:xfrm>
          <a:off x="822960" y="1691640"/>
          <a:ext cx="10515575" cy="164595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477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0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4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를 어떻게 주는가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손실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추정 σ (장마다 다르게)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29.59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0.8817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평균 하나로 고정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25.37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0.7751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-4.22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2배 (과대평가)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22.52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0.7890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-7.07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절반 (과소평가)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22.92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0.6484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-6.67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전부 0 (노이즈가 없다고)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15.93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0.4040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-13.66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1" name="Google Shape;351;p12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장마다 σ 를 다르게 주면 하나로 퉁칠 때보다 4.22 dB 낫다.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0 이라고 알려주면 29.59 에서 15.93 으로 무너진다. 2배·절반으로 틀리게 알려줘도 7 dB 가까이 잃는다.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모델이 σ 를 실제로 쓰고 있다는 증거다. 정확히 알려주는 게 그만큼 중요하다.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실패 기록</a:t>
            </a:r>
            <a:endParaRPr/>
          </a:p>
        </p:txBody>
      </p:sp>
      <p:sp>
        <p:nvSpPr>
          <p:cNvPr id="358" name="Google Shape;358;p13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⑤ — 안 통한 것들, 그리고 고쳐서 통한 것</a:t>
            </a:r>
            <a:endParaRPr/>
          </a:p>
        </p:txBody>
      </p:sp>
      <p:sp>
        <p:nvSpPr>
          <p:cNvPr id="359" name="Google Shape;359;p1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안 되는지 알면 고칠 수 있다</a:t>
            </a:r>
            <a:endParaRPr/>
          </a:p>
        </p:txBody>
      </p:sp>
      <p:sp>
        <p:nvSpPr>
          <p:cNvPr id="360" name="Google Shape;360;p13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1" name="Google Shape;361;p13"/>
          <p:cNvGraphicFramePr/>
          <p:nvPr/>
        </p:nvGraphicFramePr>
        <p:xfrm>
          <a:off x="640080" y="1691640"/>
          <a:ext cx="10881350" cy="21946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926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결과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왜 안 됐나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SSIM 을 처음부터 손실에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17.5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덜 학습된 모델을 '정답과 맞든 아니든 국소 대비를 키우는' 쪽으로 민다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언샤프 후처리로 SSIM 보정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무효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잔차까지 같이 커진다. 이미 잃은 대비는 나중에 못 만든다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노이즈 통계 조건화 (왜도·첨도)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29.59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첨도가 rician 을 가르지만(10.4 vs 2.9~3.8) 모델이 쓰지 않았다 (−0.03 dB)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 융합 1차 — 형제 셋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29.66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실패. 같은 체크포인트에서 이어받은 형제라 틀리는 방식이 같다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추론 때 반복 횟수 늘리기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20.99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4단계로 학습한 모델은 5단계에서 분포를 벗어난다. val 이 4를 골랐다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end-to-end DRUNet (대조군)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24.6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전개형보다 5 dB 아래. 물리 구조가 실제로 이득이라는 증거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 융합 2차 — 반복 4번 + 6번 모델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성공. 구조가 다르니 틀리는 방식도 다르다. 1차 실패 원인을 고친 것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2" name="Google Shape;362;p13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결국 점수를 올린 건 하나였다. 수렴할 때까지 더 돌리는 것.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60 에폭에서 끊었는데 매번 마지막까지 오르고 있었다. 새 구조를 찾는 것보다 있는 걸 끝까지 돌리는 게 나았다.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4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제출값</a:t>
            </a:r>
            <a:endParaRPr/>
          </a:p>
        </p:txBody>
      </p:sp>
      <p:sp>
        <p:nvSpPr>
          <p:cNvPr id="369" name="Google Shape;369;p14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결과</a:t>
            </a:r>
            <a:endParaRPr/>
          </a:p>
        </p:txBody>
      </p:sp>
      <p:sp>
        <p:nvSpPr>
          <p:cNvPr id="370" name="Google Shape;370;p1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test_deconv_noise 100장 · 16× self-ensemble</a:t>
            </a:r>
            <a:endParaRPr/>
          </a:p>
        </p:txBody>
      </p:sp>
      <p:sp>
        <p:nvSpPr>
          <p:cNvPr id="371" name="Google Shape;371;p1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2" name="Google Shape;372;p14"/>
          <p:cNvGraphicFramePr/>
          <p:nvPr>
            <p:extLst>
              <p:ext uri="{D42A27DB-BD31-4B8C-83A1-F6EECF244321}">
                <p14:modId xmlns:p14="http://schemas.microsoft.com/office/powerpoint/2010/main" val="668551907"/>
              </p:ext>
            </p:extLst>
          </p:nvPr>
        </p:nvGraphicFramePr>
        <p:xfrm>
          <a:off x="822960" y="1645920"/>
          <a:ext cx="10515600" cy="115214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475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판정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(blur + noise)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−0.0187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출발점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통과 기준 = 배포 baseline (End2End U-Net)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0.815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넘어야 할 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우리 (전개형 + σ 조건화 + 16× self-ensemble + 두 모델 평균)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 smtClean="0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30.48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 err="1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통과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73" name="Google Shape;373;p14"/>
          <p:cNvGraphicFramePr/>
          <p:nvPr/>
        </p:nvGraphicFramePr>
        <p:xfrm>
          <a:off x="822960" y="3931920"/>
          <a:ext cx="4937775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56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노이즈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gaussian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30.37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0.8891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rician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23.41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0.7689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uniform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29.81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0.9150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salt_and_pepper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38.19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0.9864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4" name="Google Shape;374;p14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rician 만 23.41 로 7 dB 뒤진다.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정류가 밝기를 +0.0396 밀어 올리는데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dipole 은 DC 를 1/3 로 보존하므로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역산에서 3배가 되어 0.119 로 남는다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이미지 std 가 0.222 니까 작은 값이 아니다.</a:t>
            </a:r>
            <a:endParaRPr/>
          </a:p>
        </p:txBody>
      </p:sp>
      <p:sp>
        <p:nvSpPr>
          <p:cNvPr id="376" name="Google Shape;376;p14"/>
          <p:cNvSpPr txBox="1"/>
          <p:nvPr/>
        </p:nvSpPr>
        <p:spPr>
          <a:xfrm>
            <a:off x="640080" y="6355080"/>
            <a:ext cx="10972800" cy="284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통과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기준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(=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배포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baseline)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대비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+</a:t>
            </a:r>
            <a:r>
              <a:rPr lang="en-US" sz="1000" b="0" i="0" u="none" strike="noStrike" cap="none" dirty="0" smtClean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5.46 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dB · +0.0749   ·  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오차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에너지로는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3.5배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줄었다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5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복원 결과</a:t>
            </a:r>
            <a:endParaRPr/>
          </a:p>
        </p:txBody>
      </p:sp>
      <p:sp>
        <p:nvSpPr>
          <p:cNvPr id="382" name="Google Shape;382;p1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 결과 — 노이즈 4종 × 방법별</a:t>
            </a:r>
            <a:endParaRPr/>
          </a:p>
        </p:txBody>
      </p:sp>
      <p:sp>
        <p:nvSpPr>
          <p:cNvPr id="384" name="Google Shape;384;p15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5" name="Google Shape;385;p15" descr="day3_methods_gri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82250" y="1280160"/>
            <a:ext cx="7322234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15"/>
          <p:cNvSpPr txBox="1"/>
          <p:nvPr/>
        </p:nvSpPr>
        <p:spPr>
          <a:xfrm>
            <a:off x="484104" y="6380987"/>
            <a:ext cx="11220743" cy="226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왼쪽에서 오른쪽이 시도 순서다: 정답 · 측정치 · Wiener 단독 · 시도② DC-Net · end-to-end U-Net · 시도③ 전개형 초기 · 시도④ σ 조건화 · 우리 모델(융합)   |   칸마다 그 장의 PSNR / SSIM 을 적었다</a:t>
            </a:r>
            <a:endParaRPr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 — 30.37 dB / 0.8891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7232" y="146702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 err="1">
                <a:solidFill>
                  <a:srgbClr val="66756F"/>
                </a:solidFill>
                <a:latin typeface="맑은 고딕"/>
              </a:rPr>
              <a:t>가장 무난한 경우다. 오차가 경계와 잔무늬에 몰리고 평평한 곳은 거의 비어 있다</a:t>
            </a:r>
            <a:endParaRPr sz="1400" b="0" dirty="0">
              <a:solidFill>
                <a:srgbClr val="66756F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557" y="2019300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6193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 — 23.41 dB / 0.7689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 err="1">
                <a:solidFill>
                  <a:srgbClr val="66756F"/>
                </a:solidFill>
                <a:latin typeface="맑은 고딕"/>
              </a:rPr>
              <a:t>우리 약점이다. difference map 이 고르게 밝다. 경계가 아니라 전면이 틀렸다</a:t>
            </a:r>
            <a:endParaRPr sz="1400" b="0" dirty="0">
              <a:solidFill>
                <a:srgbClr val="66756F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811" y="1996441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852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 — 29.81 dB / 0.9150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Gaussian 과 거의 같아 보인다. 노이즈 모양보다 세기가 결과를 정한다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600" y="1874520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395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 — 38.19 dB / 0.9864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 err="1">
                <a:solidFill>
                  <a:srgbClr val="66756F"/>
                </a:solidFill>
                <a:latin typeface="맑은 고딕"/>
              </a:rPr>
              <a:t>가장 잘 나온다. 오차가 점으로만 남고 면으로 번지지 않는다</a:t>
            </a:r>
            <a:endParaRPr sz="1400" b="0" dirty="0">
              <a:solidFill>
                <a:srgbClr val="66756F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214" y="2105591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4031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7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결과 분석</a:t>
            </a:r>
            <a:endParaRPr/>
          </a:p>
        </p:txBody>
      </p:sp>
      <p:sp>
        <p:nvSpPr>
          <p:cNvPr id="402" name="Google Shape;402;p17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취약점 분석 — 어떤 노이즈, 어떤 이미지에 약한가</a:t>
            </a:r>
            <a:endParaRPr/>
          </a:p>
        </p:txBody>
      </p:sp>
      <p:sp>
        <p:nvSpPr>
          <p:cNvPr id="403" name="Google Shape;403;p17"/>
          <p:cNvSpPr txBox="1"/>
          <p:nvPr/>
        </p:nvSpPr>
        <p:spPr>
          <a:xfrm>
            <a:off x="640080" y="1199450"/>
            <a:ext cx="10972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노이즈는 meta 가 알려주지만 이미지 종류는 라벨이 없다. 이미지 자체 특징으로 가른다</a:t>
            </a:r>
            <a:endParaRPr/>
          </a:p>
        </p:txBody>
      </p:sp>
      <p:sp>
        <p:nvSpPr>
          <p:cNvPr id="404" name="Google Shape;404;p17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5" name="Google Shape;405;p17" descr="day3_image_typ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" y="1463040"/>
            <a:ext cx="10881360" cy="268692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06" name="Google Shape;406;p17"/>
          <p:cNvGraphicFramePr/>
          <p:nvPr/>
        </p:nvGraphicFramePr>
        <p:xfrm>
          <a:off x="822960" y="4206240"/>
          <a:ext cx="10515600" cy="147219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0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특징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하위 1/3 → 상위 1/3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상관계수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해석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에지 밀도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−7.78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−0.442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구조가 복잡할수록 나쁘다. 이게 제일 잘 맞는다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대비 (std)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−4.34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−0.279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 분모가 1 로 고정이라, 에너지 큰 이미지가 같은 정확도에서도 낮게 찍힌다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동적범위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−3.47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−0.234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위와 같은 이유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무늬 조밀도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−3.11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−0.179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자연 이미지는 고주파 파워가 작은데 노이즈는 평평해 그 대역은 SNR 이 1 미만이다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07" name="Google Shape;407;p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가장 못 살린 10장 — rician 8 · uniform 2 · gaussian 0 · s&amp;p 0   |   σ 0.120 (전체 0.074) · 에지 0.083 (0.050).  약점은 '강한 rician + 복잡한 구조' 다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 — 어떤 노이즈에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시도 ②~⑤ 를 같은 조건에서 나란히 재고, σ 가 커질 때의 변화를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58816"/>
            <a:ext cx="7498079" cy="24376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2011680"/>
            <a:ext cx="3584448" cy="39319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11896" y="2432304"/>
            <a:ext cx="3300984" cy="29476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0B6E5E"/>
                </a:solidFill>
                <a:latin typeface="맑은 고딕"/>
              </a:rPr>
              <a:t>왼쪽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—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시도가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쌓일수록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올라간다</a:t>
            </a:r>
            <a:endParaRPr sz="950" b="1" dirty="0">
              <a:solidFill>
                <a:srgbClr val="0B6E5E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네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종류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모두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같은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순서다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.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특정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노이즈에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맞춘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게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아니다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>
                <a:solidFill>
                  <a:srgbClr val="3C4947"/>
                </a:solidFill>
                <a:latin typeface="맑은 고딕"/>
              </a:rPr>
              <a:t>DC-Net 은 Wiener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단독보다도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낮다</a:t>
            </a:r>
            <a:endParaRPr sz="950" b="1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|D|&gt;τ 를 G/D 로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못박는데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그게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증폭된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노이즈를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못박는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것이었다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>
                <a:solidFill>
                  <a:srgbClr val="3C4947"/>
                </a:solidFill>
                <a:latin typeface="맑은 고딕"/>
              </a:rPr>
              <a:t>end-to-end →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전개형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→ σ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조건화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→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융합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순으로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올라간다</a:t>
            </a: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물리를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층으로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넣고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, σ 를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알려주고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,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마지막에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섞은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것이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각각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이만큼이다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3C4947"/>
                </a:solidFill>
                <a:latin typeface="맑은 고딕"/>
              </a:rPr>
              <a:t>Rician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만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유독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3C4947"/>
                </a:solidFill>
                <a:latin typeface="맑은 고딕"/>
              </a:rPr>
              <a:t>낮다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.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어느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시도에서도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3C4947"/>
                </a:solidFill>
                <a:latin typeface="맑은 고딕"/>
              </a:rPr>
              <a:t>그렇다</a:t>
            </a: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구조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문제가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아니라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노이즈의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평균이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0 이 </a:t>
            </a:r>
            <a:r>
              <a:rPr sz="950" b="0" dirty="0" err="1">
                <a:solidFill>
                  <a:srgbClr val="66756F"/>
                </a:solidFill>
                <a:latin typeface="맑은 고딕"/>
              </a:rPr>
              <a:t>아니라서다</a:t>
            </a: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결과 이미지</a:t>
            </a:r>
            <a:endParaRPr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4526" y="1382606"/>
            <a:ext cx="7348220" cy="50662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004647"/>
            <a:ext cx="26575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- PSNR : 24.79</a:t>
            </a:r>
          </a:p>
          <a:p>
            <a:pPr marL="342900" indent="-342900">
              <a:buFontTx/>
              <a:buChar char="-"/>
            </a:pPr>
            <a:endParaRPr lang="en-US" altLang="ko-KR" sz="2000" b="1" dirty="0" smtClean="0"/>
          </a:p>
          <a:p>
            <a:r>
              <a:rPr lang="en-US" altLang="ko-KR" sz="2000" b="1" dirty="0" smtClean="0"/>
              <a:t>- SSIM : 0.787</a:t>
            </a:r>
            <a:endParaRPr lang="ko-KR" altLang="en-US" sz="2000" b="1" dirty="0"/>
          </a:p>
        </p:txBody>
      </p:sp>
      <p:sp>
        <p:nvSpPr>
          <p:cNvPr id="7" name="직사각형 6"/>
          <p:cNvSpPr/>
          <p:nvPr/>
        </p:nvSpPr>
        <p:spPr>
          <a:xfrm>
            <a:off x="9757019" y="1617785"/>
            <a:ext cx="1143000" cy="49149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9699282" y="1248222"/>
            <a:ext cx="15474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Self-supervised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68189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Model</a:t>
            </a:r>
            <a:endParaRPr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054" y="1650862"/>
            <a:ext cx="6215446" cy="420701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650862"/>
            <a:ext cx="5934768" cy="461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9687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474784" y="2708945"/>
            <a:ext cx="5305074" cy="2057767"/>
            <a:chOff x="281354" y="1028333"/>
            <a:chExt cx="5305074" cy="2057767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354" y="1028333"/>
              <a:ext cx="5305074" cy="2057767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708400" y="2295525"/>
              <a:ext cx="285750" cy="200025"/>
            </a:xfrm>
            <a:prstGeom prst="rect">
              <a:avLst/>
            </a:prstGeom>
            <a:solidFill>
              <a:srgbClr val="FCFC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708400" y="1200150"/>
              <a:ext cx="285750" cy="200025"/>
            </a:xfrm>
            <a:prstGeom prst="rect">
              <a:avLst/>
            </a:prstGeom>
            <a:solidFill>
              <a:srgbClr val="FCFC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6081346" y="2579811"/>
            <a:ext cx="5837270" cy="4024892"/>
            <a:chOff x="6233746" y="1874961"/>
            <a:chExt cx="5837270" cy="4024892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3746" y="1874961"/>
              <a:ext cx="5837270" cy="4024892"/>
            </a:xfrm>
            <a:prstGeom prst="rect">
              <a:avLst/>
            </a:prstGeom>
          </p:spPr>
        </p:pic>
        <p:sp>
          <p:nvSpPr>
            <p:cNvPr id="9" name="직사각형 8"/>
            <p:cNvSpPr/>
            <p:nvPr/>
          </p:nvSpPr>
          <p:spPr>
            <a:xfrm>
              <a:off x="9555956" y="3272204"/>
              <a:ext cx="357188" cy="200025"/>
            </a:xfrm>
            <a:prstGeom prst="rect">
              <a:avLst/>
            </a:prstGeom>
            <a:solidFill>
              <a:srgbClr val="FCFC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Loss function</a:t>
            </a:r>
            <a:endParaRPr dirty="0"/>
          </a:p>
        </p:txBody>
      </p:sp>
      <p:sp>
        <p:nvSpPr>
          <p:cNvPr id="13" name="Google Shape;402;p17"/>
          <p:cNvSpPr txBox="1"/>
          <p:nvPr/>
        </p:nvSpPr>
        <p:spPr>
          <a:xfrm>
            <a:off x="474784" y="2028034"/>
            <a:ext cx="2973266" cy="43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Stage 1 (Denoiser)</a:t>
            </a:r>
            <a:endParaRPr sz="1000" dirty="0"/>
          </a:p>
        </p:txBody>
      </p:sp>
      <p:sp>
        <p:nvSpPr>
          <p:cNvPr id="14" name="Google Shape;402;p17"/>
          <p:cNvSpPr txBox="1"/>
          <p:nvPr/>
        </p:nvSpPr>
        <p:spPr>
          <a:xfrm>
            <a:off x="6126480" y="2028034"/>
            <a:ext cx="2865120" cy="43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Stage 2 (Deconvolution)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1194480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38" y="2375755"/>
            <a:ext cx="5867400" cy="3952875"/>
          </a:xfrm>
          <a:prstGeom prst="rect">
            <a:avLst/>
          </a:prstGeom>
        </p:spPr>
      </p:pic>
      <p:sp>
        <p:nvSpPr>
          <p:cNvPr id="5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데이터 수</a:t>
            </a:r>
            <a:endParaRPr dirty="0"/>
          </a:p>
        </p:txBody>
      </p:sp>
      <p:sp>
        <p:nvSpPr>
          <p:cNvPr id="6" name="Google Shape;402;p17"/>
          <p:cNvSpPr txBox="1"/>
          <p:nvPr/>
        </p:nvSpPr>
        <p:spPr>
          <a:xfrm>
            <a:off x="3745524" y="5815687"/>
            <a:ext cx="967154" cy="26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200개</a:t>
            </a:r>
            <a:endParaRPr sz="300" dirty="0"/>
          </a:p>
        </p:txBody>
      </p:sp>
      <p:sp>
        <p:nvSpPr>
          <p:cNvPr id="7" name="Google Shape;402;p17"/>
          <p:cNvSpPr txBox="1"/>
          <p:nvPr/>
        </p:nvSpPr>
        <p:spPr>
          <a:xfrm>
            <a:off x="5788270" y="5815687"/>
            <a:ext cx="967154" cy="265417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1000개</a:t>
            </a:r>
            <a:endParaRPr sz="300" dirty="0"/>
          </a:p>
        </p:txBody>
      </p:sp>
      <p:sp>
        <p:nvSpPr>
          <p:cNvPr id="8" name="Google Shape;402;p17"/>
          <p:cNvSpPr txBox="1"/>
          <p:nvPr/>
        </p:nvSpPr>
        <p:spPr>
          <a:xfrm>
            <a:off x="8305802" y="5815687"/>
            <a:ext cx="1280746" cy="265417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(약8000개)</a:t>
            </a:r>
            <a:endParaRPr sz="300" dirty="0"/>
          </a:p>
        </p:txBody>
      </p:sp>
      <p:sp>
        <p:nvSpPr>
          <p:cNvPr id="9" name="Google Shape;402;p17"/>
          <p:cNvSpPr txBox="1"/>
          <p:nvPr/>
        </p:nvSpPr>
        <p:spPr>
          <a:xfrm>
            <a:off x="838201" y="1462159"/>
            <a:ext cx="9900137" cy="630902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25000"/>
              </a:lnSpc>
            </a:pPr>
            <a:r>
              <a:rPr lang="en-US" altLang="ko-KR" b="1" dirty="0">
                <a:solidFill/>
              </a:rPr>
              <a:t>"self-supervised 방법은 라벨 없이 강한 augmentation을 자유롭게 반복 적용할 수 있어서, </a:t>
            </a:r>
            <a:endParaRPr lang="en-US" altLang="ko-KR" b="1" dirty="0" smtClean="0"/>
          </a:p>
          <a:p>
            <a:pPr lvl="0">
              <a:lnSpc>
                <a:spcPct val="125000"/>
              </a:lnSpc>
            </a:pPr>
            <a:r>
              <a:rPr lang="ko-KR" altLang="en-US" b="1" dirty="0" smtClean="0">
                <a:solidFill/>
              </a:rPr>
              <a:t>이미지 개수 자체보다 총 학습 노출량(epoch × 반복)이 성능에 더 크게 기여하는 것으로 보인다"</a:t>
            </a:r>
            <a:endParaRPr sz="300" dirty="0"/>
          </a:p>
        </p:txBody>
      </p:sp>
    </p:spTree>
    <p:extLst>
      <p:ext uri="{BB962C8B-B14F-4D97-AF65-F5344CB8AC3E}">
        <p14:creationId xmlns:p14="http://schemas.microsoft.com/office/powerpoint/2010/main" val="2103772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2651</Words>
  <Application>Microsoft Office PowerPoint</Application>
  <PresentationFormat>와이드스크린</PresentationFormat>
  <Paragraphs>523</Paragraphs>
  <Slides>27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3" baseType="lpstr">
      <vt:lpstr>Malgun Gothic</vt:lpstr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삼성</cp:lastModifiedBy>
  <cp:revision>15</cp:revision>
  <dcterms:created xsi:type="dcterms:W3CDTF">2013-01-27T09:14:16Z</dcterms:created>
  <dcterms:modified xsi:type="dcterms:W3CDTF">2026-09-03T04:40:03Z</dcterms:modified>
</cp:coreProperties>
</file>