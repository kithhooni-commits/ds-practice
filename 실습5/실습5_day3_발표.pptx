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73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6" roundtripDataSignature="AMtx7miAXayThCpvXnuabH6NxIZnQxxP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DE65E82-E5E6-4290-B14A-9E70F09EAB91}">
  <a:tblStyle styleId="{7DE65E82-E5E6-4290-B14A-9E70F09EAB9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26" y="111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6" Type="http://customschemas.google.com/relationships/presentationmetadata" Target="metadata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삼성 DS2 · Image Restoration Challenge · Day 3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1일차 + 2일차 = 3일차 가 아니다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선형 역산이 포기한 곳을 메우는 법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g = dipole(f) + n   ·   test_deconv_noise 100장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제출값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30.44 dB / 0.8899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배포 baseline 대비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+5.42 dB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본인이름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Contents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40080" y="1654712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822960" y="1718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051560" y="177358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여정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2834640" y="1791872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 바꿔 몇 dB 올랐나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058400" y="179187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822960" y="2166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051560" y="222164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2834640" y="2239928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흐림과 노이즈가 겹쳤다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058400" y="223992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4–5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822960" y="2614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051560" y="2669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2834640" y="2687984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1일차 + 2일차 조합 — 왜 지는가 · 선형의 천장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0058400" y="2687984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6–7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822960" y="3062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051560" y="3117752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②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2834640" y="313604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DC-Net — 2일차 최고 구조가 죽은 이유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10058400" y="313604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822960" y="351094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1051560" y="356580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③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2834640" y="3584096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 분해 — 전달 곡선과 실패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10058400" y="358409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822960" y="395900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1051560" y="401386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방법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2834640" y="4032152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전개형 파이프라인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10058400" y="403215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/>
          </a:p>
        </p:txBody>
      </p:sp>
      <p:sp>
        <p:nvSpPr>
          <p:cNvPr id="127" name="Google Shape;127;p2"/>
          <p:cNvSpPr/>
          <p:nvPr/>
        </p:nvSpPr>
        <p:spPr>
          <a:xfrm>
            <a:off x="822960" y="440705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1051560" y="446192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2834640" y="4480208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조건화 — 성능의 절반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10058400" y="4480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11–12</a:t>
            </a: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822960" y="485511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1051560" y="490997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⑤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2834640" y="4928264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 통한 것들, 그리고 고쳐서 통한 것</a:t>
            </a:r>
            <a:endParaRPr/>
          </a:p>
        </p:txBody>
      </p:sp>
      <p:sp>
        <p:nvSpPr>
          <p:cNvPr id="134" name="Google Shape;134;p2"/>
          <p:cNvSpPr txBox="1"/>
          <p:nvPr/>
        </p:nvSpPr>
        <p:spPr>
          <a:xfrm>
            <a:off x="10058400" y="4928264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822960" y="530316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1051560" y="5358032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2834640" y="537632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점수 · 복원 이미지 · 취약점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10058400" y="537632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14–17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64698" y="135636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7782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dirty="0" err="1">
                <a:solidFill>
                  <a:srgbClr val="0B6E5E"/>
                </a:solidFill>
                <a:latin typeface="Consolas"/>
              </a:rPr>
              <a:t>출발</a:t>
            </a:r>
            <a:endParaRPr sz="1050" b="1" dirty="0">
              <a:solidFill>
                <a:srgbClr val="0B6E5E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778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350008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04870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197096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51958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044184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9046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91272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46134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30.41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084831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738360" y="1481328"/>
            <a:ext cx="1572768" cy="13898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93222" y="1335024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1819656"/>
            <a:ext cx="14630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반복 4번·6번
두 모델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441448"/>
            <a:ext cx="14630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30.44 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4296" y="2871216"/>
            <a:ext cx="731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66756F"/>
                </a:solidFill>
                <a:latin typeface="맑은 고딕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2926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맑은 고딕"/>
              </a:rPr>
              <a:t>② 자리에서 갈린 세 갈래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2648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버린다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end-to-end — 네트워크
하나가 한 방에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399" y="3273552"/>
            <a:ext cx="886967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8C4A6B"/>
                </a:solidFill>
                <a:latin typeface="Consolas"/>
              </a:rPr>
              <a:t>24.6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78807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88535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물리를 쓰되 한 번만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88535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2단 분해 — 측정치 영역에서
지우고 역필터 한 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76286" y="3273552"/>
            <a:ext cx="859535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8C4A6B"/>
                </a:solidFill>
                <a:latin typeface="Consolas"/>
              </a:rPr>
              <a:t>15.6 dB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7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C4A6B"/>
                </a:solidFill>
                <a:latin typeface="Consolas"/>
              </a:rPr>
              <a:t>막다른 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54694" y="3200400"/>
            <a:ext cx="3566160" cy="932688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64422" y="326440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31A19"/>
                </a:solidFill>
                <a:latin typeface="맑은 고딕"/>
              </a:rPr>
              <a:t>물리와 학습을 번갈아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64422" y="3520440"/>
            <a:ext cx="25603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6756F"/>
                </a:solidFill>
                <a:latin typeface="맑은 고딕"/>
              </a:rPr>
              <a:t>전개형 — 매번 측정치로
되돌리며 4번 반복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33302" y="3273552"/>
            <a:ext cx="987552" cy="3327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 dirty="0">
                <a:solidFill>
                  <a:srgbClr val="0B6E5E"/>
                </a:solidFill>
                <a:latin typeface="Consolas"/>
              </a:rPr>
              <a:t>25.91 dB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4" y="360273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0B6E5E"/>
                </a:solidFill>
                <a:latin typeface="Consolas"/>
              </a:rPr>
              <a:t>본선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40080" y="4224528"/>
          <a:ext cx="10881358" cy="1746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24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3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62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best 였다. 세 번 다 수렴 전이었다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②를 4번 도는 모델과 6번 도는 모델, 둘의 출력을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반복 횟수가 다르면 틀리는 방식도 달라 오차가 서로 상쇄된다 (무게는 val 에서)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+0.03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dirty="0" err="1">
                <a:solidFill>
                  <a:srgbClr val="66756F"/>
                </a:solidFill>
                <a:latin typeface="Consolas"/>
              </a:rPr>
              <a:t>출발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13.79 →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최종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30.44   ·  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통과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기준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=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배포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baseline 25.02 / 0.815 </a:t>
            </a:r>
            <a:r>
              <a:rPr sz="1000" b="0" dirty="0" err="1">
                <a:solidFill>
                  <a:srgbClr val="66756F"/>
                </a:solidFill>
                <a:latin typeface="Consolas"/>
              </a:rPr>
              <a:t>대비</a:t>
            </a:r>
            <a:r>
              <a:rPr sz="1000" b="0" dirty="0">
                <a:solidFill>
                  <a:srgbClr val="66756F"/>
                </a:solidFill>
                <a:latin typeface="Consolas"/>
              </a:rPr>
              <a:t> +5.42 dB</a:t>
            </a:r>
          </a:p>
        </p:txBody>
      </p:sp>
    </p:spTree>
    <p:extLst>
      <p:ext uri="{BB962C8B-B14F-4D97-AF65-F5344CB8AC3E}">
        <p14:creationId xmlns:p14="http://schemas.microsoft.com/office/powerpoint/2010/main" val="3123170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Day 3</a:t>
            </a:r>
            <a:endParaRPr/>
          </a:p>
        </p:txBody>
      </p:sp>
      <p:sp>
        <p:nvSpPr>
          <p:cNvPr id="202" name="Google Shape;202;p4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— 두 열화가 겹쳤다</a:t>
            </a:r>
            <a:endParaRPr/>
          </a:p>
        </p:txBody>
      </p:sp>
      <p:sp>
        <p:nvSpPr>
          <p:cNvPr id="203" name="Google Shape;203;p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g = h * f + n</a:t>
            </a:r>
            <a:endParaRPr/>
          </a:p>
        </p:txBody>
      </p:sp>
      <p:sp>
        <p:nvSpPr>
          <p:cNvPr id="204" name="Google Shape;204;p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5" name="Google Shape;205;p4"/>
          <p:cNvGraphicFramePr/>
          <p:nvPr/>
        </p:nvGraphicFramePr>
        <p:xfrm>
          <a:off x="822960" y="1645920"/>
          <a:ext cx="5760700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82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뜻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아는가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원본 이미지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모름 — 찾는 것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h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dipole 커널 (한 점이 퍼지는 모양)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앎 — 조교 지침 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노이즈 (4종, σ 가 장마다 다름)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모름 — 조교 지침 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측정치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앎 — 주어진 것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6" name="Google Shape;206;p4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h 를 안다는 것이 핵심 자산이다.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역필터를 해석적으로 만들 수 있고,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공짜로 잴 수 있다.</a:t>
            </a:r>
            <a:endParaRPr/>
          </a:p>
        </p:txBody>
      </p:sp>
      <p:graphicFrame>
        <p:nvGraphicFramePr>
          <p:cNvPr id="208" name="Google Shape;208;p4"/>
          <p:cNvGraphicFramePr/>
          <p:nvPr/>
        </p:nvGraphicFramePr>
        <p:xfrm>
          <a:off x="822960" y="3383280"/>
          <a:ext cx="10515600" cy="142647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0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3일차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f + 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h * f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g = h * f + 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답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DRUNet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K→0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전개형 + σ 조건화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점수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37.42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109.86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+8.6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무한대 (노이즈 없음)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+0.9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9" name="Google Shape;209;p4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3일차 측정치는 신호와 노이즈가 거의 같은 크기다 (SNR +0.9 dB). 흐림이 대비를 0.41배로 죽였기 때문이다.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5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문제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문제가 어떻게 만들어지는가</a:t>
            </a:r>
            <a:endParaRPr/>
          </a:p>
        </p:txBody>
      </p:sp>
      <p:sp>
        <p:nvSpPr>
          <p:cNvPr id="217" name="Google Shape;217;p5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clean → dipole blur → + noise. 학습 쌍도 같은 방식으로 만든다</a:t>
            </a:r>
            <a:endParaRPr/>
          </a:p>
        </p:txBody>
      </p:sp>
      <p:sp>
        <p:nvSpPr>
          <p:cNvPr id="218" name="Google Shape;218;p5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5" descr="day3_forward_chain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520" y="1920240"/>
            <a:ext cx="10698480" cy="299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노이즈가 흐림 **뒤에** 붙는다 — 오른쪽 끝이 노이즈만 뽑아낸 것이다. 그래서 측정치 위에서는 백색이고, 역산 전에 지워야 한다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6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①</a:t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 — 1일차 + 2일차를 이어 붙인다</a:t>
            </a:r>
            <a:endParaRPr/>
          </a:p>
        </p:txBody>
      </p:sp>
      <p:sp>
        <p:nvSpPr>
          <p:cNvPr id="227" name="Google Shape;227;p6"/>
          <p:cNvSpPr txBox="1"/>
          <p:nvPr/>
        </p:nvSpPr>
        <p:spPr>
          <a:xfrm>
            <a:off x="640080" y="1258823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각자</a:t>
            </a:r>
            <a:r>
              <a:rPr lang="en-US" sz="1400" b="0" i="0" u="none" strike="noStrike" cap="none" dirty="0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최고인</a:t>
            </a:r>
            <a:r>
              <a:rPr lang="en-US" sz="1400" b="0" i="0" u="none" strike="noStrike" cap="none" dirty="0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도구인데</a:t>
            </a:r>
            <a:r>
              <a:rPr lang="en-US" sz="1400" b="0" i="0" u="none" strike="noStrike" cap="none" dirty="0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합치면</a:t>
            </a:r>
            <a:r>
              <a:rPr lang="en-US" sz="1400" b="0" i="0" u="none" strike="noStrike" cap="none" dirty="0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진다</a:t>
            </a:r>
            <a:endParaRPr dirty="0"/>
          </a:p>
        </p:txBody>
      </p:sp>
      <p:sp>
        <p:nvSpPr>
          <p:cNvPr id="228" name="Google Shape;228;p6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9" name="Google Shape;229;p6"/>
          <p:cNvGraphicFramePr/>
          <p:nvPr/>
        </p:nvGraphicFramePr>
        <p:xfrm>
          <a:off x="822960" y="1600200"/>
          <a:ext cx="5852150" cy="170079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방법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디노이징 먼저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1일차 디노이저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21.06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median 3×3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19.20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디컨볼루션 먼저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→ 1일차 디노이저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16.88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번갈아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plug-and-play (디노이저 고정)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16.02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참고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Wiener </a:t>
                      </a:r>
                      <a:r>
                        <a:rPr lang="en-US" sz="1200" b="0" u="none" strike="noStrike" cap="none" dirty="0" err="1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단독</a:t>
                      </a: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 · 2일차 답(K→0)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 dirty="0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13.79 · −24</a:t>
                      </a:r>
                      <a:endParaRPr dirty="0"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0" name="Google Shape;230;p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순서가 4.2 dB 를 가른다.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Wiener 를 먼저 걸면 노이즈가 1/D 로 증폭되고 X자로 상관돼, 디노이저가 본 적 없는 종류가 된다.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답은 노이즈가 0이라서 통했다</a:t>
            </a:r>
            <a:endParaRPr/>
          </a:p>
        </p:txBody>
      </p:sp>
      <p:sp>
        <p:nvSpPr>
          <p:cNvPr id="234" name="Google Shape;234;p6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1/D 로 역산하면 노이즈 에너지가 폭발한다. n=0 이면 무한대 × 0 = 0 이었다.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+51.5 dB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노이즈 증폭</a:t>
            </a: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흐림이 대비를 죽여 같은 σ 가 훨씬 어려워진다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std(f)=0.222 → std(h*f)=0.092. 노이즈는 1일차와 똑같은데 신호만 줄었다.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SNR +8.6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→ +0.9 dB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주파수의 16% 는 진짜로 복원 불가다</a:t>
            </a:r>
            <a:endParaRPr/>
          </a:p>
        </p:txBody>
      </p:sp>
      <p:sp>
        <p:nvSpPr>
          <p:cNvPr id="242" name="Google Shape;242;p6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|D|&lt;0.1 은 역산 후 SNR 이 −20 dB 이하. 2일차엔 이것도 되살렸다 (노이즈가 0이라).</a:t>
            </a:r>
            <a:endParaRPr/>
          </a:p>
        </p:txBody>
      </p:sp>
      <p:sp>
        <p:nvSpPr>
          <p:cNvPr id="243" name="Google Shape;243;p6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16%</a:t>
            </a:r>
            <a:b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3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버려진다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7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한계</a:t>
            </a:r>
            <a:endParaRPr/>
          </a:p>
        </p:txBody>
      </p:sp>
      <p:sp>
        <p:nvSpPr>
          <p:cNvPr id="249" name="Google Shape;249;p7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① 의 한계 — 선형은 21.95 dB 에서 끝난다</a:t>
            </a:r>
            <a:endParaRPr/>
          </a:p>
        </p:txBody>
      </p:sp>
      <p:sp>
        <p:nvSpPr>
          <p:cNvPr id="250" name="Google Shape;250;p7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정답의 파워 스펙트럼을 알려줘도 그렇다</a:t>
            </a:r>
            <a:endParaRPr/>
          </a:p>
        </p:txBody>
      </p:sp>
      <p:sp>
        <p:nvSpPr>
          <p:cNvPr id="251" name="Google Shape;251;p7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2" name="Google Shape;252;p7"/>
          <p:cNvGraphicFramePr/>
          <p:nvPr/>
        </p:nvGraphicFramePr>
        <p:xfrm>
          <a:off x="822960" y="1645920"/>
          <a:ext cx="6035025" cy="192027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75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필터 / 방법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성격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Wiener 상수 K (val 에서 고름)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13.72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실제로 쓸 수 있는 것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1일차 디노이저 → Wiener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21.06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학습 없는 조합 중 최고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오라클 위너 (장마다 참 스펙트럼)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21.95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선형의 천장. 만들 수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원뿔을 포기하는 방법의 상한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25.08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비선형이어도 넘을 수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배포 baseline (End2End U-Net)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그 상한에 붙어 있다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우리 최종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원뿔을 실제로 메우고 있다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3" name="Google Shape;253;p7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천장이 두 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선형은 21.95 에서 끝난다.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원뿔을 포기하면 비선형이라도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25.08 이 한계다 —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오차(정답의 0.77%)가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원뿔에 든 정답(2.24%)보다 작다.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3C4947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30.44 는 원뿔의 최소 65% 를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메우고 있다는 뜻이다.</a:t>
            </a:r>
            <a:endParaRPr/>
          </a:p>
        </p:txBody>
      </p:sp>
      <p:sp>
        <p:nvSpPr>
          <p:cNvPr id="255" name="Google Shape;255;p7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0B6E5E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정답을 봐도 완벽하지 못한가</a:t>
            </a:r>
            <a:endParaRPr/>
          </a:p>
        </p:txBody>
      </p:sp>
      <p:graphicFrame>
        <p:nvGraphicFramePr>
          <p:cNvPr id="256" name="Google Shape;256;p7"/>
          <p:cNvGraphicFramePr/>
          <p:nvPr/>
        </p:nvGraphicFramePr>
        <p:xfrm>
          <a:off x="822960" y="4480560"/>
          <a:ext cx="10515600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377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설명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위상은 모른다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파워 스펙트럼은 '어느 굵기 무늬가 얼마나' 만 안다. '어디에 있는지' 는 위상이 담고 있다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곱하기밖에 못 한다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F̂(k) = W(k)·G(k). 측정치에 없는 것은 어떤 수를 곱해도 안 나온다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오차의 32% 는 버린 주파수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주파수의 89.2% 가 노이즈가 더 세다. 거기선 포기가 최선이고 버린 만큼이 오차로 남는다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오차의 68% 는 새어든 노이즈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살린 주파수에서는 신호를 완벽히 살리는 것과 노이즈를 완전히 막는 것을 동시에 못 한다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②</a:t>
            </a:r>
            <a:endParaRPr/>
          </a:p>
        </p:txBody>
      </p:sp>
      <p:sp>
        <p:nvSpPr>
          <p:cNvPr id="262" name="Google Shape;262;p8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② — DC-Net. 2일차 최고 구조를 그대로</a:t>
            </a:r>
            <a:endParaRPr/>
          </a:p>
        </p:txBody>
      </p:sp>
      <p:sp>
        <p:nvSpPr>
          <p:cNvPr id="263" name="Google Shape;263;p8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42.93 dB → 3일차 14.80 dB</a:t>
            </a:r>
            <a:endParaRPr/>
          </a:p>
        </p:txBody>
      </p:sp>
      <p:sp>
        <p:nvSpPr>
          <p:cNvPr id="264" name="Google Shape;264;p8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hard DC 는 |D|&gt;τ 인 주파수를 G/D 로 못박는다. 그런데 G = D·F + N 이므로</a:t>
            </a:r>
            <a:endParaRPr/>
          </a:p>
        </p:txBody>
      </p:sp>
      <p:sp>
        <p:nvSpPr>
          <p:cNvPr id="266" name="Google Shape;266;p8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31A19"/>
                </a:solidFill>
                <a:latin typeface="Consolas"/>
                <a:ea typeface="Consolas"/>
                <a:cs typeface="Consolas"/>
                <a:sym typeface="Consolas"/>
              </a:rPr>
              <a:t>G/D  =  F  +  N/D        ← 증폭된 노이즈를 못박는다</a:t>
            </a:r>
            <a:endParaRPr/>
          </a:p>
        </p:txBody>
      </p:sp>
      <p:sp>
        <p:nvSpPr>
          <p:cNvPr id="268" name="Google Shape;268;p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네트워크는 그 주파수를 고칠 권한이 없다. 2일차엔 N=0 이라 완벽했다.</a:t>
            </a:r>
            <a:endParaRPr/>
          </a:p>
        </p:txBody>
      </p:sp>
      <p:graphicFrame>
        <p:nvGraphicFramePr>
          <p:cNvPr id="269" name="Google Shape;269;p8"/>
          <p:cNvGraphicFramePr/>
          <p:nvPr/>
        </p:nvGraphicFramePr>
        <p:xfrm>
          <a:off x="822960" y="32918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3108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못박는 주파수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경계 노이즈 증폭 1/τ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결과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0.005 (2일차 최적 방향)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99.2%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200배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폭발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0.05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92.0%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14.80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66.4%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5배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DC 가 무의미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0" name="Google Shape;270;p8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τ 를 키우면 DC 가 무의미해지고 줄이면 폭발한다 — 3일차엔 좋은 τ 가 없다.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고칠 방법은 못박지 말고 무게를 두는 것. 그것이 soft DC 이고,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전개형이 곧 DC-Net 의 노이즈 대응 일반형이다 (λ→0 이면 DC-Net).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9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③</a:t>
            </a:r>
            <a:endParaRPr/>
          </a:p>
        </p:txBody>
      </p:sp>
      <p:sp>
        <p:nvSpPr>
          <p:cNvPr id="277" name="Google Shape;277;p9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③ — 2단 분해. 1일차 문제로 환원하기</a:t>
            </a:r>
            <a:endParaRPr/>
          </a:p>
        </p:txBody>
      </p:sp>
      <p:sp>
        <p:nvSpPr>
          <p:cNvPr id="278" name="Google Shape;278;p9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노이즈가 흐림 뒤에 붙으니 측정치 위에서는 1일차 문제다</a:t>
            </a:r>
            <a:endParaRPr/>
          </a:p>
        </p:txBody>
      </p:sp>
      <p:sp>
        <p:nvSpPr>
          <p:cNvPr id="279" name="Google Shape;279;p9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측정치 g</a:t>
            </a:r>
            <a:endParaRPr/>
          </a:p>
        </p:txBody>
      </p:sp>
      <p:sp>
        <p:nvSpPr>
          <p:cNvPr id="282" name="Google Shape;282;p9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h*f + n</a:t>
            </a:r>
            <a:endParaRPr/>
          </a:p>
        </p:txBody>
      </p:sp>
      <p:sp>
        <p:nvSpPr>
          <p:cNvPr id="283" name="Google Shape;283;p9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디노이저</a:t>
            </a:r>
            <a:endParaRPr/>
          </a:p>
        </p:txBody>
      </p:sp>
      <p:sp>
        <p:nvSpPr>
          <p:cNvPr id="285" name="Google Shape;285;p9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z ≈ h*f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1일차 문제</a:t>
            </a:r>
            <a:endParaRPr/>
          </a:p>
        </p:txBody>
      </p:sp>
      <p:sp>
        <p:nvSpPr>
          <p:cNvPr id="286" name="Google Shape;286;p9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9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</a:t>
            </a:r>
            <a:endParaRPr/>
          </a:p>
        </p:txBody>
      </p:sp>
      <p:sp>
        <p:nvSpPr>
          <p:cNvPr id="288" name="Google Shape;288;p9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 = D·Z/(D²+λ)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2일차 답</a:t>
            </a:r>
            <a:endParaRPr/>
          </a:p>
        </p:txBody>
      </p:sp>
      <p:sp>
        <p:nvSpPr>
          <p:cNvPr id="289" name="Google Shape;289;p9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</a:t>
            </a:r>
            <a:endParaRPr/>
          </a:p>
        </p:txBody>
      </p:sp>
      <p:sp>
        <p:nvSpPr>
          <p:cNvPr id="291" name="Google Shape;291;p9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15.6 dB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실패</a:t>
            </a:r>
            <a:endParaRPr/>
          </a:p>
        </p:txBody>
      </p:sp>
      <p:graphicFrame>
        <p:nvGraphicFramePr>
          <p:cNvPr id="292" name="Google Shape;292;p9"/>
          <p:cNvGraphicFramePr/>
          <p:nvPr/>
        </p:nvGraphicFramePr>
        <p:xfrm>
          <a:off x="822960" y="30632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30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측정치 영역에서 지운 정도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→ 최종 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→ 최종 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20.24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0.5572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35 dB  ← 우리가 도달한 곳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26.83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0.7809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40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29.86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0.8626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완벽 (오차 0)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71.47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0.9999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3" name="Google Shape;293;p9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전달 곡선은 맞았다.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측정치에서 노이즈만 완벽히 지우면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2일차 답이 71 dB 를 낸다 —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구조적 한계는 없다.</a:t>
            </a:r>
            <a:endParaRPr/>
          </a:p>
        </p:txBody>
      </p:sp>
      <p:sp>
        <p:nvSpPr>
          <p:cNvPr id="295" name="Google Shape;295;p9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8C4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그런데 필요한 난이도를 계산하지 않았다. 1일차는 25.95 → 37.42 (+11.5 dB) 였는데 여기서는 13.50 → 40 (+26.5 dB) 를 요구한다.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역필터가 네트워크의 오차를 1/D 로 증폭하고, 뭉개진 h*f 는 선명한 f 보다 사전지식이 약하다. 1일차보다 훨씬 어려운 1일차 문제였다.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방법</a:t>
            </a:r>
            <a:endParaRPr/>
          </a:p>
        </p:txBody>
      </p:sp>
      <p:sp>
        <p:nvSpPr>
          <p:cNvPr id="302" name="Google Shape;302;p10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 방법 — 전개형</a:t>
            </a:r>
            <a:endParaRPr/>
          </a:p>
        </p:txBody>
      </p:sp>
      <p:sp>
        <p:nvSpPr>
          <p:cNvPr id="303" name="Google Shape;303;p10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정합과 사전지식을 번갈아 4번</a:t>
            </a:r>
            <a:endParaRPr/>
          </a:p>
        </p:txBody>
      </p:sp>
      <p:sp>
        <p:nvSpPr>
          <p:cNvPr id="304" name="Google Shape;304;p10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0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0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측정치 g</a:t>
            </a:r>
            <a:endParaRPr/>
          </a:p>
        </p:txBody>
      </p:sp>
      <p:sp>
        <p:nvSpPr>
          <p:cNvPr id="307" name="Google Shape;307;p10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h*f + n</a:t>
            </a:r>
            <a:endParaRPr/>
          </a:p>
        </p:txBody>
      </p:sp>
      <p:sp>
        <p:nvSpPr>
          <p:cNvPr id="308" name="Google Shape;308;p10"/>
          <p:cNvSpPr/>
          <p:nvPr/>
        </p:nvSpPr>
        <p:spPr>
          <a:xfrm>
            <a:off x="259689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Wiener 초기화</a:t>
            </a:r>
            <a:endParaRPr/>
          </a:p>
        </p:txBody>
      </p:sp>
      <p:sp>
        <p:nvSpPr>
          <p:cNvPr id="311" name="Google Shape;311;p10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x₀ = D·G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  /(D²+λ₀)</a:t>
            </a:r>
            <a:endParaRPr/>
          </a:p>
        </p:txBody>
      </p:sp>
      <p:sp>
        <p:nvSpPr>
          <p:cNvPr id="312" name="Google Shape;312;p10"/>
          <p:cNvSpPr/>
          <p:nvPr/>
        </p:nvSpPr>
        <p:spPr>
          <a:xfrm>
            <a:off x="479145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0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0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사전지식</a:t>
            </a:r>
            <a:b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DRUNet</a:t>
            </a:r>
            <a:endParaRPr/>
          </a:p>
        </p:txBody>
      </p:sp>
      <p:sp>
        <p:nvSpPr>
          <p:cNvPr id="315" name="Google Shape;315;p10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z = net(x, σ)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σ 는 측정치에서</a:t>
            </a:r>
            <a:endParaRPr/>
          </a:p>
        </p:txBody>
      </p:sp>
      <p:sp>
        <p:nvSpPr>
          <p:cNvPr id="316" name="Google Shape;316;p10"/>
          <p:cNvSpPr/>
          <p:nvPr/>
        </p:nvSpPr>
        <p:spPr>
          <a:xfrm>
            <a:off x="698601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0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 cap="flat" cmpd="sng">
            <a:solidFill>
              <a:srgbClr val="DCE3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정합</a:t>
            </a:r>
            <a:endParaRPr/>
          </a:p>
        </p:txBody>
      </p:sp>
      <p:sp>
        <p:nvSpPr>
          <p:cNvPr id="319" name="Google Shape;319;p10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 = (D·G+λZ)</a:t>
            </a:r>
            <a:b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    /(D²+λ)</a:t>
            </a:r>
            <a:endParaRPr/>
          </a:p>
        </p:txBody>
      </p:sp>
      <p:sp>
        <p:nvSpPr>
          <p:cNvPr id="320" name="Google Shape;320;p10"/>
          <p:cNvSpPr/>
          <p:nvPr/>
        </p:nvSpPr>
        <p:spPr>
          <a:xfrm>
            <a:off x="9180576" y="2450592"/>
            <a:ext cx="219456" cy="23774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B6E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0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0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 f̂</a:t>
            </a:r>
            <a:endParaRPr/>
          </a:p>
        </p:txBody>
      </p:sp>
      <p:sp>
        <p:nvSpPr>
          <p:cNvPr id="323" name="Google Shape;323;p10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30.44 dB</a:t>
            </a:r>
            <a:endParaRPr/>
          </a:p>
        </p:txBody>
      </p:sp>
      <p:sp>
        <p:nvSpPr>
          <p:cNvPr id="324" name="Google Shape;324;p10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↑____________ 4번 반복 ____________|</a:t>
            </a:r>
            <a:endParaRPr/>
          </a:p>
        </p:txBody>
      </p:sp>
      <p:graphicFrame>
        <p:nvGraphicFramePr>
          <p:cNvPr id="325" name="Google Shape;325;p10"/>
          <p:cNvGraphicFramePr/>
          <p:nvPr/>
        </p:nvGraphicFramePr>
        <p:xfrm>
          <a:off x="822960" y="393192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19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0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학습되나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하는 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Wiener 초기화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아니오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닫힌 해. dipole 은 주파수 영역에서 대각 연산자다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DRUNet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역산이 포기한 주파수를 이미지 사전지식으로 메운다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 정합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λ 만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매번 측정치로 되돌려 오차가 쌓이지 않게 한다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6" name="Google Shape;326;p10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네트워크는 '아는 주파수를 다시 맞히는' 일을 배울 필요가 없다. 모르는 주파수를 채우는 데만 용량을 쓴다.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λ 는 단계마다 따로 학습해 '이번엔 측정치를 얼마나 믿을지' 를 스스로 정한다.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시도 ④</a:t>
            </a:r>
            <a:endParaRPr/>
          </a:p>
        </p:txBody>
      </p:sp>
      <p:sp>
        <p:nvSpPr>
          <p:cNvPr id="333" name="Google Shape;333;p11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 — σ 를 라벨 없이 읽어 모델에 알려준다</a:t>
            </a:r>
            <a:endParaRPr/>
          </a:p>
        </p:txBody>
      </p:sp>
      <p:sp>
        <p:nvSpPr>
          <p:cNvPr id="334" name="Google Shape;334;p11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3일차 σ 는 장마다 200배 차이난다</a:t>
            </a: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|D| &lt; 0.02 인 주파수엔 dipole 이 신호를 보내지 않는다. 거기 있는 것은 전부 노이즈다.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파세발로 E|G|² = N·σ².  정답도 noise_meta.json 도 쓰지 않는다 — 측정치 하나에서 나온다.</a:t>
            </a:r>
            <a:endParaRPr/>
          </a:p>
        </p:txBody>
      </p:sp>
      <p:graphicFrame>
        <p:nvGraphicFramePr>
          <p:cNvPr id="337" name="Google Shape;337;p11"/>
          <p:cNvGraphicFramePr/>
          <p:nvPr/>
        </p:nvGraphicFramePr>
        <p:xfrm>
          <a:off x="822960" y="26060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65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값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범위 (test 100장)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0.0007 ~ 0.1325   (200배)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추정 상대오차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중앙값 1.9%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σ&lt;0.05 구간 성능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23.91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σ≥0.10 구간 성능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17.64 dB   (6.3 dB 차이)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8" name="Google Shape;338;p11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1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blind 모델 하나로 200배 범위를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덮으려면 평균에 타협해야 한다.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5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알려주면 매 장에 맞는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세기로 지울 수 있다.</a:t>
            </a:r>
            <a:endParaRPr/>
          </a:p>
        </p:txBody>
      </p:sp>
      <p:sp>
        <p:nvSpPr>
          <p:cNvPr id="340" name="Google Shape;340;p11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1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커널을 알기에 쓸 수 있는 추정기다.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MAD 같은 일반 추정기는 이미지의 고주파를 노이즈로 착각한다 — 1일차에 σ 게이트가 실패한 원인이 그것이었다.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여기서는 '신호가 있을 수 없는 자리' 를 커널이 알려주므로 착각할 여지가 없다.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2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근거</a:t>
            </a:r>
            <a:endParaRPr/>
          </a:p>
        </p:txBody>
      </p:sp>
      <p:sp>
        <p:nvSpPr>
          <p:cNvPr id="347" name="Google Shape;347;p1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④ 의 근거 — σ 가 성능의 절반을 책임진다</a:t>
            </a:r>
            <a:endParaRPr/>
          </a:p>
        </p:txBody>
      </p:sp>
      <p:sp>
        <p:nvSpPr>
          <p:cNvPr id="348" name="Google Shape;348;p12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가중치는 그대로 두고 σ 입력만 바꾼다. 학습이 필요 없는 ablation</a:t>
            </a:r>
            <a:endParaRPr/>
          </a:p>
        </p:txBody>
      </p:sp>
      <p:sp>
        <p:nvSpPr>
          <p:cNvPr id="349" name="Google Shape;349;p12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0" name="Google Shape;350;p12"/>
          <p:cNvGraphicFramePr/>
          <p:nvPr/>
        </p:nvGraphicFramePr>
        <p:xfrm>
          <a:off x="822960" y="16916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477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0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0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4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를 어떻게 주는가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손실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추정 σ (장마다 다르게)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29.59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0.8817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—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평균 하나로 고정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25.37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0.7751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-4.22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2배 (과대평가)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22.52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0.7890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-7.07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σ 절반 (과소평가)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22.92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0.6484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-6.67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전부 0 (노이즈가 없다고)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15.93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0.4040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-13.66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1" name="Google Shape;351;p12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장마다 다른 σ 를 주는 것이, 하나의 값으로 뭉뚱그리는 것보다 4.22 dB 낫다.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131A19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σ 를 0 이라고 알려주면 29.59 에서 15.93 으로 무너진다. 2배·절반으로 틀리게 알려줘도 7 dB 가까이 잃는다.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모델이 σ 를 실제로 쓰고 있고, 정확히 알려주는 것이 중요하다는 직접적인 증거다.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실패 기록</a:t>
            </a:r>
            <a:endParaRPr/>
          </a:p>
        </p:txBody>
      </p:sp>
      <p:sp>
        <p:nvSpPr>
          <p:cNvPr id="358" name="Google Shape;358;p13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시도 ⑤ — 안 통한 것들, 그리고 고쳐서 통한 것</a:t>
            </a:r>
            <a:endParaRPr/>
          </a:p>
        </p:txBody>
      </p:sp>
      <p:sp>
        <p:nvSpPr>
          <p:cNvPr id="359" name="Google Shape;359;p1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안 되는지 알면 고칠 수 있다</a:t>
            </a:r>
            <a:endParaRPr/>
          </a:p>
        </p:txBody>
      </p:sp>
      <p:sp>
        <p:nvSpPr>
          <p:cNvPr id="360" name="Google Shape;360;p13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1" name="Google Shape;361;p13"/>
          <p:cNvGraphicFramePr/>
          <p:nvPr/>
        </p:nvGraphicFramePr>
        <p:xfrm>
          <a:off x="640080" y="169164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926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결과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왜 안 됐나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SSIM 을 처음부터 손실에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17.5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덜 학습된 모델을 '정답과 맞든 아니든 국소 대비를 키우는' 쪽으로 민다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언샤프 후처리로 SSIM 보정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무효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잔차까지 키워 σx 만 커진다. 잃은 국소 대비는 사후에 만들 수 없다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노이즈 통계 조건화 (왜도·첨도)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29.59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첨도가 rician 을 가르지만(10.4 vs 2.9~3.8) 모델이 쓰지 않았다 (−0.03 dB)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 융합 1차 — 형제 셋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29.66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실패. 같은 체크포인트에서 이어받은 형제라 틀리는 방식이 같다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추론 때 반복 횟수 늘리기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20.99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4단계로 학습한 모델은 5단계에서 분포를 벗어난다. val 이 4를 골랐다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end-to-end DRUNet (대조군)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24.6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전개형보다 5 dB 아래. 물리 구조가 실제로 이득이라는 증거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 융합 2차 — 반복 4번 + 6번 모델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성공. 구조가 다르니 오차 상관이 낮다. 1차 실패의 원인을 고친 것이다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2" name="Google Shape;362;p13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점수를 올린 것은 하나뿐이었다 — 수렴할 때까지 더 학습하기.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60 에폭으로 끝냈는데 매번 마지막 에폭까지 오르고 있었다. 새 구조를 찾기 전에 있는 것을 끝까지 돌리는 편이 나았다.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4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제출값</a:t>
            </a:r>
            <a:endParaRPr/>
          </a:p>
        </p:txBody>
      </p:sp>
      <p:sp>
        <p:nvSpPr>
          <p:cNvPr id="369" name="Google Shape;369;p14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결과</a:t>
            </a:r>
            <a:endParaRPr/>
          </a:p>
        </p:txBody>
      </p:sp>
      <p:sp>
        <p:nvSpPr>
          <p:cNvPr id="370" name="Google Shape;370;p1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test_deconv_noise 100장 · 16× self-ensemble</a:t>
            </a:r>
            <a:endParaRPr/>
          </a:p>
        </p:txBody>
      </p:sp>
      <p:sp>
        <p:nvSpPr>
          <p:cNvPr id="371" name="Google Shape;371;p1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2" name="Google Shape;372;p14"/>
          <p:cNvGraphicFramePr/>
          <p:nvPr/>
        </p:nvGraphicFramePr>
        <p:xfrm>
          <a:off x="822960" y="1645920"/>
          <a:ext cx="10515600" cy="115214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475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판정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(blur + noise)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8.02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−0.0187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출발점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통과 기준 = 배포 baseline (End2End U-Net)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25.02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0.815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넘어야 할 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우리 (전개형 + σ 조건화 + 16× self-ensemble + 두 모델 평균)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30.44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0.8899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통과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73" name="Google Shape;373;p14"/>
          <p:cNvGraphicFramePr/>
          <p:nvPr/>
        </p:nvGraphicFramePr>
        <p:xfrm>
          <a:off x="822960" y="3931920"/>
          <a:ext cx="4937775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256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노이즈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PSNR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SSIM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gaussian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30.37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0.8891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rician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23.41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0.7689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uniform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29.81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0.9150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salt_and_pepper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38.19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0.9864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4" name="Google Shape;374;p14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 cap="flat" cmpd="sng">
            <a:solidFill>
              <a:srgbClr val="0B6E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rician 만 23.41 로 7 dB 뒤진다.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정류가 밝기를 +0.0396 밀어 올리는데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dipole 은 DC 를 1/3 로 보존하므로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역산에서 3배가 되어 0.119 로 남는다</a:t>
            </a:r>
            <a:endParaRPr/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C4947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이미지 std 가 0.222 인데 그렇다.</a:t>
            </a:r>
            <a:endParaRPr/>
          </a:p>
        </p:txBody>
      </p:sp>
      <p:sp>
        <p:nvSpPr>
          <p:cNvPr id="376" name="Google Shape;376;p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통과 기준(= 배포 baseline) 대비 +5.42 dB · +0.0749   ·   오차 에너지로는 3.5배 줄었다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5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복원 결과</a:t>
            </a:r>
            <a:endParaRPr/>
          </a:p>
        </p:txBody>
      </p:sp>
      <p:sp>
        <p:nvSpPr>
          <p:cNvPr id="382" name="Google Shape;382;p15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 결과 — 노이즈 4종 × 방법별</a:t>
            </a:r>
            <a:endParaRPr/>
          </a:p>
        </p:txBody>
      </p:sp>
      <p:sp>
        <p:nvSpPr>
          <p:cNvPr id="384" name="Google Shape;384;p15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5" name="Google Shape;385;p15" descr="day3_methods_gri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82250" y="1280160"/>
            <a:ext cx="7322234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15"/>
          <p:cNvSpPr txBox="1"/>
          <p:nvPr/>
        </p:nvSpPr>
        <p:spPr>
          <a:xfrm>
            <a:off x="484104" y="6380987"/>
            <a:ext cx="11220743" cy="477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왼쪽에서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오른쪽으로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좋아진다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정답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·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측정치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8.02 · Wiener 13.79 ·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median→Wiener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19.20 · 1일차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디노이저→Wiener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21.06 ·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우리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모델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  |  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그림의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학습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모델은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단독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최고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(30.41).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제출값은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그것과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4단계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모델을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00" b="0" i="0" u="none" strike="noStrike" cap="none" dirty="0" err="1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평균한</a:t>
            </a:r>
            <a:r>
              <a:rPr lang="en-US" sz="1000" b="0" i="0" u="none" strike="noStrike" cap="none" dirty="0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 30.44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6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복원 결과</a:t>
            </a:r>
            <a:endParaRPr/>
          </a:p>
        </p:txBody>
      </p:sp>
      <p:sp>
        <p:nvSpPr>
          <p:cNvPr id="392" name="Google Shape;392;p16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복원 결과 — difference map 과 zoom-in</a:t>
            </a:r>
            <a:endParaRPr/>
          </a:p>
        </p:txBody>
      </p:sp>
      <p:sp>
        <p:nvSpPr>
          <p:cNvPr id="394" name="Google Shape;394;p16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5" name="Google Shape;395;p16" descr="day3_diff_zoo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45920" y="1417320"/>
            <a:ext cx="6180864" cy="484632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1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X자 무늬는 매직앵글 영널 원뿔이다. 정보가 애초에 없는 자리라 어떤 방법으로도 남는다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7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0B6E5E"/>
                </a:solidFill>
                <a:latin typeface="Consolas"/>
                <a:ea typeface="Consolas"/>
                <a:cs typeface="Consolas"/>
                <a:sym typeface="Consolas"/>
              </a:rPr>
              <a:t>결과 분석</a:t>
            </a:r>
            <a:endParaRPr/>
          </a:p>
        </p:txBody>
      </p:sp>
      <p:sp>
        <p:nvSpPr>
          <p:cNvPr id="402" name="Google Shape;402;p17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31A19"/>
                </a:solidFill>
                <a:latin typeface="Malgun Gothic"/>
                <a:ea typeface="Malgun Gothic"/>
                <a:cs typeface="Malgun Gothic"/>
                <a:sym typeface="Malgun Gothic"/>
              </a:rPr>
              <a:t>취약점 분석 — 어떤 노이즈, 어떤 이미지에 약한가</a:t>
            </a:r>
            <a:endParaRPr/>
          </a:p>
        </p:txBody>
      </p:sp>
      <p:sp>
        <p:nvSpPr>
          <p:cNvPr id="403" name="Google Shape;403;p17"/>
          <p:cNvSpPr txBox="1"/>
          <p:nvPr/>
        </p:nvSpPr>
        <p:spPr>
          <a:xfrm>
            <a:off x="640080" y="1199450"/>
            <a:ext cx="10972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75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노이즈는 meta 가 알려주지만 이미지 종류는 라벨이 없다. 이미지 자체 특징으로 가른다</a:t>
            </a:r>
            <a:endParaRPr/>
          </a:p>
        </p:txBody>
      </p:sp>
      <p:sp>
        <p:nvSpPr>
          <p:cNvPr id="404" name="Google Shape;404;p17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5" name="Google Shape;405;p17" descr="day3_image_typ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0080" y="1463040"/>
            <a:ext cx="10881360" cy="268692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06" name="Google Shape;406;p17"/>
          <p:cNvGraphicFramePr/>
          <p:nvPr/>
        </p:nvGraphicFramePr>
        <p:xfrm>
          <a:off x="822960" y="4206240"/>
          <a:ext cx="10515600" cy="1371625"/>
        </p:xfrm>
        <a:graphic>
          <a:graphicData uri="http://schemas.openxmlformats.org/drawingml/2006/table">
            <a:tbl>
              <a:tblPr firstRow="1" bandRow="1">
                <a:noFill/>
                <a:tableStyleId>{7DE65E82-E5E6-4290-B14A-9E70F09EAB91}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0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특징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하위 1/3 → 상위 1/3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상관계수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u="none" strike="noStrike" cap="none">
                          <a:solidFill>
                            <a:srgbClr val="131A19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해석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에지 밀도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−7.78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−0.442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구조가 복잡할수록 나쁘다. 가장 강한 예측 변수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대비 (std)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−4.34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−0.279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σ 는 이미지와 무관하게 뽑히므로 대비가 클수록 불리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동적범위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−3.47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−0.234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위와 같은 이유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무늬 조밀도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−3.11 dB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−0.179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3C4947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고주파일수록 |D| 가 작아 역산이 어렵다</a:t>
                      </a:r>
                      <a:endParaRPr/>
                    </a:p>
                  </a:txBody>
                  <a:tcPr marL="82300" marR="82300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07" name="Google Shape;407;p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6756F"/>
                </a:solidFill>
                <a:latin typeface="Consolas"/>
                <a:ea typeface="Consolas"/>
                <a:cs typeface="Consolas"/>
                <a:sym typeface="Consolas"/>
              </a:rPr>
              <a:t>가장 못 살린 10장 — rician 8 · uniform 2 · gaussian 0 · s&amp;p 0   |   σ 0.120 (전체 0.074) · 에지 0.083 (0.050).  약점은 '강한 rician + 복잡한 구조' 다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보너스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self-supervised. 라벨을 한 번도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 제거와 역산을 나눠, 각각 다른 자기지도 기법을 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901952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77440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blur + noise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80360" y="178308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Stage 1
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377440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U-Net 0.48M
Noise2Noise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74920" y="178308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48072" y="1901952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denoised blur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377440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노이즈만 지운 상태
(흐림은 그대로)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269480" y="178308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42632" y="1901952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Stage 2
역산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377440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U-Net 5.7M
Equivariant Imaging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64040" y="178308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37192" y="1901952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377440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24.79 dB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22960" y="35204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Stage 1 — 디노이저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Stage 2 — 역산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U-Net (chans 24, pool 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U-Net + Dilated Bottleneck (32, pool 4)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measure + impulse mask (2채널)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Wiener·TKD·median·불일치맵·mask (6채널)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노이즈만 제거. 흐림은 그대로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denoised blur → 최종 복원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479,617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5,724,801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학습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Noise2Noise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Equivariant Imaging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loss 어디에도 label 이 들어가지 않는다 — 검증과 최종 채점에만 쓴다</a:t>
            </a:r>
          </a:p>
        </p:txBody>
      </p:sp>
    </p:spTree>
    <p:extLst>
      <p:ext uri="{BB962C8B-B14F-4D97-AF65-F5344CB8AC3E}">
        <p14:creationId xmlns:p14="http://schemas.microsoft.com/office/powerpoint/2010/main" val="2464317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자기지도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Stage 1 — Noise2Noise. 깨끗한 정답 대신 다른 노이즈를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같은 흐림에서 노이즈만 다르게 두 장을 만들어, 하나로 다른 하나를 맞힌다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011680" y="1691640"/>
            <a:ext cx="8046720" cy="8686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48840" y="1828800"/>
            <a:ext cx="7772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Consolas"/>
              </a:rPr>
              <a:t>y₁, y₂ = 같은 blur + 독립적인 노이즈 두 실현</a:t>
            </a:r>
          </a:p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loss = Charbonnier( f(y₁),  y₂ 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88920"/>
            <a:ext cx="10515600" cy="86868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8803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왜 노이즈를 정답으로 써도 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729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노이즈는 평균이 0 이고 두 실현이 독립이다. 그래서 y₂ 를 맞히려는 최적해가 곧 노이즈 없는 신호다 — E[y₂ | y₁] = 신호.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49040"/>
            <a:ext cx="10515600" cy="86868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8404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Charbonnier(L1)를 쓰는 이유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13308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salt &amp; pepper 는 임펄스라 평균이 끌려간다. L1 은 조건부 중앙값으로 수렴해 그 편향을 피한다. 실제로 s&amp;p 가 가장 잘 나온다 (30.09 dB).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09160"/>
            <a:ext cx="10515600" cy="86868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8006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rician 만 따로 보정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9320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정류 때문에 평균이 0 이 아니다. 타깃을 √(max(y² − 2σ², 0)) 로 바꿔 moment 기준으로 편향을 뺀다.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Noise2Noise — Lehtinen et al., ICML 2018.  깨끗한 정답 없이 노이즈 쌍만으로 학습한다</a:t>
            </a:r>
          </a:p>
        </p:txBody>
      </p:sp>
    </p:spTree>
    <p:extLst>
      <p:ext uri="{BB962C8B-B14F-4D97-AF65-F5344CB8AC3E}">
        <p14:creationId xmlns:p14="http://schemas.microsoft.com/office/powerpoint/2010/main" val="3723868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자기지도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Stage 2 — Equivariant Imaging. 측정으로 못 본 곳을 채운다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이미지를 돌려도 여전히 같은 종류의 이미지여야 한다는 제약을 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9144000" cy="1234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1783080"/>
            <a:ext cx="8778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31A19"/>
                </a:solidFill>
                <a:latin typeface="Consolas"/>
              </a:rPr>
              <a:t>x₁   = g(hint(denoised))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31A19"/>
                </a:solidFill>
                <a:latin typeface="Consolas"/>
              </a:rPr>
              <a:t>loss_mc = ‖A(x₁) − y₃‖                  측정치와 맞아야 한다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31A19"/>
                </a:solidFill>
                <a:latin typeface="Consolas"/>
              </a:rPr>
              <a:t>x₁ᵀ  = rot90(x₁),  x₂ = g(hint(A(x₁ᵀ)))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loss_eq = ‖x₂ − x₁ᵀ‖                    돌려도 같아야 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왜 이것이 원뿔을 메우나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930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측정만으로는 매직앵글 원뿔의 정보를 얻을 수 없다. 그런데 이미지를 돌리면 그 원뿔이 이미지의 다른 방향과 겹친다 — 돌린 것도 같은 이미지여야 한다는 제약이 원뿔 안쪽에 대한 정보를 만들어 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1480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42062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왜 90도 회전만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49884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뒤집기는 dipole 커널과 교환된다. 교환되면 A(Tx) 가 새로운 측정 방향을 주지 못해 얻는 것이 없다. 90도 회전은 교환되지 않으므로 쓸 수 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2064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52120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λ_eq 스케줄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0 → 1.0 (3 epoch warmup) → 0.2 (6 epoch부터 감소). 초반엔 등변성을 세게 걸어 원뿔을 채우고, 후반엔 낮춰 측정 충실도 위주로 안정화한다.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Equivariant Imaging — Chen et al., ICCV 2021.  그 밖에 rician 가중치 4배 · EMA(0.999) · early stopping(patience 15)</a:t>
            </a:r>
          </a:p>
        </p:txBody>
      </p:sp>
    </p:spTree>
    <p:extLst>
      <p:ext uri="{BB962C8B-B14F-4D97-AF65-F5344CB8AC3E}">
        <p14:creationId xmlns:p14="http://schemas.microsoft.com/office/powerpoint/2010/main" val="929373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 — classical 최고보다 +9.7 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TTA = 항등 + 좌우 + 상하 + 180°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943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측정치 (입력)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8.16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Mean / Median / Adaptive 필터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8.3 안팎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0.05~0.06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TKD (clip=5)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0.361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(K=1e-2)  ← classical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0.385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Self-supervised (N2N + EI)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24.55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Self-supervised + TTA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24.79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0.787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64592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25.60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333756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맑은 고딕"/>
              </a:rPr>
              <a:t>L1 이 임펄스에 강하다는 이론이 s&amp;p 30.09 로 확인된다. rician 은 8~13 dB 뒤진다.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6908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224528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효율성 — 1000장(전체의 13.8%)만 써도 23.55 dB.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전체 7268장(24.79)과 1.2 dB 밖에 차이나지 않는다. gradient step 수를 고정해 공정하게 비교한 값이다.</a:t>
            </a:r>
          </a:p>
          <a:p>
            <a:pPr algn="l">
              <a:lnSpc>
                <a:spcPct val="125000"/>
              </a:lnSpc>
            </a:pPr>
            <a:endParaRPr sz="1250" b="0">
              <a:solidFill>
                <a:srgbClr val="3C4947"/>
              </a:solidFill>
              <a:latin typeface="맑은 고딕"/>
            </a:endParaRP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라벨이 필요 없으니 데이터를 모으기도 쉽고, 적은 데이터로도 버틴다 — 자기지도 방식의 값어치가 여기에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참고: 지도학습 최종은 30.44 dB / 0.8899.  라벨을 쓰지 않은 값으로는 classical(15.10) 대비 +9.7 dB 다</a:t>
            </a:r>
          </a:p>
        </p:txBody>
      </p:sp>
    </p:spTree>
    <p:extLst>
      <p:ext uri="{BB962C8B-B14F-4D97-AF65-F5344CB8AC3E}">
        <p14:creationId xmlns:p14="http://schemas.microsoft.com/office/powerpoint/2010/main" val="3880341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논의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한계와 논점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무엇이 남았고, 무엇을 배웠나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rician 이 구조적으로 어렵다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75688"/>
            <a:ext cx="6949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편향 보정과 4배 가중치를 줬는데도 다른 셋보다 8~13 dB 낮다. 진폭 도메인의 비선형·비가우시안 노이즈라 '노이즈는 예측 불가' 라는 자기지도의 전제가 약해진다.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874520"/>
            <a:ext cx="2834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17.40 dB
다음 셋은 25~30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432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TTA 는 모든 조건에서 +0.2~0.3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127248"/>
            <a:ext cx="6949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재학습 없이 얻는 개선. 전체 budget 에서도 1000장 budget 에서도 일관되게 나온다.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926080"/>
            <a:ext cx="2834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24.55
→ 24.79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947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3886200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salt &amp; pepper 가 가장 쉽다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78808"/>
            <a:ext cx="6949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Charbonnier(L1)가 조건부 중앙값으로 수렴한다는 이론이 임펄스 노이즈에 정확히 들어맞는다는 것이 실측으로 확인됐다.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977640"/>
            <a:ext cx="2834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30.09 dB
최고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84632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4937760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지도학습과의 격차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230368"/>
            <a:ext cx="6949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지도학습 최종 30.44 dB 와는 아직 5.6 dB 차이가 난다. 다만 라벨을 한 장도 쓰지 않았다는 것이 이 트랙의 목표였다.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029200"/>
            <a:ext cx="2834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24.79
vs 30.44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943600"/>
            <a:ext cx="10515600" cy="685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606247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같은 사실이 정반대로 쓰인다 — self-ensemble 은 커널과 교환되는 변환(뒤집기)만, Equivariant Imaging 은 교환되지 않는 변환(90° 회전)만 쓴다.</a:t>
            </a:r>
          </a:p>
        </p:txBody>
      </p:sp>
    </p:spTree>
    <p:extLst>
      <p:ext uri="{BB962C8B-B14F-4D97-AF65-F5344CB8AC3E}">
        <p14:creationId xmlns:p14="http://schemas.microsoft.com/office/powerpoint/2010/main" val="2284103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2916</Words>
  <Application>Microsoft Office PowerPoint</Application>
  <PresentationFormat>와이드스크린</PresentationFormat>
  <Paragraphs>573</Paragraphs>
  <Slides>22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Malgun Gothic</vt:lpstr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삼성</cp:lastModifiedBy>
  <cp:revision>5</cp:revision>
  <dcterms:created xsi:type="dcterms:W3CDTF">2013-01-27T09:14:16Z</dcterms:created>
  <dcterms:modified xsi:type="dcterms:W3CDTF">2026-09-03T01:18:49Z</dcterms:modified>
</cp:coreProperties>
</file>