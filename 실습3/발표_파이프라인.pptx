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15F3C"/>
                </a:solidFill>
                <a:latin typeface="Consolas"/>
              </a:rPr>
              <a:t>CUSTOMCONCEPT101 · SD3.5-MEDIUM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81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1F1E1D"/>
                </a:solidFill>
                <a:latin typeface="맑은 고딕"/>
              </a:rPr>
              <a:t>이미지 생성 모델 개인화 —</a:t>
            </a:r>
          </a:p>
          <a:p>
            <a:pPr algn="l">
              <a:lnSpc>
                <a:spcPct val="135000"/>
              </a:lnSpc>
            </a:pPr>
            <a:r>
              <a:rPr sz="4000" b="1">
                <a:solidFill>
                  <a:srgbClr val="1F1E1D"/>
                </a:solidFill>
                <a:latin typeface="맑은 고딕"/>
              </a:rPr>
              <a:t>파이프라인과 지표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6732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5524C"/>
                </a:solidFill>
                <a:latin typeface="맑은 고딕"/>
              </a:rPr>
              <a:t>레퍼런스 몇 장으로 특정 대상을 학습시키고, 그 대상을 새로운 장면에 그린다.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5524C"/>
                </a:solidFill>
                <a:latin typeface="맑은 고딕"/>
              </a:rPr>
              <a:t>네 가지 학습 방식을 10개 컨셉에 적용하고, 무엇보다 그 결과를 재는 지표 자체를 검증했다.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892040"/>
            <a:ext cx="4023360" cy="1905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074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A867E"/>
                </a:solidFill>
                <a:latin typeface="Consolas"/>
              </a:rPr>
              <a:t>TI · LoRA · DoRA · prior-preservation   |   CLIP T2I/I2I + DINO   |   10 컨셉 × 10 프롬프트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636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536192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과제와 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048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377440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파이프라인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25496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218688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채점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666744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087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059936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결과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07992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320" y="15636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8688" y="1536192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지표는 믿을 만한가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320" y="1984248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320" y="24048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8688" y="2377440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개선 항목별 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320" y="2825496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32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8688" y="3218688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핵심 발견 — 트리거 토큰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320" y="3666744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320" y="4087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15F3C"/>
                </a:solidFill>
                <a:latin typeface="Consola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8688" y="4059936"/>
            <a:ext cx="4523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배운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320" y="4507992"/>
            <a:ext cx="5163312" cy="1270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01 · 과제와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레퍼런스 몇 장 → 임의의 새 장면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개인화(personalization)란 특정 대상 하나를 모델에 가르쳐, 학습에 없던 상황에 그 대상을 그리게 하는 것이다.</a:t>
            </a:r>
          </a:p>
        </p:txBody>
      </p:sp>
      <p:pic>
        <p:nvPicPr>
          <p:cNvPr id="7" name="Picture 6" descr="refs_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8580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186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A867E"/>
                </a:solidFill>
                <a:latin typeface="맑은 고딕"/>
              </a:rPr>
              <a:t>레퍼런스 6장 — 전부 책상 위 제품 사진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73568" y="1737360"/>
          <a:ext cx="2926080" cy="21762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컨셉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컨셉당 레퍼런스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4 ~ 15 장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컨셉당 프롬프트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베이스 모델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SD3.5-medium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학습 스텝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300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총 생성 이미지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1,000+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041648"/>
            <a:ext cx="27940" cy="62179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041648"/>
            <a:ext cx="1087526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어려운 이유는 두 목표가 서로 싸우기 때문이다. 대상을 레퍼런스와 똑같이 그릴수록 프롬프트가 요구하는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새 장면에서 멀어지고, 장면을 충실히 그릴수록 대상이 흐려진다. 이 실험의 상당 부분은 그 균형을 재는 이야기다.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02 ·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데이터에서 결론까지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각 단계는 독립 스크립트이고, 출력 파일이 있으면 건너뛴다 — 중간에 죽어도 이어서 돌릴 수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10512"/>
            <a:ext cx="18166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10512"/>
            <a:ext cx="181660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011680"/>
            <a:ext cx="15057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C15F3C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40280"/>
            <a:ext cx="1505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F1E1D"/>
                </a:solidFill>
                <a:latin typeface="맑은 고딕"/>
              </a:rP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578608"/>
            <a:ext cx="15057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CustomConcept101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컨셉별 레퍼런스 +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프롬프트 10개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696" y="2478024"/>
            <a:ext cx="219456" cy="146304"/>
          </a:xfrm>
          <a:prstGeom prst="rightArrow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7312" y="1810512"/>
            <a:ext cx="18166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7312" y="1810512"/>
            <a:ext cx="181660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760" y="2011680"/>
            <a:ext cx="15057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C15F3C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760" y="2240280"/>
            <a:ext cx="1505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F1E1D"/>
                </a:solidFill>
                <a:latin typeface="맑은 고딕"/>
              </a:rPr>
              <a:t>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760" y="2578608"/>
            <a:ext cx="15057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TI / LoRA / DoRA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/ prior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300 스텝, rank 16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31080" y="2478024"/>
            <a:ext cx="219456" cy="146304"/>
          </a:xfrm>
          <a:prstGeom prst="rightArrow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87696" y="1810512"/>
            <a:ext cx="18166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7696" y="1810512"/>
            <a:ext cx="181660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3144" y="2011680"/>
            <a:ext cx="15057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C15F3C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3144" y="2240280"/>
            <a:ext cx="1505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F1E1D"/>
                </a:solidFill>
                <a:latin typeface="맑은 고딕"/>
              </a:rPr>
              <a:t>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3144" y="2578608"/>
            <a:ext cx="15057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프롬프트당 후보 4장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CLIP 최고점 1장 선택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512×512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41464" y="2478024"/>
            <a:ext cx="219456" cy="146304"/>
          </a:xfrm>
          <a:prstGeom prst="rightArrow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0" y="1810512"/>
            <a:ext cx="18166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0" y="1810512"/>
            <a:ext cx="181660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2011680"/>
            <a:ext cx="15057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C15F3C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2240280"/>
            <a:ext cx="1505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F1E1D"/>
                </a:solidFill>
                <a:latin typeface="맑은 고딕"/>
              </a:rPr>
              <a:t>평가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2578608"/>
            <a:ext cx="15057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CLIP T2I · I2I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+ DINO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프롬프트 단위 CSV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51848" y="2478024"/>
            <a:ext cx="219456" cy="146304"/>
          </a:xfrm>
          <a:prstGeom prst="rightArrow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08464" y="1810512"/>
            <a:ext cx="18166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08464" y="1810512"/>
            <a:ext cx="181660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3912" y="2011680"/>
            <a:ext cx="15057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C15F3C"/>
                </a:solidFill>
                <a:latin typeface="Consola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3912" y="2240280"/>
            <a:ext cx="1505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F1E1D"/>
                </a:solidFill>
                <a:latin typeface="맑은 고딕"/>
              </a:rPr>
              <a:t>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912" y="2578608"/>
            <a:ext cx="15057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짝지은 부호검정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HTML 뷰어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C"/>
                </a:solidFill>
                <a:latin typeface="맑은 고딕"/>
              </a:rPr>
              <a:t>FINDINGS.md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66928" y="3584448"/>
          <a:ext cx="9966960" cy="18653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20640"/>
                <a:gridCol w="48463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스크립트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run_all.py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전 단계 오케스트레이션 · 재실행 안전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train_textual_inversion.py / train_dreambooth_lora.py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학습 (TI / LoRA · DoRA · prior)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generate.py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생성 + best-of-N 선택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eval_breakdown.py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CLIP·DINO 점수를 프롬프트 단위 CSV로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make_viewer.py / zwx_table.py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런 비교 뷰어 · 평가 표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66928" y="5614416"/>
            <a:ext cx="27940" cy="356616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614416"/>
            <a:ext cx="1087526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재실행 안전성이 실제로 값을 했다 — Colab 런타임이 끊겨 한 번 결과를 통째로 잃었고, 재학습으로 복구했다.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03 · 채점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지표 세 개, 서로 다른 것을 잰다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35024"/>
            <a:ext cx="35031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350316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54480"/>
            <a:ext cx="3100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F1E1D"/>
                </a:solidFill>
                <a:latin typeface="Consolas"/>
              </a:rPr>
              <a:t>T2I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65376"/>
            <a:ext cx="3100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15F3C"/>
                </a:solidFill>
                <a:latin typeface="Consolas"/>
              </a:rPr>
              <a:t>텍스트 ↔ 생성물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39696"/>
            <a:ext cx="3100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프롬프트를 얼마나 따랐나.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CLIP 텍스트·이미지 코사인.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416" y="1335024"/>
            <a:ext cx="35031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4416" y="1335024"/>
            <a:ext cx="350316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5584" y="1554480"/>
            <a:ext cx="3100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F1E1D"/>
                </a:solidFill>
                <a:latin typeface="Consolas"/>
              </a:rPr>
              <a:t>CLIP I2I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5584" y="1865376"/>
            <a:ext cx="3100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15F3C"/>
                </a:solidFill>
                <a:latin typeface="Consolas"/>
              </a:rPr>
              <a:t>레퍼런스 ↔ 생성물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5584" y="2139696"/>
            <a:ext cx="3100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대상을 얼마나 닮았나.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CLIP 이미지 임베딩 코사인.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1904" y="1335024"/>
            <a:ext cx="35031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1904" y="1335024"/>
            <a:ext cx="350316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3072" y="1554480"/>
            <a:ext cx="3100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F1E1D"/>
                </a:solidFill>
                <a:latin typeface="Consolas"/>
              </a:rPr>
              <a:t>DINO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3072" y="1865376"/>
            <a:ext cx="3100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15F3C"/>
                </a:solidFill>
                <a:latin typeface="Consolas"/>
              </a:rPr>
              <a:t>레퍼런스 ↔ 생성물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3072" y="2139696"/>
            <a:ext cx="3100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정체성을 얼마나 지켰나.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라벨 없이 이미지만으로 학습된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ViT-S/16 — DreamBooth 논문 지표.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28415"/>
            <a:ext cx="27940" cy="62179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328415"/>
            <a:ext cx="1087526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DINO를 추가한 이유: CLIP은 이미지-텍스트 쌍으로 학습돼 '무엇이라고 말할지' 기준으로 임베딩이 조직된다.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그래서 같은 클래스의 다른 개체를 잘 구분하지 못한다 — '어떤 배낭인가'보다 '배낭이다'를 본다.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4370832"/>
          <a:ext cx="9966960" cy="9875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2194560"/>
                <a:gridCol w="2194560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TI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LoRA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방법 분리도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CLIP I2I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0.5654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0.7105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1.26 배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DINO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0.1604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0.4628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2.89 배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5522976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'TI가 정체성을 학습하지 못했다'를 CLIP-I 0.57로는 애매하게, DINO 0.16으로는 명확하게 말할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04 ·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방법별 성능 (10컨셉 평균)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35024"/>
          <a:ext cx="10058400" cy="20848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2336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T2I ↑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CLIP I2I ↑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DINO ↑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Textual Inversion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0.3040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0.5876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0.2354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LoRA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0.3392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0.7288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0.5057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DoRA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0.3411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0.7263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0.5192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LoRA + prior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0.3450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0.6844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0.4048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DoRA + prior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0.3437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0.6830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0.4009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i_f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39312"/>
            <a:ext cx="3291840" cy="1773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46811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A867E"/>
                </a:solidFill>
                <a:latin typeface="맑은 고딕"/>
              </a:rPr>
              <a:t>TI는 배경만 프롬프트대로 그리고 대상 자체가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7" y="3675888"/>
            <a:ext cx="712622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• TI는 실패했다. DINO 0.24는 사실상 무관한 이미지를 뜻한다. 트리거 임베딩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  하나(768차원)만 학습해서는 300스텝으로 개체를 못 담는다.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• LoRA와 DoRA는 사실상 동률이다. CLIP I2I는 LoRA를, DINO는 DoRA를 앞세우는데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  격차가 0.003 / 0.013으로 재학습 노이즈 안이다. 우열을 말할 수 없다.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• prior-preservation은 정체성을 오히려 파괴했다 — 06장.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05 · 지표는 믿을 만한가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두 지표는 프롬프트 단위로 서로 싸운다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컨셉 안 10개 프롬프트에 걸친 T2I–I2I 피어슨 상관 (baseline, 9컨셉 × 3방법)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8046720" cy="13898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219456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평균 r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음의 상관을 보인 컨셉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TI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+0.187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3 / 9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LoRA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−0.415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8 / 9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DoRA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−0.514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8 / 9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3310128"/>
            <a:ext cx="27940" cy="88696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1087526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정체성을 학습한 모델만 '레퍼런스처럼 보이기'와 '장면을 바꾸기' 사이의 경쟁에 직면한다.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학습에 실패한 TI는 경쟁할 대상이 없어 두 지표가 무관하게 움직인다.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→ 반상관의 존재 자체가 개인화 성공의 신호다. (부호검정 r(dora)&lt;r(ti): 9/9, p=0.004)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63440"/>
            <a:ext cx="110581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1E1D"/>
                </a:solidFill>
                <a:latin typeface="맑은 고딕"/>
              </a:rPr>
              <a:t>그런데 두 지표 모두 프롬프트별 체계적 교란을 갖는다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5102352"/>
          <a:ext cx="10698480" cy="11521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/>
                <a:gridCol w="51206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교란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증거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함의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CLIP I2I는 '구도 일치도'를 잰다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person_3 레퍼런스가 전부 셀피 → 셀피 프롬프트 2개가 세 방법 모두에서 1·2위 (+31%)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컨셉 간 I2I 비교 무효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T2I는 프롬프트 길이에 끌린다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가장 짧은 0번 프롬프트가 9컨셉 중 8컨셉에서 평균 이하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프롬프트 간 T2I 비교 무효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382512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→ 유효한 비교는 '같은 프롬프트 안에서 방법끼리'뿐이다. 다행히 과제가 요구하는 비교가 정확히 그 형태다.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06 · 개선 항목별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여섯 개를 바꿔보고, 넷은 효과가 없었다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검정 단위는 컨셉(컨셉당 1표). 짝지은 부호검정.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11064240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66160"/>
                <a:gridCol w="2743200"/>
                <a:gridCol w="29260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바꾼 것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T2I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정체성 (I2I / DINO)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생성 해상도 256 → 512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6/9 (p=0.51)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5/9 (p=1.00)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효과 없음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rank 4 → 16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기여 ≈ 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I2I +0.004~0.012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미미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학습 해상도 256 → 512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부호 혼재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부호 혼재, |Δ| ≤ 0.02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측정 불가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best-of-4 선택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+0.0089, 10/10 (p=0.002)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I2I −0.0035 (하락)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지표 게이밍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prior-preservation λ=1.0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+0.0067 (p=0.11, n.s.)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I2I −0.044 · DINO −0.101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순손실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prior λ=1.0 → 0.3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유지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손실의 29~66% 회복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개선, 그러나 미달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443984"/>
            <a:ext cx="11058144" cy="1124712"/>
          </a:xfrm>
          <a:prstGeom prst="rect">
            <a:avLst/>
          </a:prstGeom>
          <a:solidFill>
            <a:srgbClr val="EBD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581144"/>
            <a:ext cx="1060094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A6A2F"/>
                </a:solidFill>
                <a:latin typeface="맑은 고딕"/>
              </a:rPr>
              <a:t>best-of-N의 선택 기준은 CLIP text-image 유사도 — 평가 지표 T2I와 완전히 같은 함수다.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A6A2F"/>
                </a:solidFill>
                <a:latin typeface="맑은 고딕"/>
              </a:rPr>
              <a:t>즉 추론 시점에 평가 지표를 직접 최적화하고 있고, 그 대가가 I2I 하락으로 관측된다.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A6A2F"/>
                </a:solidFill>
                <a:latin typeface="맑은 고딕"/>
              </a:rPr>
              <a:t>10/10 · p=0.002라는 가장 강한 결과가 사실은 가장 못 믿을 결과였다.</a:t>
            </a:r>
          </a:p>
        </p:txBody>
      </p:sp>
      <p:pic>
        <p:nvPicPr>
          <p:cNvPr id="10" name="Picture 9" descr="pri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5669280"/>
            <a:ext cx="2029968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687568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prior-preservation은 클래스 붕괴를 막으려고 클래스 이미지 50장을 함께 학습시킨다.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그런데 λ가 기본 1.0이라 그래디언트 예산의 절반이 거기 쓰인다 — 300스텝 예산에서는 과하다.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DINO가 CLIP-I보다 2.3배 크게 떨어진 것이 결정적이다: 구도 아티팩트였다면 DINO는 버텼어야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07 · 핵심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가장 큰 결함은 하이퍼파라미터가 아니라 단어 하나였다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DreamBooth 관행을 따라 트리거 토큰을 `sks`로 잡았다.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그런데 sks는 의미 없는 문자열이 아니라 SKS 소총이고,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SD3.5의 텍스트 인코더는 그렇게 읽는다.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학습 문장이 "a photo of sks {클래스}" 하나뿐이라,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소총 prior가 매 스텝 트리거에 함께 묶인다.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07792"/>
            <a:ext cx="5760720" cy="1225296"/>
          </a:xfrm>
          <a:prstGeom prst="rect">
            <a:avLst/>
          </a:prstGeom>
          <a:solidFill>
            <a:srgbClr val="EBD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54096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A2F"/>
                </a:solidFill>
                <a:latin typeface="맑은 고딕"/>
              </a:rPr>
              <a:t>10컨셉 0번 프롬프트를 눈으로 세어보면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A2F"/>
                </a:solidFill>
                <a:latin typeface="맑은 고딕"/>
              </a:rPr>
              <a:t>  · 명확한 오염 3개 — 소총·전투복이 프레임에 등장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A2F"/>
                </a:solidFill>
                <a:latin typeface="맑은 고딕"/>
              </a:rPr>
              <a:t>  · 약한 오염 1개 — 올리브색 밀리터리 재킷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A2F"/>
                </a:solidFill>
                <a:latin typeface="맑은 고딕"/>
              </a:rPr>
              <a:t>  · 나머지 6개는 육안상 깨끗</a:t>
            </a:r>
          </a:p>
        </p:txBody>
      </p:sp>
      <p:pic>
        <p:nvPicPr>
          <p:cNvPr id="9" name="Picture 8" descr="trig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261872"/>
            <a:ext cx="352044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76288" y="48646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A867E"/>
                </a:solidFill>
                <a:latin typeface="맑은 고딕"/>
              </a:rPr>
              <a:t>같은 프롬프트 · 같은 설정 · 트리거만 교체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297680"/>
            <a:ext cx="27940" cy="356616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297680"/>
            <a:ext cx="1087526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사용자가 요청한 적 없는 소총이 이미지에 들어온다. 이건 성능 저하가 아니라 결함이다.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07 · 핵심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고쳤더니 — 지표가 오히려 벌을 줬다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10컨셉 × LoRA/DoRA 재학습. rank·해상도·best-of-N 동일, 트리거 토큰만 교체.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109728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2103120"/>
                <a:gridCol w="210312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그룹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ΔT2I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ΔCLIP I2I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ΔDINO (LoRA)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ΔDINO (DoRA)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오염 4컨셉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+0.0059 (3/4)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+0.0249 (3/4)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−0.0014 (1/4)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+0.0013 (3/4)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깨끗한 5컨셉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+0.0050 (3/5)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−0.0065 (2/5)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−0.0207 (1/5)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−0.0323 (2/5)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전체 10컨셉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+0.0050 (7/10)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+0.0051 (5/10)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15F3C"/>
                          </a:solidFill>
                          <a:latin typeface="Consolas"/>
                        </a:rPr>
                        <a:t>−0.0155 (2/10)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−0.0282 (5/10)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383280"/>
            <a:ext cx="110581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1E1D"/>
                </a:solidFill>
                <a:latin typeface="맑은 고딕"/>
              </a:rPr>
              <a:t>컨셉 단위에서는 어떤 지표도 유의하지 않다 — 어느 방향으로도. 그러나 방향이 예측과 반대다.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85616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• 3컨셉 단계에서 '깨끗한 컨셉엔 무해할 것'이라 예측했다. 틀렸다 —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  LoRA 기준 10컨셉 중 8개에서 DINO가 하락했다.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• 이득은 사실상 한 컨셉에 몰려 있다 (actionfigure_2 +0.093).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  나머지 하락 8개는 전부 −0.05 이내로 재학습 노이즈와 구분되지 않는다.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5524C"/>
                </a:solidFill>
                <a:latin typeface="맑은 고딕"/>
              </a:rPr>
              <a:t>• 즉 방향만 확인됐고 크기는 측정되지 않았다.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3749040"/>
            <a:ext cx="3520440" cy="1572768"/>
          </a:xfrm>
          <a:prstGeom prst="rect">
            <a:avLst/>
          </a:prstGeom>
          <a:solidFill>
            <a:srgbClr val="F3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95744" y="389534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검정 단위를 조심해야 한다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한 컨셉의 프롬프트 10개는 같은 가중치에서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나오므로 독립이 아니다.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DoRA ΔDINO — 프롬프트 100개: p=0.002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                    컨셉 10개: p=1.000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04688"/>
            <a:ext cx="27940" cy="356616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504688"/>
            <a:ext cx="1087526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그래도 zwx를 써야 한다. 단, 지표를 근거로 들 수는 없다 — 근거는 '사용자가 요청하지 않은 소총이 사라진다'는 사실뿐이다.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07 · 핵심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지표가 실패하는 세 가지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24C"/>
                </a:solidFill>
                <a:latin typeface="맑은 고딕"/>
              </a:rPr>
              <a:t>이 실험의 결론은 '어떤 방법이 좋은가'보다 '무엇으로 재는가'에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350316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350316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30642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E1D"/>
                </a:solidFill>
                <a:latin typeface="맑은 고딕"/>
              </a:rPr>
              <a:t>게이밍당한다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87168"/>
            <a:ext cx="3064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15F3C"/>
                </a:solidFill>
                <a:latin typeface="Consolas"/>
              </a:rPr>
              <a:t>best-of-4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16352"/>
            <a:ext cx="30642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선택기와 평가기가 같은 함수라 T2I가 10/10 올랐다.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품질 개선이 아니라 지표 최적화였다.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416" y="1828800"/>
            <a:ext cx="350316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4416" y="1828800"/>
            <a:ext cx="350316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3872" y="2103120"/>
            <a:ext cx="30642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E1D"/>
                </a:solidFill>
                <a:latin typeface="맑은 고딕"/>
              </a:rPr>
              <a:t>보지 못한다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872" y="2487168"/>
            <a:ext cx="3064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15F3C"/>
                </a:solidFill>
                <a:latin typeface="Consolas"/>
              </a:rPr>
              <a:t>학습 해상도 512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3872" y="2816352"/>
            <a:ext cx="30642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CLIP도 DINO도 입력을 224로 줄인다.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512 학습이 만든 디테일은 지표에 물리적으로 닿지 않는다.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1904" y="1828800"/>
            <a:ext cx="350316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1904" y="1828800"/>
            <a:ext cx="3503168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1360" y="2103120"/>
            <a:ext cx="30642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E1D"/>
                </a:solidFill>
                <a:latin typeface="맑은 고딕"/>
              </a:rPr>
              <a:t>반대로 채점한다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360" y="2487168"/>
            <a:ext cx="3064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15F3C"/>
                </a:solidFill>
                <a:latin typeface="Consolas"/>
              </a:rPr>
              <a:t>트리거 토큰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1360" y="2816352"/>
            <a:ext cx="30642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명백한 결함을 고쳤는데 DINO가 8/10 컨셉에서 하락했다.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5524C"/>
                </a:solidFill>
                <a:latin typeface="맑은 고딕"/>
              </a:rPr>
              <a:t>세 지표를 다 써도 '폭포 앞 소총'을 잡지 못한다.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70832"/>
            <a:ext cx="27940" cy="88696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370832"/>
            <a:ext cx="1087526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재학습 노이즈 바닥도 함께 재야 했다. 유실된 런을 복구하며 같은 설정을 두 번 학습한 셈이 됐고,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그 차이가 평균 |ΔI2I| 0.019 · 최대 0.041이었다 — 이 문서가 보고한 여러 효과와 같은 크기다.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5524C"/>
                </a:solidFill>
                <a:latin typeface="맑은 고딕"/>
              </a:rPr>
              <a:t>→ 컨셉 3개짜리 학습측 실험에서 0.02 이하의 차이는 보고할 근거가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08 · 배운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고쳐지지 않은 것들</a:t>
            </a:r>
          </a:p>
        </p:txBody>
      </p:sp>
      <p:pic>
        <p:nvPicPr>
          <p:cNvPr id="6" name="Picture 5" descr="t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53312"/>
            <a:ext cx="4937760" cy="1773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1821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클래스 명사 충돌 — 레퍼런스는 자전거 체인으로 만든 손바닥 크기 조형물인데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class_prompt가 "tank"다. T2I는 진짜 군용 탱크를 그릴수록 오르고,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DINO는 조형물을 닮을수록 오른다. 동시 최대화가 불가능하다.</a:t>
            </a:r>
          </a:p>
        </p:txBody>
      </p:sp>
      <p:pic>
        <p:nvPicPr>
          <p:cNvPr id="8" name="Picture 7" descr="entang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353312"/>
            <a:ext cx="3657600" cy="1975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1888" y="338328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배경 entanglement — '모래 해변'·'설산 정상'을 요구해도 레퍼런스의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'어두운 책상 위 얕은 심도' 룩을 끌고 다닌다. 인스턴스 프롬프트가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5524C"/>
                </a:solidFill>
                <a:latin typeface="맑은 고딕"/>
              </a:rPr>
              <a:t>하나뿐이라 배경·조명·앵글이 전부 트리거에 흡수된다.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315968"/>
          <a:ext cx="9966960" cy="1645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37760"/>
                <a:gridCol w="50292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앞으로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왜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선택기와 평가기 분리 (DINO로 best-of-N)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지표 게이밍 제거. 추론 전용이라 재학습 불필요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이미지별 캡션 학습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배경을 텍스트가 설명하면 트리거가 외울 필요가 없다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시드 3~5회 반복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8/10 DINO 하락이 실재인지 노이즈인지 가릴 유일한 방법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TI·prior 변형도 zwx로 통일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현재 결과표가 두 트리거에 걸쳐 있다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8144" cy="22225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C15F3C"/>
                </a:solidFill>
                <a:latin typeface="Consolas"/>
              </a:rPr>
              <a:t>08 · 배운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814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F1E1D"/>
                </a:solidFill>
                <a:latin typeface="맑은 고딕"/>
              </a:rPr>
              <a:t>한 줄 요약과 산출물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35024"/>
            <a:ext cx="11058144" cy="1060704"/>
          </a:xfrm>
          <a:prstGeom prst="rect">
            <a:avLst/>
          </a:prstGeom>
          <a:solidFill>
            <a:srgbClr val="F3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103997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1E1D"/>
                </a:solidFill>
                <a:latin typeface="맑은 고딕"/>
              </a:rPr>
              <a:t>지표는 결론을 검증하는 도구가 아니라, 그 자체가 검증 대상이었다.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1E1D"/>
                </a:solidFill>
                <a:latin typeface="맑은 고딕"/>
              </a:rPr>
              <a:t>가장 강한 통계(10/10, p=0.002)가 가장 못 믿을 결과였고, 가장 명백한 결함은 어떤 지표에도 잡히지 않았다.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670048"/>
          <a:ext cx="9966960" cy="20848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6309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5524C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27432" marB="27432">
                    <a:solidFill>
                      <a:srgbClr val="F3E4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FINDINGS.md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전체 분석 — 지표 검증 · ablation 8건 · 정성 관찰 · 한계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view/viewer_*.html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컨셉별 뷰어. 4개 런 × 최대 11개 방법을 프롬프트 단위로 나란히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zwx10_review/zwx_table.md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트리거 토큰 평가 표 (컨셉 단위 검정 포함)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*_review/breakdown_*.csv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프롬프트 단위 원점수 — T2I · I2I · DINO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E1D"/>
                          </a:solidFill>
                          <a:latin typeface="맑은 고딕"/>
                        </a:rPr>
                        <a:t>run_all.py 외 스크립트 8종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E1D"/>
                          </a:solidFill>
                          <a:latin typeface="Consolas"/>
                        </a:rPr>
                        <a:t>재실행 안전한 학습 · 생성 · 평가 · 시각화 파이프라인</a:t>
                      </a:r>
                    </a:p>
                  </a:txBody>
                  <a:tcPr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956047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67E"/>
                </a:solidFill>
                <a:latin typeface="맑은 고딕"/>
              </a:rPr>
              <a:t>person_3은 실존 인물의 셀피가 레퍼런스이므로 이 발표 자료의 모든 그림에서 제외했다 — 수치로만 등장한다.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